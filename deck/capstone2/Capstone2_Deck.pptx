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Winter</c:v>
                </c:pt>
              </c:strCache>
            </c:strRef>
          </c:tx>
          <c:spPr>
            <a:solidFill>
              <a:srgbClr val="3987E5"/>
            </a:solidFill>
            <a:ln w="44450" cap="flat">
              <a:solidFill>
                <a:srgbClr val="3987E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987E5"/>
              </a:solidFill>
              <a:ln w="9525" cap="flat">
                <a:solidFill>
                  <a:srgbClr val="3987E5"/>
                </a:solidFill>
                <a:prstDash val="solid"/>
                <a:round/>
              </a:ln>
              <a:effectLst/>
            </c:spPr>
          </c:marker>
          <c:cat>
            <c:multiLvlStrRef>
              <c:f>Sheet1!$A$2:$A$25</c:f>
              <c:multiLvlStrCache>
                <c:ptCount val="24"/>
                <c:lvl>
                  <c:pt idx="0">
                    <c:v>12 AM</c:v>
                  </c:pt>
                  <c:pt idx="1">
                    <c:v> </c:v>
                  </c:pt>
                  <c:pt idx="2">
                    <c:v> </c:v>
                  </c:pt>
                  <c:pt idx="3">
                    <c:v>3 AM</c:v>
                  </c:pt>
                  <c:pt idx="4">
                    <c:v> </c:v>
                  </c:pt>
                  <c:pt idx="5">
                    <c:v> </c:v>
                  </c:pt>
                  <c:pt idx="6">
                    <c:v>6 AM</c:v>
                  </c:pt>
                  <c:pt idx="7">
                    <c:v> </c:v>
                  </c:pt>
                  <c:pt idx="8">
                    <c:v> </c:v>
                  </c:pt>
                  <c:pt idx="9">
                    <c:v>9 AM</c:v>
                  </c:pt>
                  <c:pt idx="10">
                    <c:v> </c:v>
                  </c:pt>
                  <c:pt idx="11">
                    <c:v> </c:v>
                  </c:pt>
                  <c:pt idx="12">
                    <c:v>Noon</c:v>
                  </c:pt>
                  <c:pt idx="13">
                    <c:v> </c:v>
                  </c:pt>
                  <c:pt idx="14">
                    <c:v> </c:v>
                  </c:pt>
                  <c:pt idx="15">
                    <c:v>3 PM</c:v>
                  </c:pt>
                  <c:pt idx="16">
                    <c:v> </c:v>
                  </c:pt>
                  <c:pt idx="17">
                    <c:v> </c:v>
                  </c:pt>
                  <c:pt idx="18">
                    <c:v>6 PM</c:v>
                  </c:pt>
                  <c:pt idx="19">
                    <c:v> </c:v>
                  </c:pt>
                  <c:pt idx="20">
                    <c:v> </c:v>
                  </c:pt>
                  <c:pt idx="21">
                    <c:v>9 PM</c:v>
                  </c:pt>
                  <c:pt idx="22">
                    <c:v> </c:v>
                  </c:pt>
                  <c:pt idx="23">
                    <c:v> </c:v>
                  </c:pt>
                </c:lvl>
              </c:multiLvlStrCache>
            </c:multiLvlStrRef>
          </c:cat>
          <c:val>
            <c:numRef>
              <c:f>Sheet1!$B$2:$B$25</c:f>
              <c:numCache>
                <c:formatCode>General</c:formatCode>
                <c:ptCount val="24"/>
                <c:pt idx="0">
                  <c:v>0</c:v>
                </c:pt>
                <c:pt idx="1">
                  <c:v>0</c:v>
                </c:pt>
                <c:pt idx="2">
                  <c:v>0</c:v>
                </c:pt>
                <c:pt idx="3">
                  <c:v>0</c:v>
                </c:pt>
                <c:pt idx="4">
                  <c:v>0</c:v>
                </c:pt>
                <c:pt idx="5">
                  <c:v>15</c:v>
                </c:pt>
                <c:pt idx="6">
                  <c:v>1507</c:v>
                </c:pt>
                <c:pt idx="7">
                  <c:v>5720</c:v>
                </c:pt>
                <c:pt idx="8">
                  <c:v>9834</c:v>
                </c:pt>
                <c:pt idx="9">
                  <c:v>11449</c:v>
                </c:pt>
                <c:pt idx="10">
                  <c:v>11841</c:v>
                </c:pt>
                <c:pt idx="11">
                  <c:v>11878</c:v>
                </c:pt>
                <c:pt idx="12">
                  <c:v>11790</c:v>
                </c:pt>
                <c:pt idx="13">
                  <c:v>11243</c:v>
                </c:pt>
                <c:pt idx="14">
                  <c:v>9348</c:v>
                </c:pt>
                <c:pt idx="15">
                  <c:v>5190</c:v>
                </c:pt>
                <c:pt idx="16">
                  <c:v>1339</c:v>
                </c:pt>
                <c:pt idx="17">
                  <c:v>54</c:v>
                </c:pt>
                <c:pt idx="18">
                  <c:v>0</c:v>
                </c:pt>
                <c:pt idx="19">
                  <c:v>0</c:v>
                </c:pt>
                <c:pt idx="20">
                  <c:v>0</c:v>
                </c:pt>
                <c:pt idx="21">
                  <c:v>0</c:v>
                </c:pt>
                <c:pt idx="22">
                  <c:v>0</c:v>
                </c:pt>
                <c:pt idx="23">
                  <c:v>0</c:v>
                </c:pt>
              </c:numCache>
            </c:numRef>
          </c:val>
          <c:smooth val="0"/>
        </c:ser>
        <c:ser>
          <c:idx val="1"/>
          <c:order val="1"/>
          <c:tx>
            <c:strRef>
              <c:f>Sheet1!$C$1</c:f>
              <c:strCache>
                <c:ptCount val="1"/>
                <c:pt idx="0">
                  <c:v>Spring</c:v>
                </c:pt>
              </c:strCache>
            </c:strRef>
          </c:tx>
          <c:spPr>
            <a:solidFill>
              <a:srgbClr val="199E70"/>
            </a:solidFill>
            <a:ln w="44450" cap="flat">
              <a:solidFill>
                <a:srgbClr val="199E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99E70"/>
              </a:solidFill>
              <a:ln w="9525" cap="flat">
                <a:solidFill>
                  <a:srgbClr val="199E70"/>
                </a:solidFill>
                <a:prstDash val="solid"/>
                <a:round/>
              </a:ln>
              <a:effectLst/>
            </c:spPr>
          </c:marker>
          <c:cat>
            <c:multiLvlStrRef>
              <c:f>Sheet1!$A$2:$A$25</c:f>
              <c:multiLvlStrCache>
                <c:ptCount val="24"/>
                <c:lvl>
                  <c:pt idx="0">
                    <c:v>12 AM</c:v>
                  </c:pt>
                  <c:pt idx="1">
                    <c:v> </c:v>
                  </c:pt>
                  <c:pt idx="2">
                    <c:v> </c:v>
                  </c:pt>
                  <c:pt idx="3">
                    <c:v>3 AM</c:v>
                  </c:pt>
                  <c:pt idx="4">
                    <c:v> </c:v>
                  </c:pt>
                  <c:pt idx="5">
                    <c:v> </c:v>
                  </c:pt>
                  <c:pt idx="6">
                    <c:v>6 AM</c:v>
                  </c:pt>
                  <c:pt idx="7">
                    <c:v> </c:v>
                  </c:pt>
                  <c:pt idx="8">
                    <c:v> </c:v>
                  </c:pt>
                  <c:pt idx="9">
                    <c:v>9 AM</c:v>
                  </c:pt>
                  <c:pt idx="10">
                    <c:v> </c:v>
                  </c:pt>
                  <c:pt idx="11">
                    <c:v> </c:v>
                  </c:pt>
                  <c:pt idx="12">
                    <c:v>Noon</c:v>
                  </c:pt>
                  <c:pt idx="13">
                    <c:v> </c:v>
                  </c:pt>
                  <c:pt idx="14">
                    <c:v> </c:v>
                  </c:pt>
                  <c:pt idx="15">
                    <c:v>3 PM</c:v>
                  </c:pt>
                  <c:pt idx="16">
                    <c:v> </c:v>
                  </c:pt>
                  <c:pt idx="17">
                    <c:v> </c:v>
                  </c:pt>
                  <c:pt idx="18">
                    <c:v>6 PM</c:v>
                  </c:pt>
                  <c:pt idx="19">
                    <c:v> </c:v>
                  </c:pt>
                  <c:pt idx="20">
                    <c:v> </c:v>
                  </c:pt>
                  <c:pt idx="21">
                    <c:v>9 PM</c:v>
                  </c:pt>
                  <c:pt idx="22">
                    <c:v> </c:v>
                  </c:pt>
                  <c:pt idx="23">
                    <c:v> </c:v>
                  </c:pt>
                </c:lvl>
              </c:multiLvlStrCache>
            </c:multiLvlStrRef>
          </c:cat>
          <c:val>
            <c:numRef>
              <c:f>Sheet1!$C$2:$C$25</c:f>
              <c:numCache>
                <c:formatCode>General</c:formatCode>
                <c:ptCount val="24"/>
                <c:pt idx="0">
                  <c:v>0</c:v>
                </c:pt>
                <c:pt idx="1">
                  <c:v>0</c:v>
                </c:pt>
                <c:pt idx="2">
                  <c:v>0</c:v>
                </c:pt>
                <c:pt idx="3">
                  <c:v>0</c:v>
                </c:pt>
                <c:pt idx="4">
                  <c:v>0</c:v>
                </c:pt>
                <c:pt idx="5">
                  <c:v>482</c:v>
                </c:pt>
                <c:pt idx="6">
                  <c:v>3260</c:v>
                </c:pt>
                <c:pt idx="7">
                  <c:v>8531</c:v>
                </c:pt>
                <c:pt idx="8">
                  <c:v>12382</c:v>
                </c:pt>
                <c:pt idx="9">
                  <c:v>13667</c:v>
                </c:pt>
                <c:pt idx="10">
                  <c:v>14092</c:v>
                </c:pt>
                <c:pt idx="11">
                  <c:v>14288</c:v>
                </c:pt>
                <c:pt idx="12">
                  <c:v>14172</c:v>
                </c:pt>
                <c:pt idx="13">
                  <c:v>13879</c:v>
                </c:pt>
                <c:pt idx="14">
                  <c:v>13332</c:v>
                </c:pt>
                <c:pt idx="15">
                  <c:v>12612</c:v>
                </c:pt>
                <c:pt idx="16">
                  <c:v>11250</c:v>
                </c:pt>
                <c:pt idx="17">
                  <c:v>7945</c:v>
                </c:pt>
                <c:pt idx="18">
                  <c:v>2937</c:v>
                </c:pt>
                <c:pt idx="19">
                  <c:v>276</c:v>
                </c:pt>
                <c:pt idx="20">
                  <c:v>1</c:v>
                </c:pt>
                <c:pt idx="21">
                  <c:v>0</c:v>
                </c:pt>
                <c:pt idx="22">
                  <c:v>0</c:v>
                </c:pt>
                <c:pt idx="23">
                  <c:v>0</c:v>
                </c:pt>
              </c:numCache>
            </c:numRef>
          </c:val>
          <c:smooth val="0"/>
        </c:ser>
        <c:ser>
          <c:idx val="2"/>
          <c:order val="2"/>
          <c:tx>
            <c:strRef>
              <c:f>Sheet1!$D$1</c:f>
              <c:strCache>
                <c:ptCount val="1"/>
                <c:pt idx="0">
                  <c:v>Summer</c:v>
                </c:pt>
              </c:strCache>
            </c:strRef>
          </c:tx>
          <c:spPr>
            <a:solidFill>
              <a:srgbClr val="D95926"/>
            </a:solidFill>
            <a:ln w="44450" cap="flat">
              <a:solidFill>
                <a:srgbClr val="D959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5926"/>
              </a:solidFill>
              <a:ln w="9525" cap="flat">
                <a:solidFill>
                  <a:srgbClr val="D95926"/>
                </a:solidFill>
                <a:prstDash val="solid"/>
                <a:round/>
              </a:ln>
              <a:effectLst/>
            </c:spPr>
          </c:marker>
          <c:cat>
            <c:multiLvlStrRef>
              <c:f>Sheet1!$A$2:$A$25</c:f>
              <c:multiLvlStrCache>
                <c:ptCount val="24"/>
                <c:lvl>
                  <c:pt idx="0">
                    <c:v>12 AM</c:v>
                  </c:pt>
                  <c:pt idx="1">
                    <c:v> </c:v>
                  </c:pt>
                  <c:pt idx="2">
                    <c:v> </c:v>
                  </c:pt>
                  <c:pt idx="3">
                    <c:v>3 AM</c:v>
                  </c:pt>
                  <c:pt idx="4">
                    <c:v> </c:v>
                  </c:pt>
                  <c:pt idx="5">
                    <c:v> </c:v>
                  </c:pt>
                  <c:pt idx="6">
                    <c:v>6 AM</c:v>
                  </c:pt>
                  <c:pt idx="7">
                    <c:v> </c:v>
                  </c:pt>
                  <c:pt idx="8">
                    <c:v> </c:v>
                  </c:pt>
                  <c:pt idx="9">
                    <c:v>9 AM</c:v>
                  </c:pt>
                  <c:pt idx="10">
                    <c:v> </c:v>
                  </c:pt>
                  <c:pt idx="11">
                    <c:v> </c:v>
                  </c:pt>
                  <c:pt idx="12">
                    <c:v>Noon</c:v>
                  </c:pt>
                  <c:pt idx="13">
                    <c:v> </c:v>
                  </c:pt>
                  <c:pt idx="14">
                    <c:v> </c:v>
                  </c:pt>
                  <c:pt idx="15">
                    <c:v>3 PM</c:v>
                  </c:pt>
                  <c:pt idx="16">
                    <c:v> </c:v>
                  </c:pt>
                  <c:pt idx="17">
                    <c:v> </c:v>
                  </c:pt>
                  <c:pt idx="18">
                    <c:v>6 PM</c:v>
                  </c:pt>
                  <c:pt idx="19">
                    <c:v> </c:v>
                  </c:pt>
                  <c:pt idx="20">
                    <c:v> </c:v>
                  </c:pt>
                  <c:pt idx="21">
                    <c:v>9 PM</c:v>
                  </c:pt>
                  <c:pt idx="22">
                    <c:v> </c:v>
                  </c:pt>
                  <c:pt idx="23">
                    <c:v> </c:v>
                  </c:pt>
                </c:lvl>
              </c:multiLvlStrCache>
            </c:multiLvlStrRef>
          </c:cat>
          <c:val>
            <c:numRef>
              <c:f>Sheet1!$D$2:$D$25</c:f>
              <c:numCache>
                <c:formatCode>General</c:formatCode>
                <c:ptCount val="24"/>
                <c:pt idx="0">
                  <c:v>0</c:v>
                </c:pt>
                <c:pt idx="1">
                  <c:v>0</c:v>
                </c:pt>
                <c:pt idx="2">
                  <c:v>0</c:v>
                </c:pt>
                <c:pt idx="3">
                  <c:v>0</c:v>
                </c:pt>
                <c:pt idx="4">
                  <c:v>0</c:v>
                </c:pt>
                <c:pt idx="5">
                  <c:v>827</c:v>
                </c:pt>
                <c:pt idx="6">
                  <c:v>4743</c:v>
                </c:pt>
                <c:pt idx="7">
                  <c:v>10940</c:v>
                </c:pt>
                <c:pt idx="8">
                  <c:v>14829</c:v>
                </c:pt>
                <c:pt idx="9">
                  <c:v>16403</c:v>
                </c:pt>
                <c:pt idx="10">
                  <c:v>17141</c:v>
                </c:pt>
                <c:pt idx="11">
                  <c:v>17414</c:v>
                </c:pt>
                <c:pt idx="12">
                  <c:v>17448</c:v>
                </c:pt>
                <c:pt idx="13">
                  <c:v>17188</c:v>
                </c:pt>
                <c:pt idx="14">
                  <c:v>16677</c:v>
                </c:pt>
                <c:pt idx="15">
                  <c:v>15991</c:v>
                </c:pt>
                <c:pt idx="16">
                  <c:v>14702</c:v>
                </c:pt>
                <c:pt idx="17">
                  <c:v>11450</c:v>
                </c:pt>
                <c:pt idx="18">
                  <c:v>5512</c:v>
                </c:pt>
                <c:pt idx="19">
                  <c:v>949</c:v>
                </c:pt>
                <c:pt idx="20">
                  <c:v>0</c:v>
                </c:pt>
                <c:pt idx="21">
                  <c:v>0</c:v>
                </c:pt>
                <c:pt idx="22">
                  <c:v>0</c:v>
                </c:pt>
                <c:pt idx="23">
                  <c:v>0</c:v>
                </c:pt>
              </c:numCache>
            </c:numRef>
          </c:val>
          <c:smooth val="0"/>
        </c:ser>
        <c:ser>
          <c:idx val="3"/>
          <c:order val="3"/>
          <c:tx>
            <c:strRef>
              <c:f>Sheet1!$E$1</c:f>
              <c:strCache>
                <c:ptCount val="1"/>
                <c:pt idx="0">
                  <c:v>Fall</c:v>
                </c:pt>
              </c:strCache>
            </c:strRef>
          </c:tx>
          <c:spPr>
            <a:solidFill>
              <a:srgbClr val="9085E9"/>
            </a:solidFill>
            <a:ln w="44450" cap="flat">
              <a:solidFill>
                <a:srgbClr val="9085E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085E9"/>
              </a:solidFill>
              <a:ln w="9525" cap="flat">
                <a:solidFill>
                  <a:srgbClr val="9085E9"/>
                </a:solidFill>
                <a:prstDash val="solid"/>
                <a:round/>
              </a:ln>
              <a:effectLst/>
            </c:spPr>
          </c:marker>
          <c:cat>
            <c:multiLvlStrRef>
              <c:f>Sheet1!$A$2:$A$25</c:f>
              <c:multiLvlStrCache>
                <c:ptCount val="24"/>
                <c:lvl>
                  <c:pt idx="0">
                    <c:v>12 AM</c:v>
                  </c:pt>
                  <c:pt idx="1">
                    <c:v> </c:v>
                  </c:pt>
                  <c:pt idx="2">
                    <c:v> </c:v>
                  </c:pt>
                  <c:pt idx="3">
                    <c:v>3 AM</c:v>
                  </c:pt>
                  <c:pt idx="4">
                    <c:v> </c:v>
                  </c:pt>
                  <c:pt idx="5">
                    <c:v> </c:v>
                  </c:pt>
                  <c:pt idx="6">
                    <c:v>6 AM</c:v>
                  </c:pt>
                  <c:pt idx="7">
                    <c:v> </c:v>
                  </c:pt>
                  <c:pt idx="8">
                    <c:v> </c:v>
                  </c:pt>
                  <c:pt idx="9">
                    <c:v>9 AM</c:v>
                  </c:pt>
                  <c:pt idx="10">
                    <c:v> </c:v>
                  </c:pt>
                  <c:pt idx="11">
                    <c:v> </c:v>
                  </c:pt>
                  <c:pt idx="12">
                    <c:v>Noon</c:v>
                  </c:pt>
                  <c:pt idx="13">
                    <c:v> </c:v>
                  </c:pt>
                  <c:pt idx="14">
                    <c:v> </c:v>
                  </c:pt>
                  <c:pt idx="15">
                    <c:v>3 PM</c:v>
                  </c:pt>
                  <c:pt idx="16">
                    <c:v> </c:v>
                  </c:pt>
                  <c:pt idx="17">
                    <c:v> </c:v>
                  </c:pt>
                  <c:pt idx="18">
                    <c:v>6 PM</c:v>
                  </c:pt>
                  <c:pt idx="19">
                    <c:v> </c:v>
                  </c:pt>
                  <c:pt idx="20">
                    <c:v> </c:v>
                  </c:pt>
                  <c:pt idx="21">
                    <c:v>9 PM</c:v>
                  </c:pt>
                  <c:pt idx="22">
                    <c:v> </c:v>
                  </c:pt>
                  <c:pt idx="23">
                    <c:v> </c:v>
                  </c:pt>
                </c:lvl>
              </c:multiLvlStrCache>
            </c:multiLvlStrRef>
          </c:cat>
          <c:val>
            <c:numRef>
              <c:f>Sheet1!$E$2:$E$25</c:f>
              <c:numCache>
                <c:formatCode>General</c:formatCode>
                <c:ptCount val="24"/>
                <c:pt idx="0">
                  <c:v>0</c:v>
                </c:pt>
                <c:pt idx="1">
                  <c:v>0</c:v>
                </c:pt>
                <c:pt idx="2">
                  <c:v>0</c:v>
                </c:pt>
                <c:pt idx="3">
                  <c:v>0</c:v>
                </c:pt>
                <c:pt idx="4">
                  <c:v>0</c:v>
                </c:pt>
                <c:pt idx="5">
                  <c:v>0</c:v>
                </c:pt>
                <c:pt idx="6">
                  <c:v>1111</c:v>
                </c:pt>
                <c:pt idx="7">
                  <c:v>5851</c:v>
                </c:pt>
                <c:pt idx="8">
                  <c:v>11780</c:v>
                </c:pt>
                <c:pt idx="9">
                  <c:v>14129</c:v>
                </c:pt>
                <c:pt idx="10">
                  <c:v>14768</c:v>
                </c:pt>
                <c:pt idx="11">
                  <c:v>14912</c:v>
                </c:pt>
                <c:pt idx="12">
                  <c:v>14798</c:v>
                </c:pt>
                <c:pt idx="13">
                  <c:v>14492</c:v>
                </c:pt>
                <c:pt idx="14">
                  <c:v>13852</c:v>
                </c:pt>
                <c:pt idx="15">
                  <c:v>12136</c:v>
                </c:pt>
                <c:pt idx="16">
                  <c:v>8463</c:v>
                </c:pt>
                <c:pt idx="17">
                  <c:v>3596</c:v>
                </c:pt>
                <c:pt idx="18">
                  <c:v>488</c:v>
                </c:pt>
                <c:pt idx="19">
                  <c:v>0</c:v>
                </c:pt>
                <c:pt idx="20">
                  <c:v>0</c:v>
                </c:pt>
                <c:pt idx="21">
                  <c:v>0</c:v>
                </c:pt>
                <c:pt idx="22">
                  <c:v>0</c:v>
                </c:pt>
                <c:pt idx="23">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9C2D6"/>
                </a:solidFill>
                <a:latin typeface="Arial"/>
              </a:defRPr>
            </a:pPr>
            <a:endParaRPr lang="en-US"/>
          </a:p>
        </c:txPr>
        <c:crossAx val="2094734552"/>
        <c:crosses val="autoZero"/>
        <c:auto val="1"/>
        <c:lblAlgn val="ctr"/>
        <c:noMultiLvlLbl val="1"/>
      </c:catAx>
      <c:valAx>
        <c:axId val="2094734552"/>
        <c:scaling>
          <c:orientation val="minMax"/>
          <c:max val="20000"/>
          <c:min val="0"/>
        </c:scaling>
        <c:delete val="0"/>
        <c:axPos val="l"/>
        <c:majorGridlines>
          <c:spPr>
            <a:ln w="9525" cap="flat">
              <a:solidFill>
                <a:srgbClr val="1D2A4D"/>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B9C2D6"/>
                </a:solidFill>
                <a:latin typeface="Arial"/>
              </a:defRPr>
            </a:pPr>
            <a:endParaRPr lang="en-US"/>
          </a:p>
        </c:txPr>
        <c:crossAx val="2094734554"/>
        <c:crosses val="autoZero"/>
        <c:crossBetween val="between"/>
        <c:majorUnit val="5000"/>
      </c:valAx>
      <c:spPr>
        <a:noFill/>
        <a:ln>
          <a:noFill/>
        </a:ln>
        <a:effectLst/>
      </c:spPr>
    </c:plotArea>
    <c:legend>
      <c:legendPos val="t"/>
      <c:overlay val="0"/>
      <c:txPr>
        <a:bodyPr/>
        <a:lstStyle/>
        <a:p>
          <a:pPr>
            <a:defRPr sz="1400">
              <a:solidFill>
                <a:srgbClr val="F1F4FB"/>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Midday output, % of capacity</c:v>
                </c:pt>
              </c:strCache>
            </c:strRef>
          </c:tx>
          <c:spPr>
            <a:solidFill>
              <a:srgbClr val="3987E5"/>
            </a:solidFill>
            <a:effectLst/>
          </c:spPr>
          <c:invertIfNegative val="0"/>
          <c:dLbls>
            <c:numFmt formatCode="0&quot;%&quot;" sourceLinked="0"/>
            <c:txPr>
              <a:bodyPr/>
              <a:lstStyle/>
              <a:p>
                <a:pPr>
                  <a:defRPr b="1" i="0" strike="noStrike" sz="2000" u="none">
                    <a:solidFill>
                      <a:srgbClr val="F1F4FB"/>
                    </a:solidFill>
                    <a:latin typeface="Arial"/>
                  </a:defRPr>
                </a:pPr>
              </a:p>
            </c:txPr>
            <c:showLegendKey val="0"/>
            <c:showVal val="1"/>
            <c:showCatName val="0"/>
            <c:showSerName val="0"/>
            <c:showPercent val="0"/>
            <c:showBubbleSize val="0"/>
            <c:showLeaderLines val="0"/>
          </c:dLbls>
          <c:cat>
            <c:multiLvlStrRef>
              <c:f>Sheet1!$A$2:$A$5</c:f>
              <c:multiLvlStrCache>
                <c:ptCount val="4"/>
                <c:lvl>
                  <c:pt idx="0">
                    <c:v>Clear (0 to 10%)</c:v>
                  </c:pt>
                  <c:pt idx="1">
                    <c:v>Some cloud (10 to 30%)</c:v>
                  </c:pt>
                  <c:pt idx="2">
                    <c:v>Cloudy (30 to 60%)</c:v>
                  </c:pt>
                  <c:pt idx="3">
                    <c:v>Very cloudy (60 to 100%)</c:v>
                  </c:pt>
                </c:lvl>
              </c:multiLvlStrCache>
            </c:multiLvlStrRef>
          </c:cat>
          <c:val>
            <c:numRef>
              <c:f>Sheet1!$B$2:$B$5</c:f>
              <c:numCache>
                <c:formatCode>General</c:formatCode>
                <c:ptCount val="4"/>
                <c:pt idx="0">
                  <c:v>67.6</c:v>
                </c:pt>
                <c:pt idx="1">
                  <c:v>57.4</c:v>
                </c:pt>
                <c:pt idx="2">
                  <c:v>51.6</c:v>
                </c:pt>
                <c:pt idx="3">
                  <c:v>41.4</c:v>
                </c:pt>
              </c:numCache>
            </c:numRef>
          </c:val>
        </c:ser>
        <c:dLbls>
          <c:numFmt formatCode="0&quot;%&quot;" sourceLinked="0"/>
          <c:txPr>
            <a:bodyPr/>
            <a:lstStyle/>
            <a:p>
              <a:pPr>
                <a:defRPr b="1" i="0" strike="noStrike" sz="2000" u="none">
                  <a:solidFill>
                    <a:srgbClr val="F1F4FB"/>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B9C2D6"/>
                </a:solidFill>
                <a:latin typeface="Arial"/>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B9C2D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Installed solar capacity (GW)</c:v>
                </c:pt>
              </c:strCache>
            </c:strRef>
          </c:tx>
          <c:spPr>
            <a:solidFill>
              <a:srgbClr val="3987E5"/>
            </a:solidFill>
            <a:ln w="44450" cap="flat">
              <a:solidFill>
                <a:srgbClr val="3987E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987E5"/>
              </a:solidFill>
              <a:ln w="9525" cap="flat">
                <a:solidFill>
                  <a:srgbClr val="3987E5"/>
                </a:solidFill>
                <a:prstDash val="solid"/>
                <a:round/>
              </a:ln>
              <a:effectLst/>
            </c:spPr>
          </c:marker>
          <c:cat>
            <c:multiLvlStrRef>
              <c:f>Sheet1!$A$2:$A$32</c:f>
              <c:multiLvlStrCache>
                <c:ptCount val="31"/>
                <c:lvl>
                  <c:pt idx="0">
                    <c:v>Mar 2024</c:v>
                  </c:pt>
                  <c:pt idx="1">
                    <c:v> </c:v>
                  </c:pt>
                  <c:pt idx="2">
                    <c:v> </c:v>
                  </c:pt>
                  <c:pt idx="3">
                    <c:v> </c:v>
                  </c:pt>
                  <c:pt idx="4">
                    <c:v> </c:v>
                  </c:pt>
                  <c:pt idx="5">
                    <c:v> </c:v>
                  </c:pt>
                  <c:pt idx="6">
                    <c:v> </c:v>
                  </c:pt>
                  <c:pt idx="7">
                    <c:v> </c:v>
                  </c:pt>
                  <c:pt idx="8">
                    <c:v> </c:v>
                  </c:pt>
                  <c:pt idx="9">
                    <c:v> </c:v>
                  </c:pt>
                  <c:pt idx="10">
                    <c:v>Jan 2025</c:v>
                  </c:pt>
                  <c:pt idx="11">
                    <c:v> </c:v>
                  </c:pt>
                  <c:pt idx="12">
                    <c:v> </c:v>
                  </c:pt>
                  <c:pt idx="13">
                    <c:v> </c:v>
                  </c:pt>
                  <c:pt idx="14">
                    <c:v> </c:v>
                  </c:pt>
                  <c:pt idx="15">
                    <c:v> </c:v>
                  </c:pt>
                  <c:pt idx="16">
                    <c:v> </c:v>
                  </c:pt>
                  <c:pt idx="17">
                    <c:v> </c:v>
                  </c:pt>
                  <c:pt idx="18">
                    <c:v> </c:v>
                  </c:pt>
                  <c:pt idx="19">
                    <c:v> </c:v>
                  </c:pt>
                  <c:pt idx="20">
                    <c:v> </c:v>
                  </c:pt>
                  <c:pt idx="21">
                    <c:v> </c:v>
                  </c:pt>
                  <c:pt idx="22">
                    <c:v>Jan 2026</c:v>
                  </c:pt>
                  <c:pt idx="23">
                    <c:v> </c:v>
                  </c:pt>
                  <c:pt idx="24">
                    <c:v> </c:v>
                  </c:pt>
                  <c:pt idx="25">
                    <c:v> </c:v>
                  </c:pt>
                  <c:pt idx="26">
                    <c:v> </c:v>
                  </c:pt>
                  <c:pt idx="27">
                    <c:v> </c:v>
                  </c:pt>
                  <c:pt idx="28">
                    <c:v> </c:v>
                  </c:pt>
                  <c:pt idx="29">
                    <c:v> </c:v>
                  </c:pt>
                  <c:pt idx="30">
                    <c:v>Sep 2026</c:v>
                  </c:pt>
                </c:lvl>
              </c:multiLvlStrCache>
            </c:multiLvlStrRef>
          </c:cat>
          <c:val>
            <c:numRef>
              <c:f>Sheet1!$B$2:$B$32</c:f>
              <c:numCache>
                <c:formatCode>General</c:formatCode>
                <c:ptCount val="31"/>
                <c:pt idx="0">
                  <c:v>20.98</c:v>
                </c:pt>
                <c:pt idx="1">
                  <c:v>20.99</c:v>
                </c:pt>
                <c:pt idx="2">
                  <c:v>21.12</c:v>
                </c:pt>
                <c:pt idx="3">
                  <c:v>21.33</c:v>
                </c:pt>
                <c:pt idx="4">
                  <c:v>21.49</c:v>
                </c:pt>
                <c:pt idx="5">
                  <c:v>21.51</c:v>
                </c:pt>
                <c:pt idx="6">
                  <c:v>21.53</c:v>
                </c:pt>
                <c:pt idx="7">
                  <c:v>21.6</c:v>
                </c:pt>
                <c:pt idx="8">
                  <c:v>21.8</c:v>
                </c:pt>
                <c:pt idx="9">
                  <c:v>22.79</c:v>
                </c:pt>
                <c:pt idx="10">
                  <c:v>23.02</c:v>
                </c:pt>
                <c:pt idx="11">
                  <c:v>23.48</c:v>
                </c:pt>
                <c:pt idx="12">
                  <c:v>23.36</c:v>
                </c:pt>
                <c:pt idx="13">
                  <c:v>23.62</c:v>
                </c:pt>
                <c:pt idx="14">
                  <c:v>23.73</c:v>
                </c:pt>
                <c:pt idx="15">
                  <c:v>23.63</c:v>
                </c:pt>
                <c:pt idx="16">
                  <c:v>23.8</c:v>
                </c:pt>
                <c:pt idx="17">
                  <c:v>24.16</c:v>
                </c:pt>
                <c:pt idx="18">
                  <c:v>24.17</c:v>
                </c:pt>
                <c:pt idx="19">
                  <c:v>24.18</c:v>
                </c:pt>
                <c:pt idx="20">
                  <c:v>24.35</c:v>
                </c:pt>
                <c:pt idx="21">
                  <c:v>24.85</c:v>
                </c:pt>
                <c:pt idx="22">
                  <c:v>24.87</c:v>
                </c:pt>
                <c:pt idx="23">
                  <c:v>24.94</c:v>
                </c:pt>
                <c:pt idx="24">
                  <c:v>24.95</c:v>
                </c:pt>
                <c:pt idx="25">
                  <c:v>24.96</c:v>
                </c:pt>
                <c:pt idx="26">
                  <c:v>25.14</c:v>
                </c:pt>
                <c:pt idx="27">
                  <c:v>25.16</c:v>
                </c:pt>
                <c:pt idx="28">
                  <c:v>25.81</c:v>
                </c:pt>
                <c:pt idx="29">
                  <c:v>25.81</c:v>
                </c:pt>
                <c:pt idx="30">
                  <c:v>26.03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9C2D6"/>
                </a:solidFill>
                <a:latin typeface="Arial"/>
              </a:defRPr>
            </a:pPr>
            <a:endParaRPr lang="en-US"/>
          </a:p>
        </c:txPr>
        <c:crossAx val="2094734552"/>
        <c:crosses val="autoZero"/>
        <c:auto val="1"/>
        <c:lblAlgn val="ctr"/>
        <c:noMultiLvlLbl val="1"/>
      </c:catAx>
      <c:valAx>
        <c:axId val="2094734552"/>
        <c:scaling>
          <c:orientation val="minMax"/>
          <c:max val="27"/>
          <c:min val="20"/>
        </c:scaling>
        <c:delete val="0"/>
        <c:axPos val="l"/>
        <c:majorGridlines>
          <c:spPr>
            <a:ln w="9525" cap="flat">
              <a:solidFill>
                <a:srgbClr val="1D2A4D"/>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B9C2D6"/>
                </a:solidFill>
                <a:latin typeface="Arial"/>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Solar turned down (%)</c:v>
                </c:pt>
              </c:strCache>
            </c:strRef>
          </c:tx>
          <c:spPr>
            <a:solidFill>
              <a:srgbClr val="FFB70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Sheet1!$A$2:$A$33</c:f>
              <c:multiLvlStrCache>
                <c:ptCount val="32"/>
                <c:lvl>
                  <c:pt idx="0">
                    <c:v>Mar 2024</c:v>
                  </c:pt>
                  <c:pt idx="1">
                    <c:v> </c:v>
                  </c:pt>
                  <c:pt idx="2">
                    <c:v> </c:v>
                  </c:pt>
                  <c:pt idx="3">
                    <c:v> </c:v>
                  </c:pt>
                  <c:pt idx="4">
                    <c:v> </c:v>
                  </c:pt>
                  <c:pt idx="5">
                    <c:v> </c:v>
                  </c:pt>
                  <c:pt idx="6">
                    <c:v> </c:v>
                  </c:pt>
                  <c:pt idx="7">
                    <c:v> </c:v>
                  </c:pt>
                  <c:pt idx="8">
                    <c:v> </c:v>
                  </c:pt>
                  <c:pt idx="9">
                    <c:v> </c:v>
                  </c:pt>
                  <c:pt idx="10">
                    <c:v>Jan 2025</c:v>
                  </c:pt>
                  <c:pt idx="11">
                    <c:v> </c:v>
                  </c:pt>
                  <c:pt idx="12">
                    <c:v> </c:v>
                  </c:pt>
                  <c:pt idx="13">
                    <c:v> </c:v>
                  </c:pt>
                  <c:pt idx="14">
                    <c:v> </c:v>
                  </c:pt>
                  <c:pt idx="15">
                    <c:v> </c:v>
                  </c:pt>
                  <c:pt idx="16">
                    <c:v> </c:v>
                  </c:pt>
                  <c:pt idx="17">
                    <c:v> </c:v>
                  </c:pt>
                  <c:pt idx="18">
                    <c:v> </c:v>
                  </c:pt>
                  <c:pt idx="19">
                    <c:v> </c:v>
                  </c:pt>
                  <c:pt idx="20">
                    <c:v> </c:v>
                  </c:pt>
                  <c:pt idx="21">
                    <c:v> </c:v>
                  </c:pt>
                  <c:pt idx="22">
                    <c:v>Jan 2026</c:v>
                  </c:pt>
                  <c:pt idx="23">
                    <c:v> </c:v>
                  </c:pt>
                  <c:pt idx="24">
                    <c:v> </c:v>
                  </c:pt>
                  <c:pt idx="25">
                    <c:v> </c:v>
                  </c:pt>
                  <c:pt idx="26">
                    <c:v> </c:v>
                  </c:pt>
                  <c:pt idx="27">
                    <c:v> </c:v>
                  </c:pt>
                  <c:pt idx="28">
                    <c:v> </c:v>
                  </c:pt>
                  <c:pt idx="29">
                    <c:v> </c:v>
                  </c:pt>
                  <c:pt idx="30">
                    <c:v>Sep 2026</c:v>
                  </c:pt>
                  <c:pt idx="31">
                    <c:v> </c:v>
                  </c:pt>
                </c:lvl>
              </c:multiLvlStrCache>
            </c:multiLvlStrRef>
          </c:cat>
          <c:val>
            <c:numRef>
              <c:f>Sheet1!$B$2:$B$33</c:f>
              <c:numCache>
                <c:formatCode>General</c:formatCode>
                <c:ptCount val="32"/>
                <c:pt idx="0">
                  <c:v>17.6</c:v>
                </c:pt>
                <c:pt idx="1">
                  <c:v>16.8</c:v>
                </c:pt>
                <c:pt idx="2">
                  <c:v>11.6</c:v>
                </c:pt>
                <c:pt idx="3">
                  <c:v>4.1</c:v>
                </c:pt>
                <c:pt idx="4">
                  <c:v>1.2</c:v>
                </c:pt>
                <c:pt idx="5">
                  <c:v>1.4</c:v>
                </c:pt>
                <c:pt idx="6">
                  <c:v>2.6</c:v>
                </c:pt>
                <c:pt idx="7">
                  <c:v>3.7</c:v>
                </c:pt>
                <c:pt idx="8">
                  <c:v>5</c:v>
                </c:pt>
                <c:pt idx="9">
                  <c:v>0.7</c:v>
                </c:pt>
                <c:pt idx="10">
                  <c:v>3.8</c:v>
                </c:pt>
                <c:pt idx="11">
                  <c:v>14.7</c:v>
                </c:pt>
                <c:pt idx="12">
                  <c:v>20.1</c:v>
                </c:pt>
                <c:pt idx="13">
                  <c:v>13.3</c:v>
                </c:pt>
                <c:pt idx="14">
                  <c:v>6.6</c:v>
                </c:pt>
                <c:pt idx="15">
                  <c:v>4.2</c:v>
                </c:pt>
                <c:pt idx="16">
                  <c:v>2.3</c:v>
                </c:pt>
                <c:pt idx="17">
                  <c:v>2.3</c:v>
                </c:pt>
                <c:pt idx="18">
                  <c:v>3.6</c:v>
                </c:pt>
                <c:pt idx="19">
                  <c:v>5.4</c:v>
                </c:pt>
                <c:pt idx="20">
                  <c:v>0.9</c:v>
                </c:pt>
                <c:pt idx="21">
                  <c:v>1.1</c:v>
                </c:pt>
                <c:pt idx="22">
                  <c:v>0.8</c:v>
                </c:pt>
                <c:pt idx="23">
                  <c:v>7.1</c:v>
                </c:pt>
                <c:pt idx="24">
                  <c:v>14.3</c:v>
                </c:pt>
                <c:pt idx="25">
                  <c:v>24.2</c:v>
                </c:pt>
                <c:pt idx="26">
                  <c:v>21</c:v>
                </c:pt>
                <c:pt idx="27">
                  <c:v>8.6</c:v>
                </c:pt>
                <c:pt idx="28">
                  <c:v>3.6</c:v>
                </c:pt>
                <c:pt idx="29">
                  <c:v>2.5</c:v>
                </c:pt>
                <c:pt idx="30">
                  <c:v>3.2</c:v>
                </c:pt>
                <c:pt idx="31">
                  <c:v>4.3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9C2D6"/>
                </a:solidFill>
                <a:latin typeface="Arial"/>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1D2A4D"/>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B9C2D6"/>
                </a:solidFill>
                <a:latin typeface="Arial"/>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[RAUL, slides 1 to 5] Good morning. Last time we told you the problem and the plan. Today we show the data: what we collected, what we found in it, and how we are getting it ready for modeling. We start with a short reminder of the problem, because everything else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CAISO runs California's main power grid. It locks in tomorrow's plan today: bids close at 10 a.m. Pacific and the plan comes out around 1 p.m. Solar is a big part of that plan, and it depends on tomorrow's weather. When the solar forecast is wrong, somebody pays: either backup power bought at the last minute, or reserves held for nothing. Our project is a better day-ahead solar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fair question last time was why we are not forecasting energy use. Demand matters, but CAISO already forecasts it. What the grid operator plans around is net load: demand minus what wind and solar supply. Solar is the weather-driven part of that equation, so a better solar forecast changes how much gas, battery or import power has to be lined up. Our target variable is the hourly output of utility-scale solar in the CAISO area, in megawatts, as measured by the EIA.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sources, and all of them are public. The EIA series is the answer key. Open-Meteo provides the weather forecasts we use as inputs. CAISO's own forecast is the benchmark and is never used for training. EIA Form 860M gives installed capacity so we can compare errors fairly over time, and the curtailment files tell us which hours were turned down. Everything is saved in our shared repository, so any number in this deck can be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CAISO closes bids at 10 a.m. Pacific the day before. Any input we use has to be available by then. Weather models publish a few hours after they start running, so a forecast made one day before the target hour may arrive after the deadline for afternoon hours. Our main model therefore uses the forecast made two days before, and the one-day-before version is shown only as a clearly labeled comparison. [Hand off] Carolina will show you what the data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[CAROLINA, slides 6 to 12] Thank you, Raul. Here is the data at a glance. We cover 954 days, from March 8, 2024 to October 17, 2026. That is 22,896 hourly rows, and 11,733 of them are daylight hours, when solar can make power. Fewer than one hour in a hundred has a gap in any source: 129 in the weather feed, 72 in CAISO's forecast and 24 in the EIA series. So the data is in good shape before we do anything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average solar day, by season. Output starts around 6 a.m., peaks at midday and is finished by about 8 p.m. in every season. In summer the midday peak averages about 17,400 megawatts. In winter it is about 11,900, roughly a third lower. The shape is very regular, which is good news. The hard part is not the shape, it is how much of that shape the weather gives us on a particular day. For the model, that means hour of day and season have to be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weather is worth forecasting. We grouped midday hours by how cloudy the forecast said it would be. On clear days, solar delivers about 68 percent of installed capacity at midday. On very cloudy days it is about 41 percent. Part of that gap is winter sun, which is lower, but the link is strong. Across more than nine thousand daylight hours, the forecast sunshine and the actual output move together with a correlation of 0.87. And the weather can change fast: on October 10 of this year, output fell by 55 percent from one day to the next. That is the kind of day that costs a grid operator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patterns the model has to live with. On the left, installed solar capacity grew from about 21.0 to 26.0 gigawatts, a 24 percent increase in under three years. So we cannot compare raw megawatt errors across years; we express every error as a share of installed capacity. On the right, curtailment. This is solar that plants could have produced but the grid turned down, usually in spring when it is sunny and demand is low. In April 2026 about one in four possible megawatt-hours was turned down. Across the whole period it is 7.6 percent. Because the measured output is lower on those days, we flag those hours and report results with and without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data problems we found, and each one has a written rule. Clocks: EIA is in UTC and CAISO files follow the local clock, so we convert everything to one clock and check it against sunrise and sunset. Missing hours: fewer than one percent, mostly in the weather feed. Turned-down solar: we flag it. More panels over time: we scale errors by installed capacity. One more small thing: at night the EIA series shows tiny negative values, about 40 megawatts, which is negligible next to 17,000 at midday but we treat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syllabus asks us to assess privacy and delivery risks as well as data quality. Privacy risk is low. All five sources are public and system-wide: no customers, no households, no personal information. The capacity file names power plants and companies, but those are public records. The licensing points are to credit Open-Meteo and to remember that its free tier is non-commercial. Delivery has three risks. First, timing: the inputs must exist by 10 a.m. Second, limits: the free weather service caps daily calls, and our full pull used about 6,500 of the 10,000 allowed in a day. Third, reproducibility: we saved the raw files and a data dictionary in the repository so the team never has to re-pull.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any model we score the reference forecasts on our own data. Same-as-yesterday misses by 4.9 percent of installed capacity. CAISO's published day-ahead forecast misses by 5.7 percent, and it runs about 830 megawatts too high on average. Most of that bias disappears when we add back the solar that was turned down, and then CAISO's miss is 3.7 percent. Part of that is by construction, because CAISO defines curtailment against its own forecast, so we show both. Our target was to be within 1.25 times CAISO's miss. That is 4.6 percent or about 7 percent depending on which number counts. We will settle that before modeling and report both. One more detail: same-as-yesterday uses afternoon information that is not available at 10 a.m., and if we limit it to what is known then, it is 6.1 percent. [Hand off] Juan David will take you through how we prepare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[JUAN DAVID, slides 13 to 17] Thank you, Carolina. Five steps. Pull the sources for the same dates. Align them on one clock with one row per hour. Clean gaps and flag curtailed hours. Add features such as hour of day, season and sun angle. Then split the table in time order so the models are always tested on days they have not seen. Steps one and two are done: we have a merged table of 22,896 aligned hourly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split in time order, never at random, because a forecast is always about the future. The earliest 80 percent of days, 763 of them, is for training and for four rolling checks. The latest 191 days, April 10 to October 17 of this year, is locked until the end and scored once. One honest limit: that last block runs from spring to mid-October, so it has no winter, and we judge winter accuracy in the validation checks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deliberately not picked our models yet. The first step, scoring the reference forecasts, is done. Next we explore the data and shortlist candidates, then compare them on the same time-ordered folds. The winner is chosen on three things: average miss compared with CAISO, worst-case overshoot, because that is what drives backup power, and how easily we can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risks. History is short, so each month appears only two to three times, and the test block has no winter. CAISO's number depends on how you treat turned-down solar, so we report both and fix our target before modeling. The weather timing rule is confirmed in the data and we keep the one-day version only as a comparison. And turned-down solar is concentrated in spring, which is inside our test block, so those hours are flagged and results are reported with and without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two weeks are exploration and model comparison. Then scoring and charts, and Capstone 3 on December 14. Before we start modeling, we would value your view on anything in the data or the test design we should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CK">
    <p:bg>
      <p:bgPr>
        <a:solidFill>
          <a:srgbClr val="0B122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0B122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www.eia.gov/opendata/" TargetMode="External"/><Relationship Id="rId2" Type="http://schemas.openxmlformats.org/officeDocument/2006/relationships/hyperlink" Target="https://www.eia.gov/electricity/data/eia860m/" TargetMode="External"/><Relationship Id="rId3" Type="http://schemas.openxmlformats.org/officeDocument/2006/relationships/hyperlink" Target="https://open-meteo.com/en/docs/previous-runs-api" TargetMode="External"/><Relationship Id="rId4" Type="http://schemas.openxmlformats.org/officeDocument/2006/relationships/hyperlink" Target="https://www.caiso.com/market-operations/products-services" TargetMode="External"/><Relationship Id="rId5" Type="http://schemas.openxmlformats.org/officeDocument/2006/relationships/hyperlink" Target="https://oasis.caiso.com/" TargetMode="External"/><Relationship Id="rId6" Type="http://schemas.openxmlformats.org/officeDocument/2006/relationships/hyperlink" Target="https://www.caiso.com/library/production-curtailments-data" TargetMode="External"/><Relationship Id="rId7" Type="http://schemas.openxmlformats.org/officeDocument/2006/relationships/hyperlink" Target="https://github.com/RaulSolaNavarro/caiso-solar-forecast" TargetMode="External"/><Relationship Id="rId8" Type="http://schemas.openxmlformats.org/officeDocument/2006/relationships/slideLayout" Target="../slideLayouts/slideLayout2.xml"/><Relationship Id="rId9"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766560" y="4114800"/>
            <a:ext cx="4206240" cy="4206240"/>
          </a:xfrm>
          <a:prstGeom prst="ellipse">
            <a:avLst/>
          </a:prstGeom>
          <a:solidFill>
            <a:srgbClr val="FFB703">
              <a:alpha val="15000"/>
            </a:srgbClr>
          </a:solidFill>
          <a:ln/>
        </p:spPr>
      </p:sp>
      <p:sp>
        <p:nvSpPr>
          <p:cNvPr id="4" name="Shape 1"/>
          <p:cNvSpPr/>
          <p:nvPr/>
        </p:nvSpPr>
        <p:spPr>
          <a:xfrm>
            <a:off x="7589520" y="4846320"/>
            <a:ext cx="2560320" cy="2560320"/>
          </a:xfrm>
          <a:prstGeom prst="ellipse">
            <a:avLst/>
          </a:prstGeom>
          <a:solidFill>
            <a:srgbClr val="FFB703"/>
          </a:solidFill>
          <a:ln/>
        </p:spPr>
      </p:sp>
      <p:sp>
        <p:nvSpPr>
          <p:cNvPr id="5" name="Shape 2"/>
          <p:cNvSpPr/>
          <p:nvPr/>
        </p:nvSpPr>
        <p:spPr>
          <a:xfrm>
            <a:off x="0" y="5897880"/>
            <a:ext cx="12191695" cy="960120"/>
          </a:xfrm>
          <a:prstGeom prst="rect">
            <a:avLst/>
          </a:prstGeom>
          <a:solidFill>
            <a:srgbClr val="0B1226"/>
          </a:solidFill>
          <a:ln/>
        </p:spPr>
      </p:sp>
      <p:sp>
        <p:nvSpPr>
          <p:cNvPr id="6" name="Text 3"/>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BUS 9430 · CAPSTONE 2 · DATA UNDERSTANDING AND PREPARATION</a:t>
            </a:r>
            <a:endParaRPr lang="en-US" sz="1200" dirty="0"/>
          </a:p>
        </p:txBody>
      </p:sp>
      <p:sp>
        <p:nvSpPr>
          <p:cNvPr id="7" name="Text 4"/>
          <p:cNvSpPr txBox="1"/>
          <p:nvPr/>
        </p:nvSpPr>
        <p:spPr>
          <a:xfrm>
            <a:off x="731520" y="914400"/>
            <a:ext cx="8229600" cy="1920240"/>
          </a:xfrm>
          <a:prstGeom prst="rect">
            <a:avLst/>
          </a:prstGeom>
          <a:noFill/>
          <a:ln/>
        </p:spPr>
        <p:txBody>
          <a:bodyPr wrap="square" lIns="0" tIns="0" rIns="0" bIns="0" rtlCol="0" anchor="t"/>
          <a:lstStyle/>
          <a:p>
            <a:pPr indent="0" marL="0">
              <a:buNone/>
            </a:pPr>
            <a:r>
              <a:rPr lang="en-US" sz="6000" b="1" dirty="0">
                <a:solidFill>
                  <a:srgbClr val="F1F4FB"/>
                </a:solidFill>
                <a:latin typeface="Arial" pitchFamily="34" charset="0"/>
                <a:ea typeface="Arial" pitchFamily="34" charset="-122"/>
                <a:cs typeface="Arial" pitchFamily="34" charset="-120"/>
              </a:rPr>
              <a:t>Tomorrow's </a:t>
            </a:r>
            <a:pPr indent="0" marL="0">
              <a:buNone/>
            </a:pPr>
            <a:r>
              <a:rPr lang="en-US" sz="6000" b="1" dirty="0">
                <a:solidFill>
                  <a:srgbClr val="FFB703"/>
                </a:solidFill>
                <a:latin typeface="Arial" pitchFamily="34" charset="0"/>
                <a:ea typeface="Arial" pitchFamily="34" charset="-122"/>
                <a:cs typeface="Arial" pitchFamily="34" charset="-120"/>
              </a:rPr>
              <a:t>Sun</a:t>
            </a:r>
            <a:pPr indent="0" marL="0">
              <a:buNone/>
            </a:pPr>
            <a:r>
              <a:rPr lang="en-US" sz="6000" b="1" dirty="0">
                <a:solidFill>
                  <a:srgbClr val="F1F4FB"/>
                </a:solidFill>
                <a:latin typeface="Arial" pitchFamily="34" charset="0"/>
                <a:ea typeface="Arial" pitchFamily="34" charset="-122"/>
                <a:cs typeface="Arial" pitchFamily="34" charset="-120"/>
              </a:rPr>
              <a:t>,</a:t>
            </a:r>
            <a:endParaRPr lang="en-US" sz="6000" dirty="0"/>
          </a:p>
          <a:p>
            <a:pPr indent="0" marL="0">
              <a:buNone/>
            </a:pPr>
            <a:r>
              <a:rPr lang="en-US" sz="6000" b="1" dirty="0">
                <a:solidFill>
                  <a:srgbClr val="F1F4FB"/>
                </a:solidFill>
                <a:latin typeface="Arial" pitchFamily="34" charset="0"/>
                <a:ea typeface="Arial" pitchFamily="34" charset="-122"/>
                <a:cs typeface="Arial" pitchFamily="34" charset="-120"/>
              </a:rPr>
              <a:t>Today's Plan</a:t>
            </a:r>
            <a:endParaRPr lang="en-US" sz="6000" dirty="0"/>
          </a:p>
        </p:txBody>
      </p:sp>
      <p:sp>
        <p:nvSpPr>
          <p:cNvPr id="8" name="Text 5"/>
          <p:cNvSpPr txBox="1"/>
          <p:nvPr/>
        </p:nvSpPr>
        <p:spPr>
          <a:xfrm>
            <a:off x="731520" y="2971800"/>
            <a:ext cx="8229600" cy="457200"/>
          </a:xfrm>
          <a:prstGeom prst="rect">
            <a:avLst/>
          </a:prstGeom>
          <a:noFill/>
          <a:ln/>
        </p:spPr>
        <p:txBody>
          <a:bodyPr wrap="square" lIns="0" tIns="0" rIns="0" bIns="0" rtlCol="0" anchor="ctr"/>
          <a:lstStyle/>
          <a:p>
            <a:pPr indent="0" marL="0">
              <a:buNone/>
            </a:pPr>
            <a:r>
              <a:rPr lang="en-US" sz="2400" dirty="0">
                <a:solidFill>
                  <a:srgbClr val="B9C2D6"/>
                </a:solidFill>
                <a:latin typeface="Arial" pitchFamily="34" charset="0"/>
                <a:ea typeface="Arial" pitchFamily="34" charset="-122"/>
                <a:cs typeface="Arial" pitchFamily="34" charset="-120"/>
              </a:rPr>
              <a:t>What our data shows, and how we get it ready</a:t>
            </a:r>
            <a:endParaRPr lang="en-US" sz="2400" dirty="0"/>
          </a:p>
        </p:txBody>
      </p:sp>
      <p:sp>
        <p:nvSpPr>
          <p:cNvPr id="9" name="Text 6"/>
          <p:cNvSpPr txBox="1"/>
          <p:nvPr/>
        </p:nvSpPr>
        <p:spPr>
          <a:xfrm>
            <a:off x="731520" y="3657600"/>
            <a:ext cx="7315200" cy="1188720"/>
          </a:xfrm>
          <a:prstGeom prst="rect">
            <a:avLst/>
          </a:prstGeom>
          <a:noFill/>
          <a:ln/>
        </p:spPr>
        <p:txBody>
          <a:bodyPr wrap="square" lIns="0" tIns="0" rIns="0" bIns="0" rtlCol="0" anchor="t"/>
          <a:lstStyle/>
          <a:p>
            <a:pPr indent="0" marL="0">
              <a:spcAft>
                <a:spcPts val="400"/>
              </a:spcAft>
              <a:buNone/>
            </a:pPr>
            <a:r>
              <a:rPr lang="en-US" sz="2200" b="1" dirty="0">
                <a:solidFill>
                  <a:srgbClr val="FFB703"/>
                </a:solidFill>
                <a:latin typeface="Arial" pitchFamily="34" charset="0"/>
                <a:ea typeface="Arial" pitchFamily="34" charset="-122"/>
                <a:cs typeface="Arial" pitchFamily="34" charset="-120"/>
              </a:rPr>
              <a:t>Team Solar Foresight</a:t>
            </a:r>
            <a:endParaRPr lang="en-US" sz="2200" dirty="0"/>
          </a:p>
          <a:p>
            <a:pPr indent="0" marL="0">
              <a:spcAft>
                <a:spcPts val="400"/>
              </a:spcAft>
              <a:buNone/>
            </a:pPr>
            <a:r>
              <a:rPr lang="en-US" sz="1400" b="1" dirty="0">
                <a:solidFill>
                  <a:srgbClr val="B9C2D6"/>
                </a:solidFill>
                <a:latin typeface="Arial" pitchFamily="34" charset="0"/>
                <a:ea typeface="Arial" pitchFamily="34" charset="-122"/>
                <a:cs typeface="Arial" pitchFamily="34" charset="-120"/>
              </a:rPr>
              <a:t>Team: </a:t>
            </a:r>
            <a:pPr indent="0" marL="0">
              <a:spcAft>
                <a:spcPts val="400"/>
              </a:spcAft>
              <a:buNone/>
            </a:pPr>
            <a:r>
              <a:rPr lang="en-US" sz="1400" dirty="0">
                <a:solidFill>
                  <a:srgbClr val="8893AB"/>
                </a:solidFill>
                <a:latin typeface="Arial" pitchFamily="34" charset="0"/>
                <a:ea typeface="Arial" pitchFamily="34" charset="-122"/>
                <a:cs typeface="Arial" pitchFamily="34" charset="-120"/>
              </a:rPr>
              <a:t>Carolina Lenes Arreola, Juan David Jaimes, Mohammad Mahmud, Vince Lanzillo and Raúl J. Solá Navarro</a:t>
            </a:r>
            <a:endParaRPr lang="en-US" sz="2200" dirty="0"/>
          </a:p>
          <a:p>
            <a:pPr indent="0" marL="0">
              <a:spcAft>
                <a:spcPts val="400"/>
              </a:spcAft>
              <a:buNone/>
            </a:pPr>
            <a:r>
              <a:rPr lang="en-US" sz="1400" dirty="0">
                <a:solidFill>
                  <a:srgbClr val="8893AB"/>
                </a:solidFill>
                <a:latin typeface="Arial" pitchFamily="34" charset="0"/>
                <a:ea typeface="Arial" pitchFamily="34" charset="-122"/>
                <a:cs typeface="Arial" pitchFamily="34" charset="-120"/>
              </a:rPr>
              <a:t>November 16, 2026</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THE BUSINESS PROBLEM</a:t>
            </a:r>
            <a:endParaRPr lang="en-US" sz="1200" dirty="0"/>
          </a:p>
        </p:txBody>
      </p:sp>
      <p:sp>
        <p:nvSpPr>
          <p:cNvPr id="4" name="Text 1"/>
          <p:cNvSpPr txBox="1"/>
          <p:nvPr/>
        </p:nvSpPr>
        <p:spPr>
          <a:xfrm>
            <a:off x="731520" y="822960"/>
            <a:ext cx="10725912" cy="10972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Solar is the part of tomorrow's plan </a:t>
            </a:r>
            <a:pPr indent="0" marL="0">
              <a:buNone/>
            </a:pPr>
            <a:r>
              <a:rPr lang="en-US" sz="3200" b="1" dirty="0">
                <a:solidFill>
                  <a:srgbClr val="FFB703"/>
                </a:solidFill>
                <a:latin typeface="Arial" pitchFamily="34" charset="0"/>
                <a:ea typeface="Arial" pitchFamily="34" charset="-122"/>
                <a:cs typeface="Arial" pitchFamily="34" charset="-120"/>
              </a:rPr>
              <a:t>that depends on the weather</a:t>
            </a:r>
            <a:endParaRPr lang="en-US" sz="3200" dirty="0"/>
          </a:p>
        </p:txBody>
      </p:sp>
      <p:sp>
        <p:nvSpPr>
          <p:cNvPr id="5" name="Shape 2"/>
          <p:cNvSpPr/>
          <p:nvPr/>
        </p:nvSpPr>
        <p:spPr>
          <a:xfrm>
            <a:off x="731520" y="2194560"/>
            <a:ext cx="3383280" cy="3291840"/>
          </a:xfrm>
          <a:prstGeom prst="roundRect">
            <a:avLst>
              <a:gd name="adj" fmla="val 3333"/>
            </a:avLst>
          </a:prstGeom>
          <a:solidFill>
            <a:srgbClr val="161E36"/>
          </a:solidFill>
          <a:ln w="12700">
            <a:solidFill>
              <a:srgbClr val="2A3350"/>
            </a:solidFill>
            <a:prstDash val="solid"/>
          </a:ln>
        </p:spPr>
      </p:sp>
      <p:sp>
        <p:nvSpPr>
          <p:cNvPr id="6" name="Text 3"/>
          <p:cNvSpPr txBox="1"/>
          <p:nvPr/>
        </p:nvSpPr>
        <p:spPr>
          <a:xfrm>
            <a:off x="960120" y="2331720"/>
            <a:ext cx="2926080" cy="30175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WHAT CAISO DOES</a:t>
            </a:r>
            <a:endParaRPr lang="en-US" sz="1100" dirty="0"/>
          </a:p>
          <a:p>
            <a:pPr indent="0" marL="0">
              <a:spcBef>
                <a:spcPts val="400"/>
              </a:spcBef>
              <a:buNone/>
            </a:pPr>
            <a:r>
              <a:rPr lang="en-US" sz="2200" b="1" dirty="0">
                <a:solidFill>
                  <a:srgbClr val="F1F4FB"/>
                </a:solidFill>
                <a:latin typeface="Arial" pitchFamily="34" charset="0"/>
                <a:ea typeface="Arial" pitchFamily="34" charset="-122"/>
                <a:cs typeface="Arial" pitchFamily="34" charset="-120"/>
              </a:rPr>
              <a:t>Locks in tomorrow's power plan today</a:t>
            </a:r>
            <a:endParaRPr lang="en-US" sz="1100" dirty="0"/>
          </a:p>
          <a:p>
            <a:pPr indent="0" marL="0">
              <a:spcBef>
                <a:spcPts val="600"/>
              </a:spcBef>
              <a:buNone/>
            </a:pPr>
            <a:r>
              <a:rPr lang="en-US" sz="1600" dirty="0">
                <a:solidFill>
                  <a:srgbClr val="B9C2D6"/>
                </a:solidFill>
                <a:latin typeface="Arial" pitchFamily="34" charset="0"/>
                <a:ea typeface="Arial" pitchFamily="34" charset="-122"/>
                <a:cs typeface="Arial" pitchFamily="34" charset="-120"/>
              </a:rPr>
              <a:t>Bids close at 10 a.m. Pacific. The plan is published at about 1 p.m. It says which plants run tomorrow and how much each makes.</a:t>
            </a:r>
            <a:endParaRPr lang="en-US" sz="1100" dirty="0"/>
          </a:p>
        </p:txBody>
      </p:sp>
      <p:sp>
        <p:nvSpPr>
          <p:cNvPr id="7" name="Shape 4"/>
          <p:cNvSpPr/>
          <p:nvPr/>
        </p:nvSpPr>
        <p:spPr>
          <a:xfrm>
            <a:off x="4402836" y="2194560"/>
            <a:ext cx="3383280" cy="3291840"/>
          </a:xfrm>
          <a:prstGeom prst="roundRect">
            <a:avLst>
              <a:gd name="adj" fmla="val 3333"/>
            </a:avLst>
          </a:prstGeom>
          <a:solidFill>
            <a:srgbClr val="161E36"/>
          </a:solidFill>
          <a:ln w="12700">
            <a:solidFill>
              <a:srgbClr val="2A3350"/>
            </a:solidFill>
            <a:prstDash val="solid"/>
          </a:ln>
        </p:spPr>
      </p:sp>
      <p:sp>
        <p:nvSpPr>
          <p:cNvPr id="8" name="Text 5"/>
          <p:cNvSpPr txBox="1"/>
          <p:nvPr/>
        </p:nvSpPr>
        <p:spPr>
          <a:xfrm>
            <a:off x="4631436" y="2331720"/>
            <a:ext cx="2926080" cy="30175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WHAT GOES WRONG</a:t>
            </a:r>
            <a:endParaRPr lang="en-US" sz="1100" dirty="0"/>
          </a:p>
          <a:p>
            <a:pPr indent="0" marL="0">
              <a:spcBef>
                <a:spcPts val="400"/>
              </a:spcBef>
              <a:buNone/>
            </a:pPr>
            <a:r>
              <a:rPr lang="en-US" sz="2200" b="1" dirty="0">
                <a:solidFill>
                  <a:srgbClr val="F1F4FB"/>
                </a:solidFill>
                <a:latin typeface="Arial" pitchFamily="34" charset="0"/>
                <a:ea typeface="Arial" pitchFamily="34" charset="-122"/>
                <a:cs typeface="Arial" pitchFamily="34" charset="-120"/>
              </a:rPr>
              <a:t>The solar forecast misses</a:t>
            </a:r>
            <a:endParaRPr lang="en-US" sz="1100" dirty="0"/>
          </a:p>
          <a:p>
            <a:pPr indent="0" marL="0">
              <a:spcBef>
                <a:spcPts val="600"/>
              </a:spcBef>
              <a:buNone/>
            </a:pPr>
            <a:r>
              <a:rPr lang="en-US" sz="1600" dirty="0">
                <a:solidFill>
                  <a:srgbClr val="B9C2D6"/>
                </a:solidFill>
                <a:latin typeface="Arial" pitchFamily="34" charset="0"/>
                <a:ea typeface="Arial" pitchFamily="34" charset="-122"/>
                <a:cs typeface="Arial" pitchFamily="34" charset="-120"/>
              </a:rPr>
              <a:t>Too high, and operators buy backup power at the last minute. Too low, and they hold reserves they never use.</a:t>
            </a:r>
            <a:endParaRPr lang="en-US" sz="1100" dirty="0"/>
          </a:p>
        </p:txBody>
      </p:sp>
      <p:sp>
        <p:nvSpPr>
          <p:cNvPr id="9" name="Shape 6"/>
          <p:cNvSpPr/>
          <p:nvPr/>
        </p:nvSpPr>
        <p:spPr>
          <a:xfrm>
            <a:off x="8074152" y="2194560"/>
            <a:ext cx="3383280" cy="3291840"/>
          </a:xfrm>
          <a:prstGeom prst="roundRect">
            <a:avLst>
              <a:gd name="adj" fmla="val 3333"/>
            </a:avLst>
          </a:prstGeom>
          <a:solidFill>
            <a:srgbClr val="161E36"/>
          </a:solidFill>
          <a:ln w="12700">
            <a:solidFill>
              <a:srgbClr val="2A3350"/>
            </a:solidFill>
            <a:prstDash val="solid"/>
          </a:ln>
        </p:spPr>
      </p:sp>
      <p:sp>
        <p:nvSpPr>
          <p:cNvPr id="10" name="Text 7"/>
          <p:cNvSpPr txBox="1"/>
          <p:nvPr/>
        </p:nvSpPr>
        <p:spPr>
          <a:xfrm>
            <a:off x="8302752" y="2331720"/>
            <a:ext cx="2926080" cy="30175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WHAT WE DO</a:t>
            </a:r>
            <a:endParaRPr lang="en-US" sz="1100" dirty="0"/>
          </a:p>
          <a:p>
            <a:pPr indent="0" marL="0">
              <a:spcBef>
                <a:spcPts val="400"/>
              </a:spcBef>
              <a:buNone/>
            </a:pPr>
            <a:r>
              <a:rPr lang="en-US" sz="2200" b="1" dirty="0">
                <a:solidFill>
                  <a:srgbClr val="F1F4FB"/>
                </a:solidFill>
                <a:latin typeface="Arial" pitchFamily="34" charset="0"/>
                <a:ea typeface="Arial" pitchFamily="34" charset="-122"/>
                <a:cs typeface="Arial" pitchFamily="34" charset="-120"/>
              </a:rPr>
              <a:t>Forecast solar output a day ahead</a:t>
            </a:r>
            <a:endParaRPr lang="en-US" sz="1100" dirty="0"/>
          </a:p>
          <a:p>
            <a:pPr indent="0" marL="0">
              <a:spcBef>
                <a:spcPts val="600"/>
              </a:spcBef>
              <a:buNone/>
            </a:pPr>
            <a:r>
              <a:rPr lang="en-US" sz="1600" dirty="0">
                <a:solidFill>
                  <a:srgbClr val="B9C2D6"/>
                </a:solidFill>
                <a:latin typeface="Arial" pitchFamily="34" charset="0"/>
                <a:ea typeface="Arial" pitchFamily="34" charset="-122"/>
                <a:cs typeface="Arial" pitchFamily="34" charset="-120"/>
              </a:rPr>
              <a:t>Hour by hour, using only what is known at 10 a.m. We then compare ourselves with CAISO's own forecast.</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WHAT WE FORECAST</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We forecast </a:t>
            </a:r>
            <a:pPr indent="0" marL="0">
              <a:buNone/>
            </a:pPr>
            <a:r>
              <a:rPr lang="en-US" sz="3200" b="1" dirty="0">
                <a:solidFill>
                  <a:srgbClr val="FFB703"/>
                </a:solidFill>
                <a:latin typeface="Arial" pitchFamily="34" charset="0"/>
                <a:ea typeface="Arial" pitchFamily="34" charset="-122"/>
                <a:cs typeface="Arial" pitchFamily="34" charset="-120"/>
              </a:rPr>
              <a:t>solar output</a:t>
            </a:r>
            <a:pPr indent="0" marL="0">
              <a:buNone/>
            </a:pPr>
            <a:r>
              <a:rPr lang="en-US" sz="3200" b="1" dirty="0">
                <a:solidFill>
                  <a:srgbClr val="F1F4FB"/>
                </a:solidFill>
                <a:latin typeface="Arial" pitchFamily="34" charset="0"/>
                <a:ea typeface="Arial" pitchFamily="34" charset="-122"/>
                <a:cs typeface="Arial" pitchFamily="34" charset="-120"/>
              </a:rPr>
              <a:t>, not electricity demand</a:t>
            </a:r>
            <a:endParaRPr lang="en-US" sz="3200" dirty="0"/>
          </a:p>
        </p:txBody>
      </p:sp>
      <p:sp>
        <p:nvSpPr>
          <p:cNvPr id="5" name="Shape 2"/>
          <p:cNvSpPr/>
          <p:nvPr/>
        </p:nvSpPr>
        <p:spPr>
          <a:xfrm>
            <a:off x="731520" y="1920240"/>
            <a:ext cx="3200400" cy="1188720"/>
          </a:xfrm>
          <a:prstGeom prst="roundRect">
            <a:avLst>
              <a:gd name="adj" fmla="val 9231"/>
            </a:avLst>
          </a:prstGeom>
          <a:solidFill>
            <a:srgbClr val="161E36"/>
          </a:solidFill>
          <a:ln w="12700">
            <a:solidFill>
              <a:srgbClr val="2A3350"/>
            </a:solidFill>
            <a:prstDash val="solid"/>
          </a:ln>
        </p:spPr>
      </p:sp>
      <p:sp>
        <p:nvSpPr>
          <p:cNvPr id="6" name="Text 3"/>
          <p:cNvSpPr txBox="1"/>
          <p:nvPr/>
        </p:nvSpPr>
        <p:spPr>
          <a:xfrm>
            <a:off x="932688" y="2057400"/>
            <a:ext cx="2798064" cy="91440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TOTAL DEMAND</a:t>
            </a:r>
            <a:endParaRPr lang="en-US" sz="1100" dirty="0"/>
          </a:p>
          <a:p>
            <a:pPr indent="0" marL="0">
              <a:spcBef>
                <a:spcPts val="400"/>
              </a:spcBef>
              <a:buNone/>
            </a:pPr>
            <a:r>
              <a:rPr lang="en-US" sz="1800" b="1" dirty="0">
                <a:solidFill>
                  <a:srgbClr val="F1F4FB"/>
                </a:solidFill>
                <a:latin typeface="Arial" pitchFamily="34" charset="0"/>
                <a:ea typeface="Arial" pitchFamily="34" charset="-122"/>
                <a:cs typeface="Arial" pitchFamily="34" charset="-120"/>
              </a:rPr>
              <a:t>What customers use</a:t>
            </a:r>
            <a:endParaRPr lang="en-US" sz="1100" dirty="0"/>
          </a:p>
        </p:txBody>
      </p:sp>
      <p:sp>
        <p:nvSpPr>
          <p:cNvPr id="7" name="Text 4"/>
          <p:cNvSpPr txBox="1"/>
          <p:nvPr/>
        </p:nvSpPr>
        <p:spPr>
          <a:xfrm>
            <a:off x="3931920" y="1920240"/>
            <a:ext cx="562356" cy="1188720"/>
          </a:xfrm>
          <a:prstGeom prst="rect">
            <a:avLst/>
          </a:prstGeom>
          <a:noFill/>
          <a:ln/>
        </p:spPr>
        <p:txBody>
          <a:bodyPr wrap="square" lIns="0" tIns="0" rIns="0" bIns="0" rtlCol="0" anchor="ctr"/>
          <a:lstStyle/>
          <a:p>
            <a:pPr algn="ctr" indent="0" marL="0">
              <a:buNone/>
            </a:pPr>
            <a:r>
              <a:rPr lang="en-US" sz="3600" b="1" dirty="0">
                <a:solidFill>
                  <a:srgbClr val="FFB703"/>
                </a:solidFill>
                <a:latin typeface="Arial" pitchFamily="34" charset="0"/>
                <a:ea typeface="Arial" pitchFamily="34" charset="-122"/>
                <a:cs typeface="Arial" pitchFamily="34" charset="-120"/>
              </a:rPr>
              <a:t>−</a:t>
            </a:r>
            <a:endParaRPr lang="en-US" sz="3600" dirty="0"/>
          </a:p>
        </p:txBody>
      </p:sp>
      <p:sp>
        <p:nvSpPr>
          <p:cNvPr id="8" name="Shape 5"/>
          <p:cNvSpPr/>
          <p:nvPr/>
        </p:nvSpPr>
        <p:spPr>
          <a:xfrm>
            <a:off x="4494276" y="1920240"/>
            <a:ext cx="3200400" cy="1188720"/>
          </a:xfrm>
          <a:prstGeom prst="roundRect">
            <a:avLst>
              <a:gd name="adj" fmla="val 9231"/>
            </a:avLst>
          </a:prstGeom>
          <a:solidFill>
            <a:srgbClr val="161E36"/>
          </a:solidFill>
          <a:ln w="12700">
            <a:solidFill>
              <a:srgbClr val="2A3350"/>
            </a:solidFill>
            <a:prstDash val="solid"/>
          </a:ln>
        </p:spPr>
      </p:sp>
      <p:sp>
        <p:nvSpPr>
          <p:cNvPr id="9" name="Text 6"/>
          <p:cNvSpPr txBox="1"/>
          <p:nvPr/>
        </p:nvSpPr>
        <p:spPr>
          <a:xfrm>
            <a:off x="4695444" y="2057400"/>
            <a:ext cx="2798064" cy="91440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WIND AND SOLAR</a:t>
            </a:r>
            <a:endParaRPr lang="en-US" sz="1100" dirty="0"/>
          </a:p>
          <a:p>
            <a:pPr indent="0" marL="0">
              <a:spcBef>
                <a:spcPts val="400"/>
              </a:spcBef>
              <a:buNone/>
            </a:pPr>
            <a:r>
              <a:rPr lang="en-US" sz="1800" b="1" dirty="0">
                <a:solidFill>
                  <a:srgbClr val="F1F4FB"/>
                </a:solidFill>
                <a:latin typeface="Arial" pitchFamily="34" charset="0"/>
                <a:ea typeface="Arial" pitchFamily="34" charset="-122"/>
                <a:cs typeface="Arial" pitchFamily="34" charset="-120"/>
              </a:rPr>
              <a:t>What the weather supplies</a:t>
            </a:r>
            <a:endParaRPr lang="en-US" sz="1100" dirty="0"/>
          </a:p>
        </p:txBody>
      </p:sp>
      <p:sp>
        <p:nvSpPr>
          <p:cNvPr id="10" name="Text 7"/>
          <p:cNvSpPr txBox="1"/>
          <p:nvPr/>
        </p:nvSpPr>
        <p:spPr>
          <a:xfrm>
            <a:off x="7694676" y="1920240"/>
            <a:ext cx="562356" cy="1188720"/>
          </a:xfrm>
          <a:prstGeom prst="rect">
            <a:avLst/>
          </a:prstGeom>
          <a:noFill/>
          <a:ln/>
        </p:spPr>
        <p:txBody>
          <a:bodyPr wrap="square" lIns="0" tIns="0" rIns="0" bIns="0" rtlCol="0" anchor="ctr"/>
          <a:lstStyle/>
          <a:p>
            <a:pPr algn="ctr" indent="0" marL="0">
              <a:buNone/>
            </a:pPr>
            <a:r>
              <a:rPr lang="en-US" sz="3600" b="1" dirty="0">
                <a:solidFill>
                  <a:srgbClr val="FFB703"/>
                </a:solidFill>
                <a:latin typeface="Arial" pitchFamily="34" charset="0"/>
                <a:ea typeface="Arial" pitchFamily="34" charset="-122"/>
                <a:cs typeface="Arial" pitchFamily="34" charset="-120"/>
              </a:rPr>
              <a:t>=</a:t>
            </a:r>
            <a:endParaRPr lang="en-US" sz="3600" dirty="0"/>
          </a:p>
        </p:txBody>
      </p:sp>
      <p:sp>
        <p:nvSpPr>
          <p:cNvPr id="11" name="Shape 8"/>
          <p:cNvSpPr/>
          <p:nvPr/>
        </p:nvSpPr>
        <p:spPr>
          <a:xfrm>
            <a:off x="8257032" y="1920240"/>
            <a:ext cx="3200400" cy="1188720"/>
          </a:xfrm>
          <a:prstGeom prst="roundRect">
            <a:avLst>
              <a:gd name="adj" fmla="val 9231"/>
            </a:avLst>
          </a:prstGeom>
          <a:solidFill>
            <a:srgbClr val="2A2410"/>
          </a:solidFill>
          <a:ln w="19050">
            <a:solidFill>
              <a:srgbClr val="FFB703"/>
            </a:solidFill>
            <a:prstDash val="solid"/>
          </a:ln>
        </p:spPr>
      </p:sp>
      <p:sp>
        <p:nvSpPr>
          <p:cNvPr id="12" name="Text 9"/>
          <p:cNvSpPr txBox="1"/>
          <p:nvPr/>
        </p:nvSpPr>
        <p:spPr>
          <a:xfrm>
            <a:off x="8458200" y="2057400"/>
            <a:ext cx="2798064" cy="91440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NET LOAD</a:t>
            </a:r>
            <a:endParaRPr lang="en-US" sz="1100" dirty="0"/>
          </a:p>
          <a:p>
            <a:pPr indent="0" marL="0">
              <a:spcBef>
                <a:spcPts val="400"/>
              </a:spcBef>
              <a:buNone/>
            </a:pPr>
            <a:r>
              <a:rPr lang="en-US" sz="1800" b="1" dirty="0">
                <a:solidFill>
                  <a:srgbClr val="F1F4FB"/>
                </a:solidFill>
                <a:latin typeface="Arial" pitchFamily="34" charset="0"/>
                <a:ea typeface="Arial" pitchFamily="34" charset="-122"/>
                <a:cs typeface="Arial" pitchFamily="34" charset="-120"/>
              </a:rPr>
              <a:t>What gas, batteries and imports must cover</a:t>
            </a:r>
            <a:endParaRPr lang="en-US" sz="1100" dirty="0"/>
          </a:p>
        </p:txBody>
      </p:sp>
      <p:sp>
        <p:nvSpPr>
          <p:cNvPr id="13" name="Shape 10"/>
          <p:cNvSpPr/>
          <p:nvPr/>
        </p:nvSpPr>
        <p:spPr>
          <a:xfrm>
            <a:off x="731520" y="3566160"/>
            <a:ext cx="5212080" cy="2468880"/>
          </a:xfrm>
          <a:prstGeom prst="roundRect">
            <a:avLst>
              <a:gd name="adj" fmla="val 4444"/>
            </a:avLst>
          </a:prstGeom>
          <a:solidFill>
            <a:srgbClr val="161E36"/>
          </a:solidFill>
          <a:ln w="12700">
            <a:solidFill>
              <a:srgbClr val="2A3350"/>
            </a:solidFill>
            <a:prstDash val="solid"/>
          </a:ln>
        </p:spPr>
      </p:sp>
      <p:sp>
        <p:nvSpPr>
          <p:cNvPr id="14" name="Text 11"/>
          <p:cNvSpPr txBox="1"/>
          <p:nvPr/>
        </p:nvSpPr>
        <p:spPr>
          <a:xfrm>
            <a:off x="960120" y="3703320"/>
            <a:ext cx="4754880" cy="219456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DEMAND</a:t>
            </a:r>
            <a:endParaRPr lang="en-US" sz="1100" dirty="0"/>
          </a:p>
          <a:p>
            <a:pPr indent="0" marL="0">
              <a:spcBef>
                <a:spcPts val="400"/>
              </a:spcBef>
              <a:buNone/>
            </a:pPr>
            <a:r>
              <a:rPr lang="en-US" sz="2200" b="1" dirty="0">
                <a:solidFill>
                  <a:srgbClr val="F1F4FB"/>
                </a:solidFill>
                <a:latin typeface="Arial" pitchFamily="34" charset="0"/>
                <a:ea typeface="Arial" pitchFamily="34" charset="-122"/>
                <a:cs typeface="Arial" pitchFamily="34" charset="-120"/>
              </a:rPr>
              <a:t>CAISO already forecasts it</a:t>
            </a:r>
            <a:endParaRPr lang="en-US" sz="1100" dirty="0"/>
          </a:p>
          <a:p>
            <a:pPr indent="0" marL="0">
              <a:spcBef>
                <a:spcPts val="600"/>
              </a:spcBef>
              <a:buNone/>
            </a:pPr>
            <a:r>
              <a:rPr lang="en-US" sz="1600" dirty="0">
                <a:solidFill>
                  <a:srgbClr val="B9C2D6"/>
                </a:solidFill>
                <a:latin typeface="Arial" pitchFamily="34" charset="0"/>
                <a:ea typeface="Arial" pitchFamily="34" charset="-122"/>
                <a:cs typeface="Arial" pitchFamily="34" charset="-120"/>
              </a:rPr>
              <a:t>It is a different problem, and the operator has its own tools for it.</a:t>
            </a:r>
            <a:endParaRPr lang="en-US" sz="1100" dirty="0"/>
          </a:p>
        </p:txBody>
      </p:sp>
      <p:sp>
        <p:nvSpPr>
          <p:cNvPr id="15" name="Shape 12"/>
          <p:cNvSpPr/>
          <p:nvPr/>
        </p:nvSpPr>
        <p:spPr>
          <a:xfrm>
            <a:off x="6245352" y="3566160"/>
            <a:ext cx="5212080" cy="2468880"/>
          </a:xfrm>
          <a:prstGeom prst="roundRect">
            <a:avLst>
              <a:gd name="adj" fmla="val 4444"/>
            </a:avLst>
          </a:prstGeom>
          <a:solidFill>
            <a:srgbClr val="2A2410"/>
          </a:solidFill>
          <a:ln w="19050">
            <a:solidFill>
              <a:srgbClr val="FFB703"/>
            </a:solidFill>
            <a:prstDash val="solid"/>
          </a:ln>
        </p:spPr>
      </p:sp>
      <p:sp>
        <p:nvSpPr>
          <p:cNvPr id="16" name="Text 13"/>
          <p:cNvSpPr txBox="1"/>
          <p:nvPr/>
        </p:nvSpPr>
        <p:spPr>
          <a:xfrm>
            <a:off x="6473952" y="3703320"/>
            <a:ext cx="4754880" cy="219456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OUR TARGET VARIABLE</a:t>
            </a:r>
            <a:endParaRPr lang="en-US" sz="1100" dirty="0"/>
          </a:p>
          <a:p>
            <a:pPr indent="0" marL="0">
              <a:spcBef>
                <a:spcPts val="400"/>
              </a:spcBef>
              <a:buNone/>
            </a:pPr>
            <a:r>
              <a:rPr lang="en-US" sz="2200" b="1" dirty="0">
                <a:solidFill>
                  <a:srgbClr val="F1F4FB"/>
                </a:solidFill>
                <a:latin typeface="Arial" pitchFamily="34" charset="0"/>
                <a:ea typeface="Arial" pitchFamily="34" charset="-122"/>
                <a:cs typeface="Arial" pitchFamily="34" charset="-120"/>
              </a:rPr>
              <a:t>Hourly solar output, in megawatts (MW)</a:t>
            </a:r>
            <a:endParaRPr lang="en-US" sz="1100" dirty="0"/>
          </a:p>
          <a:p>
            <a:pPr indent="0" marL="0">
              <a:spcBef>
                <a:spcPts val="600"/>
              </a:spcBef>
              <a:buNone/>
            </a:pPr>
            <a:r>
              <a:rPr lang="en-US" sz="1600" dirty="0">
                <a:solidFill>
                  <a:srgbClr val="B9C2D6"/>
                </a:solidFill>
                <a:latin typeface="Arial" pitchFamily="34" charset="0"/>
                <a:ea typeface="Arial" pitchFamily="34" charset="-122"/>
                <a:cs typeface="Arial" pitchFamily="34" charset="-120"/>
              </a:rPr>
              <a:t>How much power utility-scale solar plants in the CAISO area actually produce each hour, as measured by the U.S. Energy Information Administration.</a:t>
            </a:r>
            <a:endParaRPr lang="en-US" sz="1100" dirty="0"/>
          </a:p>
        </p:txBody>
      </p:sp>
      <p:sp>
        <p:nvSpPr>
          <p:cNvPr id="17" name="Text 14"/>
          <p:cNvSpPr txBox="1"/>
          <p:nvPr/>
        </p:nvSpPr>
        <p:spPr>
          <a:xfrm>
            <a:off x="731520" y="6355080"/>
            <a:ext cx="9692640" cy="320040"/>
          </a:xfrm>
          <a:prstGeom prst="rect">
            <a:avLst/>
          </a:prstGeom>
          <a:noFill/>
          <a:ln/>
        </p:spPr>
        <p:txBody>
          <a:bodyPr wrap="square" lIns="0" tIns="0" rIns="0" bIns="0" rtlCol="0" anchor="ctr"/>
          <a:lstStyle/>
          <a:p>
            <a:pPr indent="0" marL="0">
              <a:buNone/>
            </a:pPr>
            <a:r>
              <a:rPr lang="en-US" sz="1100" dirty="0">
                <a:solidFill>
                  <a:srgbClr val="8893AB"/>
                </a:solidFill>
                <a:latin typeface="Arial" pitchFamily="34" charset="0"/>
                <a:ea typeface="Arial" pitchFamily="34" charset="-122"/>
                <a:cs typeface="Arial" pitchFamily="34" charset="-120"/>
              </a:rPr>
              <a:t>Net load definition: U.S. Energy Information Administration (EIA).</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THE DATA</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Five public sources, </a:t>
            </a:r>
            <a:pPr indent="0" marL="0">
              <a:buNone/>
            </a:pPr>
            <a:r>
              <a:rPr lang="en-US" sz="3200" b="1" dirty="0">
                <a:solidFill>
                  <a:srgbClr val="FFB703"/>
                </a:solidFill>
                <a:latin typeface="Arial" pitchFamily="34" charset="0"/>
                <a:ea typeface="Arial" pitchFamily="34" charset="-122"/>
                <a:cs typeface="Arial" pitchFamily="34" charset="-120"/>
              </a:rPr>
              <a:t>one hourly table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10725912" cy="914400"/>
        </p:xfrm>
        <a:graphic>
          <a:graphicData uri="http://schemas.openxmlformats.org/drawingml/2006/table">
            <a:tbl>
              <a:tblPr/>
              <a:tblGrid>
                <a:gridCol w="1371600"/>
                <a:gridCol w="2651760"/>
                <a:gridCol w="3291840"/>
                <a:gridCol w="3410712"/>
              </a:tblGrid>
              <a:tr h="0">
                <a:tc>
                  <a:txBody>
                    <a:bodyPr/>
                    <a:lstStyle/>
                    <a:p>
                      <a:pPr indent="0" marL="0">
                        <a:buNone/>
                      </a:pPr>
                      <a:r>
                        <a:rPr lang="en-US" sz="1050" b="1" dirty="0">
                          <a:solidFill>
                            <a:srgbClr val="8893AB"/>
                          </a:solidFill>
                          <a:latin typeface="Arial" pitchFamily="34" charset="0"/>
                          <a:ea typeface="Arial" pitchFamily="34" charset="-122"/>
                          <a:cs typeface="Arial" pitchFamily="34" charset="-120"/>
                        </a:rPr>
                        <a:t>ROLE</a:t>
                      </a:r>
                      <a:endParaRPr lang="en-US" sz="105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12700" cap="flat" cmpd="sng" algn="ctr">
                      <a:solidFill>
                        <a:srgbClr val="34436E"/>
                      </a:solidFill>
                      <a:prstDash val="solid"/>
                      <a:round/>
                      <a:headEnd type="none" w="med" len="med"/>
                      <a:tailEnd type="none" w="med" len="med"/>
                    </a:lnB>
                    <a:solidFill>
                      <a:srgbClr val="0B1226"/>
                    </a:solidFill>
                  </a:tcPr>
                </a:tc>
                <a:tc>
                  <a:txBody>
                    <a:bodyPr/>
                    <a:lstStyle/>
                    <a:p>
                      <a:pPr indent="0" marL="0">
                        <a:buNone/>
                      </a:pPr>
                      <a:r>
                        <a:rPr lang="en-US" sz="1050" b="1" dirty="0">
                          <a:solidFill>
                            <a:srgbClr val="8893AB"/>
                          </a:solidFill>
                          <a:latin typeface="Arial" pitchFamily="34" charset="0"/>
                          <a:ea typeface="Arial" pitchFamily="34" charset="-122"/>
                          <a:cs typeface="Arial" pitchFamily="34" charset="-120"/>
                        </a:rPr>
                        <a:t>SOURCE</a:t>
                      </a:r>
                      <a:endParaRPr lang="en-US" sz="105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12700" cap="flat" cmpd="sng" algn="ctr">
                      <a:solidFill>
                        <a:srgbClr val="34436E"/>
                      </a:solidFill>
                      <a:prstDash val="solid"/>
                      <a:round/>
                      <a:headEnd type="none" w="med" len="med"/>
                      <a:tailEnd type="none" w="med" len="med"/>
                    </a:lnB>
                    <a:solidFill>
                      <a:srgbClr val="0B1226"/>
                    </a:solidFill>
                  </a:tcPr>
                </a:tc>
                <a:tc>
                  <a:txBody>
                    <a:bodyPr/>
                    <a:lstStyle/>
                    <a:p>
                      <a:pPr indent="0" marL="0">
                        <a:buNone/>
                      </a:pPr>
                      <a:r>
                        <a:rPr lang="en-US" sz="1050" b="1" dirty="0">
                          <a:solidFill>
                            <a:srgbClr val="8893AB"/>
                          </a:solidFill>
                          <a:latin typeface="Arial" pitchFamily="34" charset="0"/>
                          <a:ea typeface="Arial" pitchFamily="34" charset="-122"/>
                          <a:cs typeface="Arial" pitchFamily="34" charset="-120"/>
                        </a:rPr>
                        <a:t>WHAT IT GIVES US</a:t>
                      </a:r>
                      <a:endParaRPr lang="en-US" sz="105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12700" cap="flat" cmpd="sng" algn="ctr">
                      <a:solidFill>
                        <a:srgbClr val="34436E"/>
                      </a:solidFill>
                      <a:prstDash val="solid"/>
                      <a:round/>
                      <a:headEnd type="none" w="med" len="med"/>
                      <a:tailEnd type="none" w="med" len="med"/>
                    </a:lnB>
                    <a:solidFill>
                      <a:srgbClr val="0B1226"/>
                    </a:solidFill>
                  </a:tcPr>
                </a:tc>
                <a:tc>
                  <a:txBody>
                    <a:bodyPr/>
                    <a:lstStyle/>
                    <a:p>
                      <a:pPr indent="0" marL="0">
                        <a:buNone/>
                      </a:pPr>
                      <a:r>
                        <a:rPr lang="en-US" sz="1050" b="1" dirty="0">
                          <a:solidFill>
                            <a:srgbClr val="8893AB"/>
                          </a:solidFill>
                          <a:latin typeface="Arial" pitchFamily="34" charset="0"/>
                          <a:ea typeface="Arial" pitchFamily="34" charset="-122"/>
                          <a:cs typeface="Arial" pitchFamily="34" charset="-120"/>
                        </a:rPr>
                        <a:t>WHAT WE PULLED</a:t>
                      </a:r>
                      <a:endParaRPr lang="en-US" sz="105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12700" cap="flat" cmpd="sng" algn="ctr">
                      <a:solidFill>
                        <a:srgbClr val="34436E"/>
                      </a:solidFill>
                      <a:prstDash val="solid"/>
                      <a:round/>
                      <a:headEnd type="none" w="med" len="med"/>
                      <a:tailEnd type="none" w="med" len="med"/>
                    </a:lnB>
                    <a:solidFill>
                      <a:srgbClr val="0B1226"/>
                    </a:solidFill>
                  </a:tcPr>
                </a:tc>
              </a:tr>
              <a:tr h="0">
                <a:tc>
                  <a:txBody>
                    <a:bodyPr/>
                    <a:lstStyle/>
                    <a:p>
                      <a:pPr indent="0" marL="0">
                        <a:buNone/>
                      </a:pPr>
                      <a:r>
                        <a:rPr lang="en-US" sz="1700" b="1" dirty="0">
                          <a:solidFill>
                            <a:srgbClr val="F1F4FB"/>
                          </a:solidFill>
                          <a:latin typeface="Arial" pitchFamily="34" charset="0"/>
                          <a:ea typeface="Arial" pitchFamily="34" charset="-122"/>
                          <a:cs typeface="Arial" pitchFamily="34" charset="-120"/>
                        </a:rPr>
                        <a:t>Answer key</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700" dirty="0">
                          <a:solidFill>
                            <a:srgbClr val="B9C2D6"/>
                          </a:solidFill>
                          <a:latin typeface="Arial" pitchFamily="34" charset="0"/>
                          <a:ea typeface="Arial" pitchFamily="34" charset="-122"/>
                          <a:cs typeface="Arial" pitchFamily="34" charset="-120"/>
                        </a:rPr>
                        <a:t>EIA Hourly Electric Grid Monitor</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700" dirty="0">
                          <a:solidFill>
                            <a:srgbClr val="B9C2D6"/>
                          </a:solidFill>
                          <a:latin typeface="Arial" pitchFamily="34" charset="0"/>
                          <a:ea typeface="Arial" pitchFamily="34" charset="-122"/>
                          <a:cs typeface="Arial" pitchFamily="34" charset="-120"/>
                        </a:rPr>
                        <a:t>Actual hourly solar output for the CAISO area</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700" dirty="0">
                          <a:solidFill>
                            <a:srgbClr val="B9C2D6"/>
                          </a:solidFill>
                          <a:latin typeface="Arial" pitchFamily="34" charset="0"/>
                          <a:ea typeface="Arial" pitchFamily="34" charset="-122"/>
                          <a:cs typeface="Arial" pitchFamily="34" charset="-120"/>
                        </a:rPr>
                        <a:t>Hourly, Jan 2024 to Oct 17, 2026</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r>
              <a:tr h="0">
                <a:tc>
                  <a:txBody>
                    <a:bodyPr/>
                    <a:lstStyle/>
                    <a:p>
                      <a:pPr indent="0" marL="0">
                        <a:buNone/>
                      </a:pPr>
                      <a:r>
                        <a:rPr lang="en-US" sz="1700" b="1" dirty="0">
                          <a:solidFill>
                            <a:srgbClr val="F1F4FB"/>
                          </a:solidFill>
                          <a:latin typeface="Arial" pitchFamily="34" charset="0"/>
                          <a:ea typeface="Arial" pitchFamily="34" charset="-122"/>
                          <a:cs typeface="Arial" pitchFamily="34" charset="-120"/>
                        </a:rPr>
                        <a:t>Inputs</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700" dirty="0">
                          <a:solidFill>
                            <a:srgbClr val="B9C2D6"/>
                          </a:solidFill>
                          <a:latin typeface="Arial" pitchFamily="34" charset="0"/>
                          <a:ea typeface="Arial" pitchFamily="34" charset="-122"/>
                          <a:cs typeface="Arial" pitchFamily="34" charset="-120"/>
                        </a:rPr>
                        <a:t>Open-Meteo Previous Runs</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700" dirty="0">
                          <a:solidFill>
                            <a:srgbClr val="B9C2D6"/>
                          </a:solidFill>
                          <a:latin typeface="Arial" pitchFamily="34" charset="0"/>
                          <a:ea typeface="Arial" pitchFamily="34" charset="-122"/>
                          <a:cs typeface="Arial" pitchFamily="34" charset="-120"/>
                        </a:rPr>
                        <a:t>Weather forecasts published before the 10 a.m. bid close</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700" dirty="0">
                          <a:solidFill>
                            <a:srgbClr val="B9C2D6"/>
                          </a:solidFill>
                          <a:latin typeface="Arial" pitchFamily="34" charset="0"/>
                          <a:ea typeface="Arial" pitchFamily="34" charset="-122"/>
                          <a:cs typeface="Arial" pitchFamily="34" charset="-120"/>
                        </a:rPr>
                        <a:t>51 locations across California, Mar 2024 to Oct 2026</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r>
              <a:tr h="0">
                <a:tc>
                  <a:txBody>
                    <a:bodyPr/>
                    <a:lstStyle/>
                    <a:p>
                      <a:pPr indent="0" marL="0">
                        <a:buNone/>
                      </a:pPr>
                      <a:r>
                        <a:rPr lang="en-US" sz="1700" b="1" dirty="0">
                          <a:solidFill>
                            <a:srgbClr val="F1F4FB"/>
                          </a:solidFill>
                          <a:latin typeface="Arial" pitchFamily="34" charset="0"/>
                          <a:ea typeface="Arial" pitchFamily="34" charset="-122"/>
                          <a:cs typeface="Arial" pitchFamily="34" charset="-120"/>
                        </a:rPr>
                        <a:t>Benchmark</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700" dirty="0">
                          <a:solidFill>
                            <a:srgbClr val="B9C2D6"/>
                          </a:solidFill>
                          <a:latin typeface="Arial" pitchFamily="34" charset="0"/>
                          <a:ea typeface="Arial" pitchFamily="34" charset="-122"/>
                          <a:cs typeface="Arial" pitchFamily="34" charset="-120"/>
                        </a:rPr>
                        <a:t>CAISO OASIS, report SLD_REN_FCST</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700" dirty="0">
                          <a:solidFill>
                            <a:srgbClr val="B9C2D6"/>
                          </a:solidFill>
                          <a:latin typeface="Arial" pitchFamily="34" charset="0"/>
                          <a:ea typeface="Arial" pitchFamily="34" charset="-122"/>
                          <a:cs typeface="Arial" pitchFamily="34" charset="-120"/>
                        </a:rPr>
                        <a:t>CAISO's own day-ahead solar forecast</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700" dirty="0">
                          <a:solidFill>
                            <a:srgbClr val="B9C2D6"/>
                          </a:solidFill>
                          <a:latin typeface="Arial" pitchFamily="34" charset="0"/>
                          <a:ea typeface="Arial" pitchFamily="34" charset="-122"/>
                          <a:cs typeface="Arial" pitchFamily="34" charset="-120"/>
                        </a:rPr>
                        <a:t>Hourly, same dates, three solar regions added up</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r>
              <a:tr h="0">
                <a:tc>
                  <a:txBody>
                    <a:bodyPr/>
                    <a:lstStyle/>
                    <a:p>
                      <a:pPr indent="0" marL="0">
                        <a:buNone/>
                      </a:pPr>
                      <a:r>
                        <a:rPr lang="en-US" sz="1700" b="1" dirty="0">
                          <a:solidFill>
                            <a:srgbClr val="F1F4FB"/>
                          </a:solidFill>
                          <a:latin typeface="Arial" pitchFamily="34" charset="0"/>
                          <a:ea typeface="Arial" pitchFamily="34" charset="-122"/>
                          <a:cs typeface="Arial" pitchFamily="34" charset="-120"/>
                        </a:rPr>
                        <a:t>Scale</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700" dirty="0">
                          <a:solidFill>
                            <a:srgbClr val="B9C2D6"/>
                          </a:solidFill>
                          <a:latin typeface="Arial" pitchFamily="34" charset="0"/>
                          <a:ea typeface="Arial" pitchFamily="34" charset="-122"/>
                          <a:cs typeface="Arial" pitchFamily="34" charset="-120"/>
                        </a:rPr>
                        <a:t>EIA Form 860M</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700" dirty="0">
                          <a:solidFill>
                            <a:srgbClr val="B9C2D6"/>
                          </a:solidFill>
                          <a:latin typeface="Arial" pitchFamily="34" charset="0"/>
                          <a:ea typeface="Arial" pitchFamily="34" charset="-122"/>
                          <a:cs typeface="Arial" pitchFamily="34" charset="-120"/>
                        </a:rPr>
                        <a:t>Installed solar capacity, so errors compare fairly over time</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700" dirty="0">
                          <a:solidFill>
                            <a:srgbClr val="B9C2D6"/>
                          </a:solidFill>
                          <a:latin typeface="Arial" pitchFamily="34" charset="0"/>
                          <a:ea typeface="Arial" pitchFamily="34" charset="-122"/>
                          <a:cs typeface="Arial" pitchFamily="34" charset="-120"/>
                        </a:rPr>
                        <a:t>Monthly, Mar 2024 to Sep 2026</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r>
              <a:tr h="0">
                <a:tc>
                  <a:txBody>
                    <a:bodyPr/>
                    <a:lstStyle/>
                    <a:p>
                      <a:pPr indent="0" marL="0">
                        <a:buNone/>
                      </a:pPr>
                      <a:r>
                        <a:rPr lang="en-US" sz="1700" b="1" dirty="0">
                          <a:solidFill>
                            <a:srgbClr val="F1F4FB"/>
                          </a:solidFill>
                          <a:latin typeface="Arial" pitchFamily="34" charset="0"/>
                          <a:ea typeface="Arial" pitchFamily="34" charset="-122"/>
                          <a:cs typeface="Arial" pitchFamily="34" charset="-120"/>
                        </a:rPr>
                        <a:t>Flags</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700" dirty="0">
                          <a:solidFill>
                            <a:srgbClr val="B9C2D6"/>
                          </a:solidFill>
                          <a:latin typeface="Arial" pitchFamily="34" charset="0"/>
                          <a:ea typeface="Arial" pitchFamily="34" charset="-122"/>
                          <a:cs typeface="Arial" pitchFamily="34" charset="-120"/>
                        </a:rPr>
                        <a:t>CAISO curtailment files</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700" dirty="0">
                          <a:solidFill>
                            <a:srgbClr val="B9C2D6"/>
                          </a:solidFill>
                          <a:latin typeface="Arial" pitchFamily="34" charset="0"/>
                          <a:ea typeface="Arial" pitchFamily="34" charset="-122"/>
                          <a:cs typeface="Arial" pitchFamily="34" charset="-120"/>
                        </a:rPr>
                        <a:t>Solar that was turned down because the grid could not use it</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700" dirty="0">
                          <a:solidFill>
                            <a:srgbClr val="B9C2D6"/>
                          </a:solidFill>
                          <a:latin typeface="Arial" pitchFamily="34" charset="0"/>
                          <a:ea typeface="Arial" pitchFamily="34" charset="-122"/>
                          <a:cs typeface="Arial" pitchFamily="34" charset="-120"/>
                        </a:rPr>
                        <a:t>Mar 2024 to Oct 2026</a:t>
                      </a:r>
                      <a:endParaRPr lang="en-US" sz="17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r>
            </a:tbl>
          </a:graphicData>
        </a:graphic>
      </p:graphicFrame>
      <p:sp>
        <p:nvSpPr>
          <p:cNvPr id="6" name="Text 2"/>
          <p:cNvSpPr txBox="1"/>
          <p:nvPr/>
        </p:nvSpPr>
        <p:spPr>
          <a:xfrm>
            <a:off x="731520" y="6355080"/>
            <a:ext cx="9692640" cy="320040"/>
          </a:xfrm>
          <a:prstGeom prst="rect">
            <a:avLst/>
          </a:prstGeom>
          <a:noFill/>
          <a:ln/>
        </p:spPr>
        <p:txBody>
          <a:bodyPr wrap="square" lIns="0" tIns="0" rIns="0" bIns="0" rtlCol="0" anchor="ctr"/>
          <a:lstStyle/>
          <a:p>
            <a:pPr indent="0" marL="0">
              <a:buNone/>
            </a:pPr>
            <a:r>
              <a:rPr lang="en-US" sz="1100" dirty="0">
                <a:solidFill>
                  <a:srgbClr val="8893AB"/>
                </a:solidFill>
                <a:latin typeface="Arial" pitchFamily="34" charset="0"/>
                <a:ea typeface="Arial" pitchFamily="34" charset="-122"/>
                <a:cs typeface="Arial" pitchFamily="34" charset="-120"/>
              </a:rPr>
              <a:t>Weather data by Open-Meteo.com (CC BY 4.0). All data files are saved in the team repository.</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THE RULE THAT KEEPS THE TEST HONEST</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We may only use </a:t>
            </a:r>
            <a:pPr indent="0" marL="0">
              <a:buNone/>
            </a:pPr>
            <a:r>
              <a:rPr lang="en-US" sz="3200" b="1" dirty="0">
                <a:solidFill>
                  <a:srgbClr val="FFB703"/>
                </a:solidFill>
                <a:latin typeface="Arial" pitchFamily="34" charset="0"/>
                <a:ea typeface="Arial" pitchFamily="34" charset="-122"/>
                <a:cs typeface="Arial" pitchFamily="34" charset="-120"/>
              </a:rPr>
              <a:t>what is known at 10 a.m.</a:t>
            </a:r>
            <a:endParaRPr lang="en-US" sz="3200" dirty="0"/>
          </a:p>
        </p:txBody>
      </p:sp>
      <p:sp>
        <p:nvSpPr>
          <p:cNvPr id="5" name="Shape 2"/>
          <p:cNvSpPr/>
          <p:nvPr/>
        </p:nvSpPr>
        <p:spPr>
          <a:xfrm>
            <a:off x="731520" y="2011680"/>
            <a:ext cx="5212080" cy="2286000"/>
          </a:xfrm>
          <a:prstGeom prst="roundRect">
            <a:avLst>
              <a:gd name="adj" fmla="val 4800"/>
            </a:avLst>
          </a:prstGeom>
          <a:solidFill>
            <a:srgbClr val="161E36"/>
          </a:solidFill>
          <a:ln w="19050">
            <a:solidFill>
              <a:srgbClr val="199E70"/>
            </a:solidFill>
            <a:prstDash val="solid"/>
          </a:ln>
        </p:spPr>
      </p:sp>
      <p:sp>
        <p:nvSpPr>
          <p:cNvPr id="6" name="Text 3"/>
          <p:cNvSpPr txBox="1"/>
          <p:nvPr/>
        </p:nvSpPr>
        <p:spPr>
          <a:xfrm>
            <a:off x="960120" y="2148840"/>
            <a:ext cx="4754880" cy="201168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ALLOWED (MAIN MODEL)</a:t>
            </a:r>
            <a:endParaRPr lang="en-US" sz="1100" dirty="0"/>
          </a:p>
          <a:p>
            <a:pPr indent="0" marL="0">
              <a:spcBef>
                <a:spcPts val="400"/>
              </a:spcBef>
              <a:buNone/>
            </a:pPr>
            <a:r>
              <a:rPr lang="en-US" sz="2200" b="1" dirty="0">
                <a:solidFill>
                  <a:srgbClr val="F1F4FB"/>
                </a:solidFill>
                <a:latin typeface="Arial" pitchFamily="34" charset="0"/>
                <a:ea typeface="Arial" pitchFamily="34" charset="-122"/>
                <a:cs typeface="Arial" pitchFamily="34" charset="-120"/>
              </a:rPr>
              <a:t>Weather forecast made two days before</a:t>
            </a:r>
            <a:endParaRPr lang="en-US" sz="1100" dirty="0"/>
          </a:p>
          <a:p>
            <a:pPr indent="0" marL="0">
              <a:spcBef>
                <a:spcPts val="600"/>
              </a:spcBef>
              <a:buNone/>
            </a:pPr>
            <a:r>
              <a:rPr lang="en-US" sz="1600" dirty="0">
                <a:solidFill>
                  <a:srgbClr val="B9C2D6"/>
                </a:solidFill>
                <a:latin typeface="Arial" pitchFamily="34" charset="0"/>
                <a:ea typeface="Arial" pitchFamily="34" charset="-122"/>
                <a:cs typeface="Arial" pitchFamily="34" charset="-120"/>
              </a:rPr>
              <a:t>Published before the 10 a.m. bid close for every hour of the next day. This is the input we use.</a:t>
            </a:r>
            <a:endParaRPr lang="en-US" sz="1100" dirty="0"/>
          </a:p>
        </p:txBody>
      </p:sp>
      <p:sp>
        <p:nvSpPr>
          <p:cNvPr id="7" name="Shape 4"/>
          <p:cNvSpPr/>
          <p:nvPr/>
        </p:nvSpPr>
        <p:spPr>
          <a:xfrm>
            <a:off x="6245352" y="2011680"/>
            <a:ext cx="5212080" cy="2286000"/>
          </a:xfrm>
          <a:prstGeom prst="roundRect">
            <a:avLst>
              <a:gd name="adj" fmla="val 4800"/>
            </a:avLst>
          </a:prstGeom>
          <a:solidFill>
            <a:srgbClr val="2A2410"/>
          </a:solidFill>
          <a:ln w="19050">
            <a:solidFill>
              <a:srgbClr val="FFB703"/>
            </a:solidFill>
            <a:prstDash val="solid"/>
          </a:ln>
        </p:spPr>
      </p:sp>
      <p:sp>
        <p:nvSpPr>
          <p:cNvPr id="8" name="Text 5"/>
          <p:cNvSpPr txBox="1"/>
          <p:nvPr/>
        </p:nvSpPr>
        <p:spPr>
          <a:xfrm>
            <a:off x="6473952" y="2148840"/>
            <a:ext cx="4754880" cy="201168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COMPARISON ONLY</a:t>
            </a:r>
            <a:endParaRPr lang="en-US" sz="1100" dirty="0"/>
          </a:p>
          <a:p>
            <a:pPr indent="0" marL="0">
              <a:spcBef>
                <a:spcPts val="400"/>
              </a:spcBef>
              <a:buNone/>
            </a:pPr>
            <a:r>
              <a:rPr lang="en-US" sz="2200" b="1" dirty="0">
                <a:solidFill>
                  <a:srgbClr val="F1F4FB"/>
                </a:solidFill>
                <a:latin typeface="Arial" pitchFamily="34" charset="0"/>
                <a:ea typeface="Arial" pitchFamily="34" charset="-122"/>
                <a:cs typeface="Arial" pitchFamily="34" charset="-120"/>
              </a:rPr>
              <a:t>Weather forecast made one day before</a:t>
            </a:r>
            <a:endParaRPr lang="en-US" sz="1100" dirty="0"/>
          </a:p>
          <a:p>
            <a:pPr indent="0" marL="0">
              <a:spcBef>
                <a:spcPts val="600"/>
              </a:spcBef>
              <a:buNone/>
            </a:pPr>
            <a:r>
              <a:rPr lang="en-US" sz="1600" dirty="0">
                <a:solidFill>
                  <a:srgbClr val="B9C2D6"/>
                </a:solidFill>
                <a:latin typeface="Arial" pitchFamily="34" charset="0"/>
                <a:ea typeface="Arial" pitchFamily="34" charset="-122"/>
                <a:cs typeface="Arial" pitchFamily="34" charset="-120"/>
              </a:rPr>
              <a:t>For afternoon hours it is likely published after the bid close. We run it only as a labeled comparison, never as our result.</a:t>
            </a:r>
            <a:endParaRPr lang="en-US" sz="1100" dirty="0"/>
          </a:p>
        </p:txBody>
      </p:sp>
      <p:sp>
        <p:nvSpPr>
          <p:cNvPr id="9" name="Text 6"/>
          <p:cNvSpPr txBox="1"/>
          <p:nvPr/>
        </p:nvSpPr>
        <p:spPr>
          <a:xfrm>
            <a:off x="731520" y="4663440"/>
            <a:ext cx="10725912" cy="822960"/>
          </a:xfrm>
          <a:prstGeom prst="rect">
            <a:avLst/>
          </a:prstGeom>
          <a:noFill/>
          <a:ln/>
        </p:spPr>
        <p:txBody>
          <a:bodyPr wrap="square" lIns="0" tIns="0" rIns="0" bIns="0" rtlCol="0" anchor="t"/>
          <a:lstStyle/>
          <a:p>
            <a:pPr indent="0" marL="0">
              <a:buNone/>
            </a:pPr>
            <a:r>
              <a:rPr lang="en-US" sz="2200" dirty="0">
                <a:solidFill>
                  <a:srgbClr val="F1F4FB"/>
                </a:solidFill>
                <a:latin typeface="Arial" pitchFamily="34" charset="0"/>
                <a:ea typeface="Arial" pitchFamily="34" charset="-122"/>
                <a:cs typeface="Arial" pitchFamily="34" charset="-120"/>
              </a:rPr>
              <a:t>Why it matters: a forecast that peeks at later information looks better than it could be in real life.</a:t>
            </a:r>
            <a:endParaRPr lang="en-US" sz="2200" dirty="0"/>
          </a:p>
        </p:txBody>
      </p:sp>
      <p:sp>
        <p:nvSpPr>
          <p:cNvPr id="10" name="Text 7"/>
          <p:cNvSpPr txBox="1"/>
          <p:nvPr/>
        </p:nvSpPr>
        <p:spPr>
          <a:xfrm>
            <a:off x="731520" y="6355080"/>
            <a:ext cx="9692640" cy="320040"/>
          </a:xfrm>
          <a:prstGeom prst="rect">
            <a:avLst/>
          </a:prstGeom>
          <a:noFill/>
          <a:ln/>
        </p:spPr>
        <p:txBody>
          <a:bodyPr wrap="square" lIns="0" tIns="0" rIns="0" bIns="0" rtlCol="0" anchor="ctr"/>
          <a:lstStyle/>
          <a:p>
            <a:pPr indent="0" marL="0">
              <a:buNone/>
            </a:pPr>
            <a:r>
              <a:rPr lang="en-US" sz="1100" dirty="0">
                <a:solidFill>
                  <a:srgbClr val="8893AB"/>
                </a:solidFill>
                <a:latin typeface="Arial" pitchFamily="34" charset="0"/>
                <a:ea typeface="Arial" pitchFamily="34" charset="-122"/>
                <a:cs typeface="Arial" pitchFamily="34" charset="-120"/>
              </a:rPr>
              <a:t>Both versions are in the data, so the comparison is a single switch.</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DATA UNDERSTANDING</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The data at a glance: </a:t>
            </a:r>
            <a:pPr indent="0" marL="0">
              <a:buNone/>
            </a:pPr>
            <a:r>
              <a:rPr lang="en-US" sz="3200" b="1" dirty="0">
                <a:solidFill>
                  <a:srgbClr val="FFB703"/>
                </a:solidFill>
                <a:latin typeface="Arial" pitchFamily="34" charset="0"/>
                <a:ea typeface="Arial" pitchFamily="34" charset="-122"/>
                <a:cs typeface="Arial" pitchFamily="34" charset="-120"/>
              </a:rPr>
              <a:t>nearly complete</a:t>
            </a:r>
            <a:endParaRPr lang="en-US" sz="3200" dirty="0"/>
          </a:p>
        </p:txBody>
      </p:sp>
      <p:sp>
        <p:nvSpPr>
          <p:cNvPr id="5" name="Shape 2"/>
          <p:cNvSpPr/>
          <p:nvPr/>
        </p:nvSpPr>
        <p:spPr>
          <a:xfrm>
            <a:off x="731520" y="1737360"/>
            <a:ext cx="3383280" cy="3017520"/>
          </a:xfrm>
          <a:prstGeom prst="roundRect">
            <a:avLst>
              <a:gd name="adj" fmla="val 3636"/>
            </a:avLst>
          </a:prstGeom>
          <a:solidFill>
            <a:srgbClr val="161E36"/>
          </a:solidFill>
          <a:ln w="12700">
            <a:solidFill>
              <a:srgbClr val="2A3350"/>
            </a:solidFill>
            <a:prstDash val="solid"/>
          </a:ln>
        </p:spPr>
      </p:sp>
      <p:sp>
        <p:nvSpPr>
          <p:cNvPr id="6" name="Text 3"/>
          <p:cNvSpPr txBox="1"/>
          <p:nvPr/>
        </p:nvSpPr>
        <p:spPr>
          <a:xfrm>
            <a:off x="960120" y="1901952"/>
            <a:ext cx="2926080" cy="27432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PERIOD COVERED</a:t>
            </a:r>
            <a:endParaRPr lang="en-US" sz="1100" dirty="0"/>
          </a:p>
        </p:txBody>
      </p:sp>
      <p:sp>
        <p:nvSpPr>
          <p:cNvPr id="7" name="Text 4"/>
          <p:cNvSpPr txBox="1"/>
          <p:nvPr/>
        </p:nvSpPr>
        <p:spPr>
          <a:xfrm>
            <a:off x="960120" y="2240280"/>
            <a:ext cx="2926080" cy="914400"/>
          </a:xfrm>
          <a:prstGeom prst="rect">
            <a:avLst/>
          </a:prstGeom>
          <a:noFill/>
          <a:ln/>
        </p:spPr>
        <p:txBody>
          <a:bodyPr wrap="square" lIns="0" tIns="0" rIns="0" bIns="0" rtlCol="0" anchor="ctr">
            <a:normAutofit/>
          </a:bodyPr>
          <a:lstStyle/>
          <a:p>
            <a:pPr indent="0" marL="0">
              <a:buNone/>
            </a:pPr>
            <a:r>
              <a:rPr lang="en-US" sz="2800" b="1" dirty="0">
                <a:solidFill>
                  <a:srgbClr val="FFB703"/>
                </a:solidFill>
                <a:latin typeface="Arial" pitchFamily="34" charset="0"/>
                <a:ea typeface="Arial" pitchFamily="34" charset="-122"/>
                <a:cs typeface="Arial" pitchFamily="34" charset="-120"/>
              </a:rPr>
              <a:t>Mar 2024 to Oct 2026</a:t>
            </a:r>
            <a:endParaRPr lang="en-US" sz="2800" dirty="0"/>
          </a:p>
        </p:txBody>
      </p:sp>
      <p:sp>
        <p:nvSpPr>
          <p:cNvPr id="8" name="Text 5"/>
          <p:cNvSpPr txBox="1"/>
          <p:nvPr/>
        </p:nvSpPr>
        <p:spPr>
          <a:xfrm>
            <a:off x="960120" y="3246120"/>
            <a:ext cx="2926080" cy="1371600"/>
          </a:xfrm>
          <a:prstGeom prst="rect">
            <a:avLst/>
          </a:prstGeom>
          <a:noFill/>
          <a:ln/>
        </p:spPr>
        <p:txBody>
          <a:bodyPr wrap="square" lIns="0" tIns="0" rIns="0" bIns="0" rtlCol="0" anchor="t"/>
          <a:lstStyle/>
          <a:p>
            <a:pPr indent="0" marL="0">
              <a:buNone/>
            </a:pPr>
            <a:r>
              <a:rPr lang="en-US" sz="1700" dirty="0">
                <a:solidFill>
                  <a:srgbClr val="B9C2D6"/>
                </a:solidFill>
                <a:latin typeface="Arial" pitchFamily="34" charset="0"/>
                <a:ea typeface="Arial" pitchFamily="34" charset="-122"/>
                <a:cs typeface="Arial" pitchFamily="34" charset="-120"/>
              </a:rPr>
              <a:t>954 days, from March 8, 2024 to October 17, 2026.</a:t>
            </a:r>
            <a:endParaRPr lang="en-US" sz="1700" dirty="0"/>
          </a:p>
        </p:txBody>
      </p:sp>
      <p:sp>
        <p:nvSpPr>
          <p:cNvPr id="9" name="Shape 6"/>
          <p:cNvSpPr/>
          <p:nvPr/>
        </p:nvSpPr>
        <p:spPr>
          <a:xfrm>
            <a:off x="4402836" y="1737360"/>
            <a:ext cx="3383280" cy="3017520"/>
          </a:xfrm>
          <a:prstGeom prst="roundRect">
            <a:avLst>
              <a:gd name="adj" fmla="val 3636"/>
            </a:avLst>
          </a:prstGeom>
          <a:solidFill>
            <a:srgbClr val="161E36"/>
          </a:solidFill>
          <a:ln w="12700">
            <a:solidFill>
              <a:srgbClr val="2A3350"/>
            </a:solidFill>
            <a:prstDash val="solid"/>
          </a:ln>
        </p:spPr>
      </p:sp>
      <p:sp>
        <p:nvSpPr>
          <p:cNvPr id="10" name="Text 7"/>
          <p:cNvSpPr txBox="1"/>
          <p:nvPr/>
        </p:nvSpPr>
        <p:spPr>
          <a:xfrm>
            <a:off x="4631436" y="1901952"/>
            <a:ext cx="2926080" cy="27432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HOURS OF DATA</a:t>
            </a:r>
            <a:endParaRPr lang="en-US" sz="1100" dirty="0"/>
          </a:p>
        </p:txBody>
      </p:sp>
      <p:sp>
        <p:nvSpPr>
          <p:cNvPr id="11" name="Text 8"/>
          <p:cNvSpPr txBox="1"/>
          <p:nvPr/>
        </p:nvSpPr>
        <p:spPr>
          <a:xfrm>
            <a:off x="4631436" y="2240280"/>
            <a:ext cx="2926080" cy="914400"/>
          </a:xfrm>
          <a:prstGeom prst="rect">
            <a:avLst/>
          </a:prstGeom>
          <a:noFill/>
          <a:ln/>
        </p:spPr>
        <p:txBody>
          <a:bodyPr wrap="square" lIns="0" tIns="0" rIns="0" bIns="0" rtlCol="0" anchor="ctr">
            <a:normAutofit/>
          </a:bodyPr>
          <a:lstStyle/>
          <a:p>
            <a:pPr indent="0" marL="0">
              <a:buNone/>
            </a:pPr>
            <a:r>
              <a:rPr lang="en-US" sz="5400" b="1" dirty="0">
                <a:solidFill>
                  <a:srgbClr val="FFB703"/>
                </a:solidFill>
                <a:latin typeface="Arial" pitchFamily="34" charset="0"/>
                <a:ea typeface="Arial" pitchFamily="34" charset="-122"/>
                <a:cs typeface="Arial" pitchFamily="34" charset="-120"/>
              </a:rPr>
              <a:t>22,896</a:t>
            </a:r>
            <a:endParaRPr lang="en-US" sz="5400" dirty="0"/>
          </a:p>
        </p:txBody>
      </p:sp>
      <p:sp>
        <p:nvSpPr>
          <p:cNvPr id="12" name="Text 9"/>
          <p:cNvSpPr txBox="1"/>
          <p:nvPr/>
        </p:nvSpPr>
        <p:spPr>
          <a:xfrm>
            <a:off x="4631436" y="3246120"/>
            <a:ext cx="2926080" cy="1371600"/>
          </a:xfrm>
          <a:prstGeom prst="rect">
            <a:avLst/>
          </a:prstGeom>
          <a:noFill/>
          <a:ln/>
        </p:spPr>
        <p:txBody>
          <a:bodyPr wrap="square" lIns="0" tIns="0" rIns="0" bIns="0" rtlCol="0" anchor="t"/>
          <a:lstStyle/>
          <a:p>
            <a:pPr indent="0" marL="0">
              <a:buNone/>
            </a:pPr>
            <a:r>
              <a:rPr lang="en-US" sz="1700" dirty="0">
                <a:solidFill>
                  <a:srgbClr val="B9C2D6"/>
                </a:solidFill>
                <a:latin typeface="Arial" pitchFamily="34" charset="0"/>
                <a:ea typeface="Arial" pitchFamily="34" charset="-122"/>
                <a:cs typeface="Arial" pitchFamily="34" charset="-120"/>
              </a:rPr>
              <a:t>One row per hour. 11,733 of them are daylight hours, when solar can make power.</a:t>
            </a:r>
            <a:endParaRPr lang="en-US" sz="1700" dirty="0"/>
          </a:p>
        </p:txBody>
      </p:sp>
      <p:sp>
        <p:nvSpPr>
          <p:cNvPr id="13" name="Shape 10"/>
          <p:cNvSpPr/>
          <p:nvPr/>
        </p:nvSpPr>
        <p:spPr>
          <a:xfrm>
            <a:off x="8074152" y="1737360"/>
            <a:ext cx="3383280" cy="3017520"/>
          </a:xfrm>
          <a:prstGeom prst="roundRect">
            <a:avLst>
              <a:gd name="adj" fmla="val 3636"/>
            </a:avLst>
          </a:prstGeom>
          <a:solidFill>
            <a:srgbClr val="161E36"/>
          </a:solidFill>
          <a:ln w="12700">
            <a:solidFill>
              <a:srgbClr val="2A3350"/>
            </a:solidFill>
            <a:prstDash val="solid"/>
          </a:ln>
        </p:spPr>
      </p:sp>
      <p:sp>
        <p:nvSpPr>
          <p:cNvPr id="14" name="Text 11"/>
          <p:cNvSpPr txBox="1"/>
          <p:nvPr/>
        </p:nvSpPr>
        <p:spPr>
          <a:xfrm>
            <a:off x="8302752" y="1901952"/>
            <a:ext cx="2926080" cy="27432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HOURS WITH A GAP</a:t>
            </a:r>
            <a:endParaRPr lang="en-US" sz="1100" dirty="0"/>
          </a:p>
        </p:txBody>
      </p:sp>
      <p:sp>
        <p:nvSpPr>
          <p:cNvPr id="15" name="Text 12"/>
          <p:cNvSpPr txBox="1"/>
          <p:nvPr/>
        </p:nvSpPr>
        <p:spPr>
          <a:xfrm>
            <a:off x="8302752" y="2240280"/>
            <a:ext cx="2926080" cy="914400"/>
          </a:xfrm>
          <a:prstGeom prst="rect">
            <a:avLst/>
          </a:prstGeom>
          <a:noFill/>
          <a:ln/>
        </p:spPr>
        <p:txBody>
          <a:bodyPr wrap="square" lIns="0" tIns="0" rIns="0" bIns="0" rtlCol="0" anchor="ctr">
            <a:normAutofit/>
          </a:bodyPr>
          <a:lstStyle/>
          <a:p>
            <a:pPr indent="0" marL="0">
              <a:buNone/>
            </a:pPr>
            <a:r>
              <a:rPr lang="en-US" sz="5400" b="1" dirty="0">
                <a:solidFill>
                  <a:srgbClr val="FFB703"/>
                </a:solidFill>
                <a:latin typeface="Arial" pitchFamily="34" charset="0"/>
                <a:ea typeface="Arial" pitchFamily="34" charset="-122"/>
                <a:cs typeface="Arial" pitchFamily="34" charset="-120"/>
              </a:rPr>
              <a:t>&lt; 1%</a:t>
            </a:r>
            <a:endParaRPr lang="en-US" sz="5400" dirty="0"/>
          </a:p>
        </p:txBody>
      </p:sp>
      <p:sp>
        <p:nvSpPr>
          <p:cNvPr id="16" name="Text 13"/>
          <p:cNvSpPr txBox="1"/>
          <p:nvPr/>
        </p:nvSpPr>
        <p:spPr>
          <a:xfrm>
            <a:off x="8302752" y="3246120"/>
            <a:ext cx="2926080" cy="1371600"/>
          </a:xfrm>
          <a:prstGeom prst="rect">
            <a:avLst/>
          </a:prstGeom>
          <a:noFill/>
          <a:ln/>
        </p:spPr>
        <p:txBody>
          <a:bodyPr wrap="square" lIns="0" tIns="0" rIns="0" bIns="0" rtlCol="0" anchor="t"/>
          <a:lstStyle/>
          <a:p>
            <a:pPr indent="0" marL="0">
              <a:buNone/>
            </a:pPr>
            <a:r>
              <a:rPr lang="en-US" sz="1700" dirty="0">
                <a:solidFill>
                  <a:srgbClr val="B9C2D6"/>
                </a:solidFill>
                <a:latin typeface="Arial" pitchFamily="34" charset="0"/>
                <a:ea typeface="Arial" pitchFamily="34" charset="-122"/>
                <a:cs typeface="Arial" pitchFamily="34" charset="-120"/>
              </a:rPr>
              <a:t>225 hours across all sources, out of 22,896. Gaps are in the weather feed (129), the CAISO forecast (72) and EIA (24).</a:t>
            </a:r>
            <a:endParaRPr lang="en-US" sz="1700" dirty="0"/>
          </a:p>
        </p:txBody>
      </p:sp>
      <p:sp>
        <p:nvSpPr>
          <p:cNvPr id="17" name="Text 14"/>
          <p:cNvSpPr txBox="1"/>
          <p:nvPr/>
        </p:nvSpPr>
        <p:spPr>
          <a:xfrm>
            <a:off x="731520" y="5120640"/>
            <a:ext cx="10725912" cy="548640"/>
          </a:xfrm>
          <a:prstGeom prst="rect">
            <a:avLst/>
          </a:prstGeom>
          <a:noFill/>
          <a:ln/>
        </p:spPr>
        <p:txBody>
          <a:bodyPr wrap="square" lIns="0" tIns="0" rIns="0" bIns="0" rtlCol="0" anchor="ctr"/>
          <a:lstStyle/>
          <a:p>
            <a:pPr indent="0" marL="0">
              <a:buNone/>
            </a:pPr>
            <a:r>
              <a:rPr lang="en-US" sz="2200" dirty="0">
                <a:solidFill>
                  <a:srgbClr val="F1F4FB"/>
                </a:solidFill>
                <a:latin typeface="Arial" pitchFamily="34" charset="0"/>
                <a:ea typeface="Arial" pitchFamily="34" charset="-122"/>
                <a:cs typeface="Arial" pitchFamily="34" charset="-120"/>
              </a:rPr>
              <a:t>So the data is in good shape before we change anything.</a:t>
            </a:r>
            <a:endParaRPr lang="en-US" sz="22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DATA UNDERSTANDING</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A typical solar day: </a:t>
            </a:r>
            <a:pPr indent="0" marL="0">
              <a:buNone/>
            </a:pPr>
            <a:r>
              <a:rPr lang="en-US" sz="3200" b="1" dirty="0">
                <a:solidFill>
                  <a:srgbClr val="FFB703"/>
                </a:solidFill>
                <a:latin typeface="Arial" pitchFamily="34" charset="0"/>
                <a:ea typeface="Arial" pitchFamily="34" charset="-122"/>
                <a:cs typeface="Arial" pitchFamily="34" charset="-120"/>
              </a:rPr>
              <a:t>up at 6, peak at noon, done by 8</a:t>
            </a:r>
            <a:endParaRPr lang="en-US" sz="3200" dirty="0"/>
          </a:p>
        </p:txBody>
      </p:sp>
      <p:sp>
        <p:nvSpPr>
          <p:cNvPr id="5" name="Text 2"/>
          <p:cNvSpPr txBox="1"/>
          <p:nvPr/>
        </p:nvSpPr>
        <p:spPr>
          <a:xfrm>
            <a:off x="731520" y="1463040"/>
            <a:ext cx="10725912" cy="274320"/>
          </a:xfrm>
          <a:prstGeom prst="rect">
            <a:avLst/>
          </a:prstGeom>
          <a:noFill/>
          <a:ln/>
        </p:spPr>
        <p:txBody>
          <a:bodyPr wrap="square" lIns="0" tIns="0" rIns="0" bIns="0" rtlCol="0" anchor="ctr"/>
          <a:lstStyle/>
          <a:p>
            <a:pPr indent="0" marL="0">
              <a:buNone/>
            </a:pPr>
            <a:r>
              <a:rPr lang="en-US" sz="1200" b="1" dirty="0">
                <a:solidFill>
                  <a:srgbClr val="8893AB"/>
                </a:solidFill>
                <a:latin typeface="Arial" pitchFamily="34" charset="0"/>
                <a:ea typeface="Arial" pitchFamily="34" charset="-122"/>
                <a:cs typeface="Arial" pitchFamily="34" charset="-120"/>
              </a:rPr>
              <a:t>Average solar output (MW), by hour of the day, Pacific time</a:t>
            </a:r>
            <a:endParaRPr lang="en-US" sz="1200" dirty="0"/>
          </a:p>
        </p:txBody>
      </p:sp>
      <p:graphicFrame>
        <p:nvGraphicFramePr>
          <p:cNvPr id="6" name="Chart 0" descr=""/>
          <p:cNvGraphicFramePr/>
          <p:nvPr/>
        </p:nvGraphicFramePr>
        <p:xfrm>
          <a:off x="640080" y="1691640"/>
          <a:ext cx="10817352" cy="310896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731520" y="4937760"/>
            <a:ext cx="5212080" cy="1325880"/>
          </a:xfrm>
          <a:prstGeom prst="roundRect">
            <a:avLst>
              <a:gd name="adj" fmla="val 8276"/>
            </a:avLst>
          </a:prstGeom>
          <a:solidFill>
            <a:srgbClr val="161E36"/>
          </a:solidFill>
          <a:ln w="12700">
            <a:solidFill>
              <a:srgbClr val="2A3350"/>
            </a:solidFill>
            <a:prstDash val="solid"/>
          </a:ln>
        </p:spPr>
      </p:sp>
      <p:sp>
        <p:nvSpPr>
          <p:cNvPr id="8" name="Text 4"/>
          <p:cNvSpPr txBox="1"/>
          <p:nvPr/>
        </p:nvSpPr>
        <p:spPr>
          <a:xfrm>
            <a:off x="960120" y="5074920"/>
            <a:ext cx="4754880" cy="105156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WHAT WE SEE</a:t>
            </a:r>
            <a:endParaRPr lang="en-US" sz="1100" dirty="0"/>
          </a:p>
          <a:p>
            <a:pPr indent="0" marL="0">
              <a:spcBef>
                <a:spcPts val="400"/>
              </a:spcBef>
              <a:buNone/>
            </a:pPr>
            <a:r>
              <a:rPr lang="en-US" sz="1700" b="1" dirty="0">
                <a:solidFill>
                  <a:srgbClr val="F1F4FB"/>
                </a:solidFill>
                <a:latin typeface="Arial" pitchFamily="34" charset="0"/>
                <a:ea typeface="Arial" pitchFamily="34" charset="-122"/>
                <a:cs typeface="Arial" pitchFamily="34" charset="-120"/>
              </a:rPr>
              <a:t>Summer peaks about 47% higher than winter</a:t>
            </a:r>
            <a:endParaRPr lang="en-US" sz="1100" dirty="0"/>
          </a:p>
          <a:p>
            <a:pPr indent="0" marL="0">
              <a:spcBef>
                <a:spcPts val="600"/>
              </a:spcBef>
              <a:buNone/>
            </a:pPr>
            <a:r>
              <a:rPr lang="en-US" sz="1400" dirty="0">
                <a:solidFill>
                  <a:srgbClr val="B9C2D6"/>
                </a:solidFill>
                <a:latin typeface="Arial" pitchFamily="34" charset="0"/>
                <a:ea typeface="Arial" pitchFamily="34" charset="-122"/>
                <a:cs typeface="Arial" pitchFamily="34" charset="-120"/>
              </a:rPr>
              <a:t>About 17,400 MW at midday in summer, versus 11,900 MW in winter.</a:t>
            </a:r>
            <a:endParaRPr lang="en-US" sz="1100" dirty="0"/>
          </a:p>
        </p:txBody>
      </p:sp>
      <p:sp>
        <p:nvSpPr>
          <p:cNvPr id="9" name="Shape 5"/>
          <p:cNvSpPr/>
          <p:nvPr/>
        </p:nvSpPr>
        <p:spPr>
          <a:xfrm>
            <a:off x="6245352" y="4937760"/>
            <a:ext cx="5212080" cy="1325880"/>
          </a:xfrm>
          <a:prstGeom prst="roundRect">
            <a:avLst>
              <a:gd name="adj" fmla="val 8276"/>
            </a:avLst>
          </a:prstGeom>
          <a:solidFill>
            <a:srgbClr val="161E36"/>
          </a:solidFill>
          <a:ln w="12700">
            <a:solidFill>
              <a:srgbClr val="2A3350"/>
            </a:solidFill>
            <a:prstDash val="solid"/>
          </a:ln>
        </p:spPr>
      </p:sp>
      <p:sp>
        <p:nvSpPr>
          <p:cNvPr id="10" name="Text 6"/>
          <p:cNvSpPr txBox="1"/>
          <p:nvPr/>
        </p:nvSpPr>
        <p:spPr>
          <a:xfrm>
            <a:off x="6473952" y="5074920"/>
            <a:ext cx="4754880" cy="105156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WHAT IT MEANS FOR THE MODEL</a:t>
            </a:r>
            <a:endParaRPr lang="en-US" sz="1100" dirty="0"/>
          </a:p>
          <a:p>
            <a:pPr indent="0" marL="0">
              <a:spcBef>
                <a:spcPts val="400"/>
              </a:spcBef>
              <a:buNone/>
            </a:pPr>
            <a:r>
              <a:rPr lang="en-US" sz="1700" b="1" dirty="0">
                <a:solidFill>
                  <a:srgbClr val="F1F4FB"/>
                </a:solidFill>
                <a:latin typeface="Arial" pitchFamily="34" charset="0"/>
                <a:ea typeface="Arial" pitchFamily="34" charset="-122"/>
                <a:cs typeface="Arial" pitchFamily="34" charset="-120"/>
              </a:rPr>
              <a:t>Hour of day and season matter</a:t>
            </a:r>
            <a:endParaRPr lang="en-US" sz="1100" dirty="0"/>
          </a:p>
          <a:p>
            <a:pPr indent="0" marL="0">
              <a:spcBef>
                <a:spcPts val="600"/>
              </a:spcBef>
              <a:buNone/>
            </a:pPr>
            <a:r>
              <a:rPr lang="en-US" sz="1400" dirty="0">
                <a:solidFill>
                  <a:srgbClr val="B9C2D6"/>
                </a:solidFill>
                <a:latin typeface="Arial" pitchFamily="34" charset="0"/>
                <a:ea typeface="Arial" pitchFamily="34" charset="-122"/>
                <a:cs typeface="Arial" pitchFamily="34" charset="-120"/>
              </a:rPr>
              <a:t>The model has to know both, so we give them to it directly.</a:t>
            </a:r>
            <a:endParaRPr lang="en-US" sz="1100" dirty="0"/>
          </a:p>
        </p:txBody>
      </p:sp>
      <p:sp>
        <p:nvSpPr>
          <p:cNvPr id="11" name="Text 7"/>
          <p:cNvSpPr txBox="1"/>
          <p:nvPr/>
        </p:nvSpPr>
        <p:spPr>
          <a:xfrm>
            <a:off x="731520" y="6355080"/>
            <a:ext cx="9692640" cy="320040"/>
          </a:xfrm>
          <a:prstGeom prst="rect">
            <a:avLst/>
          </a:prstGeom>
          <a:noFill/>
          <a:ln/>
        </p:spPr>
        <p:txBody>
          <a:bodyPr wrap="square" lIns="0" tIns="0" rIns="0" bIns="0" rtlCol="0" anchor="ctr"/>
          <a:lstStyle/>
          <a:p>
            <a:pPr indent="0" marL="0">
              <a:buNone/>
            </a:pPr>
            <a:r>
              <a:rPr lang="en-US" sz="1100" dirty="0">
                <a:solidFill>
                  <a:srgbClr val="8893AB"/>
                </a:solidFill>
                <a:latin typeface="Arial" pitchFamily="34" charset="0"/>
                <a:ea typeface="Arial" pitchFamily="34" charset="-122"/>
                <a:cs typeface="Arial" pitchFamily="34" charset="-120"/>
              </a:rPr>
              <a:t>Average over March 2024 to April 2026. Winter is December to February. Source: EIA.</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DATA UNDERSTANDING</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Cloudier forecast, </a:t>
            </a:r>
            <a:pPr indent="0" marL="0">
              <a:buNone/>
            </a:pPr>
            <a:r>
              <a:rPr lang="en-US" sz="3200" b="1" dirty="0">
                <a:solidFill>
                  <a:srgbClr val="FFB703"/>
                </a:solidFill>
                <a:latin typeface="Arial" pitchFamily="34" charset="0"/>
                <a:ea typeface="Arial" pitchFamily="34" charset="-122"/>
                <a:cs typeface="Arial" pitchFamily="34" charset="-120"/>
              </a:rPr>
              <a:t>less solar</a:t>
            </a:r>
            <a:endParaRPr lang="en-US" sz="3200" dirty="0"/>
          </a:p>
        </p:txBody>
      </p:sp>
      <p:sp>
        <p:nvSpPr>
          <p:cNvPr id="5" name="Text 2"/>
          <p:cNvSpPr txBox="1"/>
          <p:nvPr/>
        </p:nvSpPr>
        <p:spPr>
          <a:xfrm>
            <a:off x="731520" y="1463040"/>
            <a:ext cx="6400800" cy="274320"/>
          </a:xfrm>
          <a:prstGeom prst="rect">
            <a:avLst/>
          </a:prstGeom>
          <a:noFill/>
          <a:ln/>
        </p:spPr>
        <p:txBody>
          <a:bodyPr wrap="square" lIns="0" tIns="0" rIns="0" bIns="0" rtlCol="0" anchor="ctr"/>
          <a:lstStyle/>
          <a:p>
            <a:pPr indent="0" marL="0">
              <a:buNone/>
            </a:pPr>
            <a:r>
              <a:rPr lang="en-US" sz="1200" b="1" dirty="0">
                <a:solidFill>
                  <a:srgbClr val="8893AB"/>
                </a:solidFill>
                <a:latin typeface="Arial" pitchFamily="34" charset="0"/>
                <a:ea typeface="Arial" pitchFamily="34" charset="-122"/>
                <a:cs typeface="Arial" pitchFamily="34" charset="-120"/>
              </a:rPr>
              <a:t>Midday output, % of installed solar capacity, by forecast cloud cover</a:t>
            </a:r>
            <a:endParaRPr lang="en-US" sz="1200" dirty="0"/>
          </a:p>
        </p:txBody>
      </p:sp>
      <p:graphicFrame>
        <p:nvGraphicFramePr>
          <p:cNvPr id="6" name="Chart 0" descr=""/>
          <p:cNvGraphicFramePr/>
          <p:nvPr/>
        </p:nvGraphicFramePr>
        <p:xfrm>
          <a:off x="731520" y="1783080"/>
          <a:ext cx="6400800" cy="42976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7635240" y="1828800"/>
            <a:ext cx="45720" cy="1828800"/>
          </a:xfrm>
          <a:prstGeom prst="rect">
            <a:avLst/>
          </a:prstGeom>
          <a:solidFill>
            <a:srgbClr val="FFB703"/>
          </a:solidFill>
          <a:ln/>
        </p:spPr>
      </p:sp>
      <p:sp>
        <p:nvSpPr>
          <p:cNvPr id="8" name="Text 4"/>
          <p:cNvSpPr txBox="1"/>
          <p:nvPr/>
        </p:nvSpPr>
        <p:spPr>
          <a:xfrm>
            <a:off x="7818120" y="1828800"/>
            <a:ext cx="3657600" cy="1828800"/>
          </a:xfrm>
          <a:prstGeom prst="rect">
            <a:avLst/>
          </a:prstGeom>
          <a:noFill/>
          <a:ln/>
        </p:spPr>
        <p:txBody>
          <a:bodyPr wrap="square" lIns="0" tIns="0" rIns="0" bIns="0" rtlCol="0" anchor="t"/>
          <a:lstStyle/>
          <a:p>
            <a:pPr indent="0" marL="0">
              <a:buNone/>
            </a:pPr>
            <a:r>
              <a:rPr lang="en-US" sz="4400" b="1" dirty="0">
                <a:solidFill>
                  <a:srgbClr val="FFB703"/>
                </a:solidFill>
                <a:latin typeface="Arial" pitchFamily="34" charset="0"/>
                <a:ea typeface="Arial" pitchFamily="34" charset="-122"/>
                <a:cs typeface="Arial" pitchFamily="34" charset="-120"/>
              </a:rPr>
              <a:t>0.87</a:t>
            </a:r>
            <a:endParaRPr lang="en-US" sz="4400" dirty="0"/>
          </a:p>
          <a:p>
            <a:pPr indent="0" marL="0">
              <a:spcBef>
                <a:spcPts val="200"/>
              </a:spcBef>
              <a:buNone/>
            </a:pPr>
            <a:r>
              <a:rPr lang="en-US" sz="1500" dirty="0">
                <a:solidFill>
                  <a:srgbClr val="B9C2D6"/>
                </a:solidFill>
                <a:latin typeface="Arial" pitchFamily="34" charset="0"/>
                <a:ea typeface="Arial" pitchFamily="34" charset="-122"/>
                <a:cs typeface="Arial" pitchFamily="34" charset="-120"/>
              </a:rPr>
              <a:t>How closely forecast sunshine tracks actual output, where 1.0 is perfect. Measured across 9,188 daylight hours.</a:t>
            </a:r>
            <a:endParaRPr lang="en-US" sz="4400" dirty="0"/>
          </a:p>
        </p:txBody>
      </p:sp>
      <p:sp>
        <p:nvSpPr>
          <p:cNvPr id="9" name="Shape 5"/>
          <p:cNvSpPr/>
          <p:nvPr/>
        </p:nvSpPr>
        <p:spPr>
          <a:xfrm>
            <a:off x="7635240" y="3931920"/>
            <a:ext cx="45720" cy="1828800"/>
          </a:xfrm>
          <a:prstGeom prst="rect">
            <a:avLst/>
          </a:prstGeom>
          <a:solidFill>
            <a:srgbClr val="FFB703"/>
          </a:solidFill>
          <a:ln/>
        </p:spPr>
      </p:sp>
      <p:sp>
        <p:nvSpPr>
          <p:cNvPr id="10" name="Text 6"/>
          <p:cNvSpPr txBox="1"/>
          <p:nvPr/>
        </p:nvSpPr>
        <p:spPr>
          <a:xfrm>
            <a:off x="7818120" y="3931920"/>
            <a:ext cx="3657600" cy="1828800"/>
          </a:xfrm>
          <a:prstGeom prst="rect">
            <a:avLst/>
          </a:prstGeom>
          <a:noFill/>
          <a:ln/>
        </p:spPr>
        <p:txBody>
          <a:bodyPr wrap="square" lIns="0" tIns="0" rIns="0" bIns="0" rtlCol="0" anchor="t"/>
          <a:lstStyle/>
          <a:p>
            <a:pPr indent="0" marL="0">
              <a:buNone/>
            </a:pPr>
            <a:r>
              <a:rPr lang="en-US" sz="4400" b="1" dirty="0">
                <a:solidFill>
                  <a:srgbClr val="FFB703"/>
                </a:solidFill>
                <a:latin typeface="Arial" pitchFamily="34" charset="0"/>
                <a:ea typeface="Arial" pitchFamily="34" charset="-122"/>
                <a:cs typeface="Arial" pitchFamily="34" charset="-120"/>
              </a:rPr>
              <a:t>55%</a:t>
            </a:r>
            <a:endParaRPr lang="en-US" sz="4400" dirty="0"/>
          </a:p>
          <a:p>
            <a:pPr indent="0" marL="0">
              <a:spcBef>
                <a:spcPts val="200"/>
              </a:spcBef>
              <a:buNone/>
            </a:pPr>
            <a:r>
              <a:rPr lang="en-US" sz="1500" dirty="0">
                <a:solidFill>
                  <a:srgbClr val="B9C2D6"/>
                </a:solidFill>
                <a:latin typeface="Arial" pitchFamily="34" charset="0"/>
                <a:ea typeface="Arial" pitchFamily="34" charset="-122"/>
                <a:cs typeface="Arial" pitchFamily="34" charset="-120"/>
              </a:rPr>
              <a:t>Biggest one-day drop: on October 10, 2026, output fell from 161 to 73 gigawatt-hours (GWh) in a day.</a:t>
            </a:r>
            <a:endParaRPr lang="en-US" sz="4400" dirty="0"/>
          </a:p>
        </p:txBody>
      </p:sp>
      <p:sp>
        <p:nvSpPr>
          <p:cNvPr id="11" name="Text 7"/>
          <p:cNvSpPr txBox="1"/>
          <p:nvPr/>
        </p:nvSpPr>
        <p:spPr>
          <a:xfrm>
            <a:off x="731520" y="6355080"/>
            <a:ext cx="9692640" cy="320040"/>
          </a:xfrm>
          <a:prstGeom prst="rect">
            <a:avLst/>
          </a:prstGeom>
          <a:noFill/>
          <a:ln/>
        </p:spPr>
        <p:txBody>
          <a:bodyPr wrap="square" lIns="0" tIns="0" rIns="0" bIns="0" rtlCol="0" anchor="ctr"/>
          <a:lstStyle/>
          <a:p>
            <a:pPr indent="0" marL="0">
              <a:buNone/>
            </a:pPr>
            <a:r>
              <a:rPr lang="en-US" sz="1100" dirty="0">
                <a:solidFill>
                  <a:srgbClr val="8893AB"/>
                </a:solidFill>
                <a:latin typeface="Arial" pitchFamily="34" charset="0"/>
                <a:ea typeface="Arial" pitchFamily="34" charset="-122"/>
                <a:cs typeface="Arial" pitchFamily="34" charset="-120"/>
              </a:rPr>
              <a:t>Midday = 11 a.m. to 2 p.m. Pacific. Cloud cover is the forecast made two days earlier. All seasons, so winter's lower sun also plays a part. Sources: EIA, Open-Meteo.</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DATA UNDERSTANDING</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More panels every month, </a:t>
            </a:r>
            <a:pPr indent="0" marL="0">
              <a:buNone/>
            </a:pPr>
            <a:r>
              <a:rPr lang="en-US" sz="3200" b="1" dirty="0">
                <a:solidFill>
                  <a:srgbClr val="FFB703"/>
                </a:solidFill>
                <a:latin typeface="Arial" pitchFamily="34" charset="0"/>
                <a:ea typeface="Arial" pitchFamily="34" charset="-122"/>
                <a:cs typeface="Arial" pitchFamily="34" charset="-120"/>
              </a:rPr>
              <a:t>and more solar turned down</a:t>
            </a:r>
            <a:endParaRPr lang="en-US" sz="3200" dirty="0"/>
          </a:p>
        </p:txBody>
      </p:sp>
      <p:sp>
        <p:nvSpPr>
          <p:cNvPr id="5" name="Text 2"/>
          <p:cNvSpPr txBox="1"/>
          <p:nvPr/>
        </p:nvSpPr>
        <p:spPr>
          <a:xfrm>
            <a:off x="731520" y="1463040"/>
            <a:ext cx="5212080" cy="320040"/>
          </a:xfrm>
          <a:prstGeom prst="rect">
            <a:avLst/>
          </a:prstGeom>
          <a:noFill/>
          <a:ln/>
        </p:spPr>
        <p:txBody>
          <a:bodyPr wrap="square" lIns="0" tIns="0" rIns="0" bIns="0" rtlCol="0" anchor="ctr"/>
          <a:lstStyle/>
          <a:p>
            <a:pPr indent="0" marL="0">
              <a:buNone/>
            </a:pPr>
            <a:r>
              <a:rPr lang="en-US" sz="1500" b="1" dirty="0">
                <a:solidFill>
                  <a:srgbClr val="F1F4FB"/>
                </a:solidFill>
                <a:latin typeface="Arial" pitchFamily="34" charset="0"/>
                <a:ea typeface="Arial" pitchFamily="34" charset="-122"/>
                <a:cs typeface="Arial" pitchFamily="34" charset="-120"/>
              </a:rPr>
              <a:t>Installed solar capacity grew 24% (GW)</a:t>
            </a:r>
            <a:endParaRPr lang="en-US" sz="1500" dirty="0"/>
          </a:p>
        </p:txBody>
      </p:sp>
      <p:sp>
        <p:nvSpPr>
          <p:cNvPr id="6" name="Text 3"/>
          <p:cNvSpPr txBox="1"/>
          <p:nvPr/>
        </p:nvSpPr>
        <p:spPr>
          <a:xfrm>
            <a:off x="6245352" y="1463040"/>
            <a:ext cx="5212080" cy="320040"/>
          </a:xfrm>
          <a:prstGeom prst="rect">
            <a:avLst/>
          </a:prstGeom>
          <a:noFill/>
          <a:ln/>
        </p:spPr>
        <p:txBody>
          <a:bodyPr wrap="square" lIns="0" tIns="0" rIns="0" bIns="0" rtlCol="0" anchor="ctr"/>
          <a:lstStyle/>
          <a:p>
            <a:pPr indent="0" marL="0">
              <a:buNone/>
            </a:pPr>
            <a:r>
              <a:rPr lang="en-US" sz="1500" b="1" dirty="0">
                <a:solidFill>
                  <a:srgbClr val="F1F4FB"/>
                </a:solidFill>
                <a:latin typeface="Arial" pitchFamily="34" charset="0"/>
                <a:ea typeface="Arial" pitchFamily="34" charset="-122"/>
                <a:cs typeface="Arial" pitchFamily="34" charset="-120"/>
              </a:rPr>
              <a:t>Spring is when solar gets turned down (% of possible)</a:t>
            </a:r>
            <a:endParaRPr lang="en-US" sz="1500" dirty="0"/>
          </a:p>
        </p:txBody>
      </p:sp>
      <p:graphicFrame>
        <p:nvGraphicFramePr>
          <p:cNvPr id="7" name="Chart 0" descr=""/>
          <p:cNvGraphicFramePr/>
          <p:nvPr/>
        </p:nvGraphicFramePr>
        <p:xfrm>
          <a:off x="640080" y="1783080"/>
          <a:ext cx="530352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 1" descr=""/>
          <p:cNvGraphicFramePr/>
          <p:nvPr/>
        </p:nvGraphicFramePr>
        <p:xfrm>
          <a:off x="6153912" y="1783080"/>
          <a:ext cx="5303520" cy="283464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731520" y="4754880"/>
            <a:ext cx="5212080" cy="1463040"/>
          </a:xfrm>
          <a:prstGeom prst="roundRect">
            <a:avLst>
              <a:gd name="adj" fmla="val 7500"/>
            </a:avLst>
          </a:prstGeom>
          <a:solidFill>
            <a:srgbClr val="161E36"/>
          </a:solidFill>
          <a:ln w="12700">
            <a:solidFill>
              <a:srgbClr val="2A3350"/>
            </a:solidFill>
            <a:prstDash val="solid"/>
          </a:ln>
        </p:spPr>
      </p:sp>
      <p:sp>
        <p:nvSpPr>
          <p:cNvPr id="10" name="Text 5"/>
          <p:cNvSpPr txBox="1"/>
          <p:nvPr/>
        </p:nvSpPr>
        <p:spPr>
          <a:xfrm>
            <a:off x="960120" y="4892040"/>
            <a:ext cx="4754880" cy="11887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WHY IT MATTERS</a:t>
            </a:r>
            <a:endParaRPr lang="en-US" sz="1100" dirty="0"/>
          </a:p>
          <a:p>
            <a:pPr indent="0" marL="0">
              <a:spcBef>
                <a:spcPts val="400"/>
              </a:spcBef>
              <a:buNone/>
            </a:pPr>
            <a:r>
              <a:rPr lang="en-US" sz="1700" b="1" dirty="0">
                <a:solidFill>
                  <a:srgbClr val="F1F4FB"/>
                </a:solidFill>
                <a:latin typeface="Arial" pitchFamily="34" charset="0"/>
                <a:ea typeface="Arial" pitchFamily="34" charset="-122"/>
                <a:cs typeface="Arial" pitchFamily="34" charset="-120"/>
              </a:rPr>
              <a:t>Errors must be scaled by capacity</a:t>
            </a:r>
            <a:endParaRPr lang="en-US" sz="1100" dirty="0"/>
          </a:p>
          <a:p>
            <a:pPr indent="0" marL="0">
              <a:spcBef>
                <a:spcPts val="600"/>
              </a:spcBef>
              <a:buNone/>
            </a:pPr>
            <a:r>
              <a:rPr lang="en-US" sz="1400" dirty="0">
                <a:solidFill>
                  <a:srgbClr val="B9C2D6"/>
                </a:solidFill>
                <a:latin typeface="Arial" pitchFamily="34" charset="0"/>
                <a:ea typeface="Arial" pitchFamily="34" charset="-122"/>
                <a:cs typeface="Arial" pitchFamily="34" charset="-120"/>
              </a:rPr>
              <a:t>From 21.0 to 26.0 GW. A 1,000 MW miss meant more in 2024 than it will in 2026, so we report errors as a share of capacity.</a:t>
            </a:r>
            <a:endParaRPr lang="en-US" sz="1100" dirty="0"/>
          </a:p>
        </p:txBody>
      </p:sp>
      <p:sp>
        <p:nvSpPr>
          <p:cNvPr id="11" name="Shape 6"/>
          <p:cNvSpPr/>
          <p:nvPr/>
        </p:nvSpPr>
        <p:spPr>
          <a:xfrm>
            <a:off x="6245352" y="4754880"/>
            <a:ext cx="5212080" cy="1463040"/>
          </a:xfrm>
          <a:prstGeom prst="roundRect">
            <a:avLst>
              <a:gd name="adj" fmla="val 7500"/>
            </a:avLst>
          </a:prstGeom>
          <a:solidFill>
            <a:srgbClr val="2A2410"/>
          </a:solidFill>
          <a:ln w="19050">
            <a:solidFill>
              <a:srgbClr val="FFB703"/>
            </a:solidFill>
            <a:prstDash val="solid"/>
          </a:ln>
        </p:spPr>
      </p:sp>
      <p:sp>
        <p:nvSpPr>
          <p:cNvPr id="12" name="Text 7"/>
          <p:cNvSpPr txBox="1"/>
          <p:nvPr/>
        </p:nvSpPr>
        <p:spPr>
          <a:xfrm>
            <a:off x="6473952" y="4892040"/>
            <a:ext cx="4754880" cy="11887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WHY IT MATTERS</a:t>
            </a:r>
            <a:endParaRPr lang="en-US" sz="1100" dirty="0"/>
          </a:p>
          <a:p>
            <a:pPr indent="0" marL="0">
              <a:spcBef>
                <a:spcPts val="400"/>
              </a:spcBef>
              <a:buNone/>
            </a:pPr>
            <a:r>
              <a:rPr lang="en-US" sz="1700" b="1" dirty="0">
                <a:solidFill>
                  <a:srgbClr val="F1F4FB"/>
                </a:solidFill>
                <a:latin typeface="Arial" pitchFamily="34" charset="0"/>
                <a:ea typeface="Arial" pitchFamily="34" charset="-122"/>
                <a:cs typeface="Arial" pitchFamily="34" charset="-120"/>
              </a:rPr>
              <a:t>Turned-down solar hides true output</a:t>
            </a:r>
            <a:endParaRPr lang="en-US" sz="1100" dirty="0"/>
          </a:p>
          <a:p>
            <a:pPr indent="0" marL="0">
              <a:spcBef>
                <a:spcPts val="600"/>
              </a:spcBef>
              <a:buNone/>
            </a:pPr>
            <a:r>
              <a:rPr lang="en-US" sz="1400" dirty="0">
                <a:solidFill>
                  <a:srgbClr val="B9C2D6"/>
                </a:solidFill>
                <a:latin typeface="Arial" pitchFamily="34" charset="0"/>
                <a:ea typeface="Arial" pitchFamily="34" charset="-122"/>
                <a:cs typeface="Arial" pitchFamily="34" charset="-120"/>
              </a:rPr>
              <a:t>In April 2026 about 1 in 4 possible megawatt-hours was turned down (24%). Over the whole period it is 7.6%.</a:t>
            </a:r>
            <a:endParaRPr lang="en-US" sz="1100" dirty="0"/>
          </a:p>
        </p:txBody>
      </p:sp>
      <p:sp>
        <p:nvSpPr>
          <p:cNvPr id="13" name="Text 8"/>
          <p:cNvSpPr txBox="1"/>
          <p:nvPr/>
        </p:nvSpPr>
        <p:spPr>
          <a:xfrm>
            <a:off x="731520" y="6355080"/>
            <a:ext cx="9692640" cy="320040"/>
          </a:xfrm>
          <a:prstGeom prst="rect">
            <a:avLst/>
          </a:prstGeom>
          <a:noFill/>
          <a:ln/>
        </p:spPr>
        <p:txBody>
          <a:bodyPr wrap="square" lIns="0" tIns="0" rIns="0" bIns="0" rtlCol="0" anchor="ctr"/>
          <a:lstStyle/>
          <a:p>
            <a:pPr indent="0" marL="0">
              <a:buNone/>
            </a:pPr>
            <a:r>
              <a:rPr lang="en-US" sz="1100" dirty="0">
                <a:solidFill>
                  <a:srgbClr val="8893AB"/>
                </a:solidFill>
                <a:latin typeface="Arial" pitchFamily="34" charset="0"/>
                <a:ea typeface="Arial" pitchFamily="34" charset="-122"/>
                <a:cs typeface="Arial" pitchFamily="34" charset="-120"/>
              </a:rPr>
              <a:t>Sources: EIA Form 860M (capacity, includes about 2.8 GW in Arizona and Nevada); CAISO curtailment reports.</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DATA UNDERSTANDING</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Four data problems, </a:t>
            </a:r>
            <a:pPr indent="0" marL="0">
              <a:buNone/>
            </a:pPr>
            <a:r>
              <a:rPr lang="en-US" sz="3200" b="1" dirty="0">
                <a:solidFill>
                  <a:srgbClr val="FFB703"/>
                </a:solidFill>
                <a:latin typeface="Arial" pitchFamily="34" charset="0"/>
                <a:ea typeface="Arial" pitchFamily="34" charset="-122"/>
                <a:cs typeface="Arial" pitchFamily="34" charset="-120"/>
              </a:rPr>
              <a:t>and what we do about each</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10725912" cy="914400"/>
        </p:xfrm>
        <a:graphic>
          <a:graphicData uri="http://schemas.openxmlformats.org/drawingml/2006/table">
            <a:tbl>
              <a:tblPr/>
              <a:tblGrid>
                <a:gridCol w="2103120"/>
                <a:gridCol w="4297680"/>
                <a:gridCol w="4325112"/>
              </a:tblGrid>
              <a:tr h="0">
                <a:tc>
                  <a:txBody>
                    <a:bodyPr/>
                    <a:lstStyle/>
                    <a:p>
                      <a:pPr indent="0" marL="0">
                        <a:buNone/>
                      </a:pPr>
                      <a:r>
                        <a:rPr lang="en-US" sz="1050" b="1" dirty="0">
                          <a:solidFill>
                            <a:srgbClr val="8893AB"/>
                          </a:solidFill>
                          <a:latin typeface="Arial" pitchFamily="34" charset="0"/>
                          <a:ea typeface="Arial" pitchFamily="34" charset="-122"/>
                          <a:cs typeface="Arial" pitchFamily="34" charset="-120"/>
                        </a:rPr>
                        <a:t>ISSUE</a:t>
                      </a:r>
                      <a:endParaRPr lang="en-US" sz="105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12700" cap="flat" cmpd="sng" algn="ctr">
                      <a:solidFill>
                        <a:srgbClr val="34436E"/>
                      </a:solidFill>
                      <a:prstDash val="solid"/>
                      <a:round/>
                      <a:headEnd type="none" w="med" len="med"/>
                      <a:tailEnd type="none" w="med" len="med"/>
                    </a:lnB>
                    <a:solidFill>
                      <a:srgbClr val="0B1226"/>
                    </a:solidFill>
                  </a:tcPr>
                </a:tc>
                <a:tc>
                  <a:txBody>
                    <a:bodyPr/>
                    <a:lstStyle/>
                    <a:p>
                      <a:pPr indent="0" marL="0">
                        <a:buNone/>
                      </a:pPr>
                      <a:r>
                        <a:rPr lang="en-US" sz="1050" b="1" dirty="0">
                          <a:solidFill>
                            <a:srgbClr val="8893AB"/>
                          </a:solidFill>
                          <a:latin typeface="Arial" pitchFamily="34" charset="0"/>
                          <a:ea typeface="Arial" pitchFamily="34" charset="-122"/>
                          <a:cs typeface="Arial" pitchFamily="34" charset="-120"/>
                        </a:rPr>
                        <a:t>WHAT WE FOUND</a:t>
                      </a:r>
                      <a:endParaRPr lang="en-US" sz="105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12700" cap="flat" cmpd="sng" algn="ctr">
                      <a:solidFill>
                        <a:srgbClr val="34436E"/>
                      </a:solidFill>
                      <a:prstDash val="solid"/>
                      <a:round/>
                      <a:headEnd type="none" w="med" len="med"/>
                      <a:tailEnd type="none" w="med" len="med"/>
                    </a:lnB>
                    <a:solidFill>
                      <a:srgbClr val="0B1226"/>
                    </a:solidFill>
                  </a:tcPr>
                </a:tc>
                <a:tc>
                  <a:txBody>
                    <a:bodyPr/>
                    <a:lstStyle/>
                    <a:p>
                      <a:pPr indent="0" marL="0">
                        <a:buNone/>
                      </a:pPr>
                      <a:r>
                        <a:rPr lang="en-US" sz="1050" b="1" dirty="0">
                          <a:solidFill>
                            <a:srgbClr val="8893AB"/>
                          </a:solidFill>
                          <a:latin typeface="Arial" pitchFamily="34" charset="0"/>
                          <a:ea typeface="Arial" pitchFamily="34" charset="-122"/>
                          <a:cs typeface="Arial" pitchFamily="34" charset="-120"/>
                        </a:rPr>
                        <a:t>WHAT WE DO</a:t>
                      </a:r>
                      <a:endParaRPr lang="en-US" sz="105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12700" cap="flat" cmpd="sng" algn="ctr">
                      <a:solidFill>
                        <a:srgbClr val="34436E"/>
                      </a:solidFill>
                      <a:prstDash val="solid"/>
                      <a:round/>
                      <a:headEnd type="none" w="med" len="med"/>
                      <a:tailEnd type="none" w="med" len="med"/>
                    </a:lnB>
                    <a:solidFill>
                      <a:srgbClr val="0B1226"/>
                    </a:solidFill>
                  </a:tcPr>
                </a:tc>
              </a:tr>
              <a:tr h="0">
                <a:tc>
                  <a:txBody>
                    <a:bodyPr/>
                    <a:lstStyle/>
                    <a:p>
                      <a:pPr indent="0" marL="0">
                        <a:buNone/>
                      </a:pPr>
                      <a:r>
                        <a:rPr lang="en-US" sz="1800" b="1" dirty="0">
                          <a:solidFill>
                            <a:srgbClr val="F1F4FB"/>
                          </a:solidFill>
                          <a:latin typeface="Arial" pitchFamily="34" charset="0"/>
                          <a:ea typeface="Arial" pitchFamily="34" charset="-122"/>
                          <a:cs typeface="Arial" pitchFamily="34" charset="-120"/>
                        </a:rPr>
                        <a:t>Clocks disagree</a:t>
                      </a:r>
                      <a:endParaRPr lang="en-US" sz="18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800" dirty="0">
                          <a:solidFill>
                            <a:srgbClr val="B9C2D6"/>
                          </a:solidFill>
                          <a:latin typeface="Arial" pitchFamily="34" charset="0"/>
                          <a:ea typeface="Arial" pitchFamily="34" charset="-122"/>
                          <a:cs typeface="Arial" pitchFamily="34" charset="-120"/>
                        </a:rPr>
                        <a:t>EIA reports in UTC. CAISO files use the local clock, which shifts with daylight saving time.</a:t>
                      </a:r>
                      <a:endParaRPr lang="en-US" sz="18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800" dirty="0">
                          <a:solidFill>
                            <a:srgbClr val="B9C2D6"/>
                          </a:solidFill>
                          <a:latin typeface="Arial" pitchFamily="34" charset="0"/>
                          <a:ea typeface="Arial" pitchFamily="34" charset="-122"/>
                          <a:cs typeface="Arial" pitchFamily="34" charset="-120"/>
                        </a:rPr>
                        <a:t>Convert every source to one clock (hour ending, UTC) and check against sunrise and sunset.</a:t>
                      </a:r>
                      <a:endParaRPr lang="en-US" sz="18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r>
              <a:tr h="0">
                <a:tc>
                  <a:txBody>
                    <a:bodyPr/>
                    <a:lstStyle/>
                    <a:p>
                      <a:pPr indent="0" marL="0">
                        <a:buNone/>
                      </a:pPr>
                      <a:r>
                        <a:rPr lang="en-US" sz="1800" b="1" dirty="0">
                          <a:solidFill>
                            <a:srgbClr val="F1F4FB"/>
                          </a:solidFill>
                          <a:latin typeface="Arial" pitchFamily="34" charset="0"/>
                          <a:ea typeface="Arial" pitchFamily="34" charset="-122"/>
                          <a:cs typeface="Arial" pitchFamily="34" charset="-120"/>
                        </a:rPr>
                        <a:t>Missing hours</a:t>
                      </a:r>
                      <a:endParaRPr lang="en-US" sz="18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800" dirty="0">
                          <a:solidFill>
                            <a:srgbClr val="B9C2D6"/>
                          </a:solidFill>
                          <a:latin typeface="Arial" pitchFamily="34" charset="0"/>
                          <a:ea typeface="Arial" pitchFamily="34" charset="-122"/>
                          <a:cs typeface="Arial" pitchFamily="34" charset="-120"/>
                        </a:rPr>
                        <a:t>225 of 22,896 hours (under 1%): weather 129, CAISO forecast 72, EIA 24.</a:t>
                      </a:r>
                      <a:endParaRPr lang="en-US" sz="18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800" dirty="0">
                          <a:solidFill>
                            <a:srgbClr val="B9C2D6"/>
                          </a:solidFill>
                          <a:latin typeface="Arial" pitchFamily="34" charset="0"/>
                          <a:ea typeface="Arial" pitchFamily="34" charset="-122"/>
                          <a:cs typeface="Arial" pitchFamily="34" charset="-120"/>
                        </a:rPr>
                        <a:t>Fill short gaps, drop long ones, and say which.</a:t>
                      </a:r>
                      <a:endParaRPr lang="en-US" sz="18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r>
              <a:tr h="0">
                <a:tc>
                  <a:txBody>
                    <a:bodyPr/>
                    <a:lstStyle/>
                    <a:p>
                      <a:pPr indent="0" marL="0">
                        <a:buNone/>
                      </a:pPr>
                      <a:r>
                        <a:rPr lang="en-US" sz="1800" b="1" dirty="0">
                          <a:solidFill>
                            <a:srgbClr val="F1F4FB"/>
                          </a:solidFill>
                          <a:latin typeface="Arial" pitchFamily="34" charset="0"/>
                          <a:ea typeface="Arial" pitchFamily="34" charset="-122"/>
                          <a:cs typeface="Arial" pitchFamily="34" charset="-120"/>
                        </a:rPr>
                        <a:t>Turned-down solar</a:t>
                      </a:r>
                      <a:endParaRPr lang="en-US" sz="18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800" dirty="0">
                          <a:solidFill>
                            <a:srgbClr val="B9C2D6"/>
                          </a:solidFill>
                          <a:latin typeface="Arial" pitchFamily="34" charset="0"/>
                          <a:ea typeface="Arial" pitchFamily="34" charset="-122"/>
                          <a:cs typeface="Arial" pitchFamily="34" charset="-120"/>
                        </a:rPr>
                        <a:t>7.6% of possible solar energy over the period. Up to 24% in a spring month.</a:t>
                      </a:r>
                      <a:endParaRPr lang="en-US" sz="18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800" dirty="0">
                          <a:solidFill>
                            <a:srgbClr val="B9C2D6"/>
                          </a:solidFill>
                          <a:latin typeface="Arial" pitchFamily="34" charset="0"/>
                          <a:ea typeface="Arial" pitchFamily="34" charset="-122"/>
                          <a:cs typeface="Arial" pitchFamily="34" charset="-120"/>
                        </a:rPr>
                        <a:t>Flag those hours and report results with and without them.</a:t>
                      </a:r>
                      <a:endParaRPr lang="en-US" sz="18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r>
              <a:tr h="0">
                <a:tc>
                  <a:txBody>
                    <a:bodyPr/>
                    <a:lstStyle/>
                    <a:p>
                      <a:pPr indent="0" marL="0">
                        <a:buNone/>
                      </a:pPr>
                      <a:r>
                        <a:rPr lang="en-US" sz="1800" b="1" dirty="0">
                          <a:solidFill>
                            <a:srgbClr val="F1F4FB"/>
                          </a:solidFill>
                          <a:latin typeface="Arial" pitchFamily="34" charset="0"/>
                          <a:ea typeface="Arial" pitchFamily="34" charset="-122"/>
                          <a:cs typeface="Arial" pitchFamily="34" charset="-120"/>
                        </a:rPr>
                        <a:t>More panels over time</a:t>
                      </a:r>
                      <a:endParaRPr lang="en-US" sz="18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800" dirty="0">
                          <a:solidFill>
                            <a:srgbClr val="B9C2D6"/>
                          </a:solidFill>
                          <a:latin typeface="Arial" pitchFamily="34" charset="0"/>
                          <a:ea typeface="Arial" pitchFamily="34" charset="-122"/>
                          <a:cs typeface="Arial" pitchFamily="34" charset="-120"/>
                        </a:rPr>
                        <a:t>Installed capacity up 24%, from 21.0 to 26.0 GW.</a:t>
                      </a:r>
                      <a:endParaRPr lang="en-US" sz="18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800" dirty="0">
                          <a:solidFill>
                            <a:srgbClr val="B9C2D6"/>
                          </a:solidFill>
                          <a:latin typeface="Arial" pitchFamily="34" charset="0"/>
                          <a:ea typeface="Arial" pitchFamily="34" charset="-122"/>
                          <a:cs typeface="Arial" pitchFamily="34" charset="-120"/>
                        </a:rPr>
                        <a:t>Scale errors by installed capacity so months compare fairly.</a:t>
                      </a:r>
                      <a:endParaRPr lang="en-US" sz="18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r>
            </a:tbl>
          </a:graphicData>
        </a:graphic>
      </p:graphicFrame>
      <p:sp>
        <p:nvSpPr>
          <p:cNvPr id="6" name="Text 2"/>
          <p:cNvSpPr txBox="1"/>
          <p:nvPr/>
        </p:nvSpPr>
        <p:spPr>
          <a:xfrm>
            <a:off x="731520" y="6355080"/>
            <a:ext cx="9692640" cy="320040"/>
          </a:xfrm>
          <a:prstGeom prst="rect">
            <a:avLst/>
          </a:prstGeom>
          <a:noFill/>
          <a:ln/>
        </p:spPr>
        <p:txBody>
          <a:bodyPr wrap="square" lIns="0" tIns="0" rIns="0" bIns="0" rtlCol="0" anchor="ctr"/>
          <a:lstStyle/>
          <a:p>
            <a:pPr indent="0" marL="0">
              <a:buNone/>
            </a:pPr>
            <a:r>
              <a:rPr lang="en-US" sz="1100" dirty="0">
                <a:solidFill>
                  <a:srgbClr val="8893AB"/>
                </a:solidFill>
                <a:latin typeface="Arial" pitchFamily="34" charset="0"/>
                <a:ea typeface="Arial" pitchFamily="34" charset="-122"/>
                <a:cs typeface="Arial" pitchFamily="34" charset="-120"/>
              </a:rPr>
              <a:t>Also noted: tiny negative readings at night (about 40 MW below zero, against peaks of 17,000 MW). They are handled explicitly.</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PRIVACY AND DELIVERY RISKS</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Low privacy risk, </a:t>
            </a:r>
            <a:pPr indent="0" marL="0">
              <a:buNone/>
            </a:pPr>
            <a:r>
              <a:rPr lang="en-US" sz="3200" b="1" dirty="0">
                <a:solidFill>
                  <a:srgbClr val="FFB703"/>
                </a:solidFill>
                <a:latin typeface="Arial" pitchFamily="34" charset="0"/>
                <a:ea typeface="Arial" pitchFamily="34" charset="-122"/>
                <a:cs typeface="Arial" pitchFamily="34" charset="-120"/>
              </a:rPr>
              <a:t>three delivery risks</a:t>
            </a:r>
            <a:endParaRPr lang="en-US" sz="3200" dirty="0"/>
          </a:p>
        </p:txBody>
      </p:sp>
      <p:sp>
        <p:nvSpPr>
          <p:cNvPr id="5" name="Shape 2"/>
          <p:cNvSpPr/>
          <p:nvPr/>
        </p:nvSpPr>
        <p:spPr>
          <a:xfrm>
            <a:off x="731520" y="1691640"/>
            <a:ext cx="3383280" cy="4297680"/>
          </a:xfrm>
          <a:prstGeom prst="roundRect">
            <a:avLst>
              <a:gd name="adj" fmla="val 3243"/>
            </a:avLst>
          </a:prstGeom>
          <a:solidFill>
            <a:srgbClr val="161E36"/>
          </a:solidFill>
          <a:ln w="12700">
            <a:solidFill>
              <a:srgbClr val="2A3350"/>
            </a:solidFill>
            <a:prstDash val="solid"/>
          </a:ln>
        </p:spPr>
      </p:sp>
      <p:sp>
        <p:nvSpPr>
          <p:cNvPr id="6" name="Text 3"/>
          <p:cNvSpPr txBox="1"/>
          <p:nvPr/>
        </p:nvSpPr>
        <p:spPr>
          <a:xfrm>
            <a:off x="960120" y="1828800"/>
            <a:ext cx="2926080" cy="4023360"/>
          </a:xfrm>
          <a:prstGeom prst="rect">
            <a:avLst/>
          </a:prstGeom>
          <a:noFill/>
          <a:ln/>
        </p:spPr>
        <p:txBody>
          <a:bodyPr wrap="square" lIns="0" tIns="0" rIns="0" bIns="0" rtlCol="0" anchor="t"/>
          <a:lstStyle/>
          <a:p>
            <a:pPr indent="0" marL="0">
              <a:buNone/>
            </a:pPr>
            <a:r>
              <a:rPr lang="en-US" sz="1100" b="1" spc="200" kern="0" dirty="0">
                <a:solidFill>
                  <a:srgbClr val="3FC79A"/>
                </a:solidFill>
                <a:latin typeface="Arial" pitchFamily="34" charset="0"/>
                <a:ea typeface="Arial" pitchFamily="34" charset="-122"/>
                <a:cs typeface="Arial" pitchFamily="34" charset="-120"/>
              </a:rPr>
              <a:t>PRIVACY: LOW</a:t>
            </a:r>
            <a:endParaRPr lang="en-US" sz="1100" dirty="0"/>
          </a:p>
          <a:p>
            <a:pPr indent="0" marL="0">
              <a:spcBef>
                <a:spcPts val="400"/>
              </a:spcBef>
              <a:buNone/>
            </a:pPr>
            <a:r>
              <a:rPr lang="en-US" sz="2200" b="1" dirty="0">
                <a:solidFill>
                  <a:srgbClr val="F1F4FB"/>
                </a:solidFill>
                <a:latin typeface="Arial" pitchFamily="34" charset="0"/>
                <a:ea typeface="Arial" pitchFamily="34" charset="-122"/>
                <a:cs typeface="Arial" pitchFamily="34" charset="-120"/>
              </a:rPr>
              <a:t>Public, system-wide data</a:t>
            </a:r>
            <a:endParaRPr lang="en-US" sz="1100" dirty="0"/>
          </a:p>
          <a:p>
            <a:pPr indent="0" marL="0">
              <a:spcBef>
                <a:spcPts val="600"/>
              </a:spcBef>
              <a:buNone/>
            </a:pPr>
            <a:r>
              <a:rPr lang="en-US" sz="1600" dirty="0">
                <a:solidFill>
                  <a:srgbClr val="B9C2D6"/>
                </a:solidFill>
                <a:latin typeface="Arial" pitchFamily="34" charset="0"/>
                <a:ea typeface="Arial" pitchFamily="34" charset="-122"/>
                <a:cs typeface="Arial" pitchFamily="34" charset="-120"/>
              </a:rPr>
              <a:t>No customers, households or personal information. The capacity file names power plants and companies, which are public records.</a:t>
            </a:r>
            <a:endParaRPr lang="en-US" sz="1100" dirty="0"/>
          </a:p>
          <a:p>
            <a:pPr indent="0" marL="0">
              <a:spcBef>
                <a:spcPts val="800"/>
              </a:spcBef>
              <a:buNone/>
            </a:pPr>
            <a:r>
              <a:rPr lang="en-US" sz="1400" dirty="0">
                <a:solidFill>
                  <a:srgbClr val="8893AB"/>
                </a:solidFill>
                <a:latin typeface="Arial" pitchFamily="34" charset="0"/>
                <a:ea typeface="Arial" pitchFamily="34" charset="-122"/>
                <a:cs typeface="Arial" pitchFamily="34" charset="-120"/>
              </a:rPr>
              <a:t>Open-Meteo requires credit (CC BY 4.0) and its free tier is non-commercial. EIA and CAISO data are public, and we cite them.</a:t>
            </a:r>
            <a:endParaRPr lang="en-US" sz="1100" dirty="0"/>
          </a:p>
        </p:txBody>
      </p:sp>
      <p:sp>
        <p:nvSpPr>
          <p:cNvPr id="7" name="Shape 4"/>
          <p:cNvSpPr/>
          <p:nvPr/>
        </p:nvSpPr>
        <p:spPr>
          <a:xfrm>
            <a:off x="4402836" y="1691640"/>
            <a:ext cx="3383280" cy="4297680"/>
          </a:xfrm>
          <a:prstGeom prst="roundRect">
            <a:avLst>
              <a:gd name="adj" fmla="val 3243"/>
            </a:avLst>
          </a:prstGeom>
          <a:solidFill>
            <a:srgbClr val="161E36"/>
          </a:solidFill>
          <a:ln w="12700">
            <a:solidFill>
              <a:srgbClr val="2A3350"/>
            </a:solidFill>
            <a:prstDash val="solid"/>
          </a:ln>
        </p:spPr>
      </p:sp>
      <p:sp>
        <p:nvSpPr>
          <p:cNvPr id="8" name="Text 5"/>
          <p:cNvSpPr txBox="1"/>
          <p:nvPr/>
        </p:nvSpPr>
        <p:spPr>
          <a:xfrm>
            <a:off x="4631436" y="1828800"/>
            <a:ext cx="2926080" cy="402336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DELIVERY RISK 1</a:t>
            </a:r>
            <a:endParaRPr lang="en-US" sz="1100" dirty="0"/>
          </a:p>
          <a:p>
            <a:pPr indent="0" marL="0">
              <a:spcBef>
                <a:spcPts val="400"/>
              </a:spcBef>
              <a:buNone/>
            </a:pPr>
            <a:r>
              <a:rPr lang="en-US" sz="2200" b="1" dirty="0">
                <a:solidFill>
                  <a:srgbClr val="F1F4FB"/>
                </a:solidFill>
                <a:latin typeface="Arial" pitchFamily="34" charset="0"/>
                <a:ea typeface="Arial" pitchFamily="34" charset="-122"/>
                <a:cs typeface="Arial" pitchFamily="34" charset="-120"/>
              </a:rPr>
              <a:t>Timing at 10 a.m.</a:t>
            </a:r>
            <a:endParaRPr lang="en-US" sz="1100" dirty="0"/>
          </a:p>
          <a:p>
            <a:pPr indent="0" marL="0">
              <a:spcBef>
                <a:spcPts val="600"/>
              </a:spcBef>
              <a:buNone/>
            </a:pPr>
            <a:r>
              <a:rPr lang="en-US" sz="1600" dirty="0">
                <a:solidFill>
                  <a:srgbClr val="B9C2D6"/>
                </a:solidFill>
                <a:latin typeface="Arial" pitchFamily="34" charset="0"/>
                <a:ea typeface="Arial" pitchFamily="34" charset="-122"/>
                <a:cs typeface="Arial" pitchFamily="34" charset="-120"/>
              </a:rPr>
              <a:t>A forecast is only useful if its inputs exist by the bid close. A late weather feed would break it.</a:t>
            </a:r>
            <a:endParaRPr lang="en-US" sz="1100" dirty="0"/>
          </a:p>
          <a:p>
            <a:pPr indent="0" marL="0">
              <a:spcBef>
                <a:spcPts val="800"/>
              </a:spcBef>
              <a:buNone/>
            </a:pPr>
            <a:r>
              <a:rPr lang="en-US" sz="1400" dirty="0">
                <a:solidFill>
                  <a:srgbClr val="8893AB"/>
                </a:solidFill>
                <a:latin typeface="Arial" pitchFamily="34" charset="0"/>
                <a:ea typeface="Arial" pitchFamily="34" charset="-122"/>
                <a:cs typeface="Arial" pitchFamily="34" charset="-120"/>
              </a:rPr>
              <a:t>We use the two-day-ahead forecast and check the one-day version only as a comparison.</a:t>
            </a:r>
            <a:endParaRPr lang="en-US" sz="1100" dirty="0"/>
          </a:p>
        </p:txBody>
      </p:sp>
      <p:sp>
        <p:nvSpPr>
          <p:cNvPr id="9" name="Shape 6"/>
          <p:cNvSpPr/>
          <p:nvPr/>
        </p:nvSpPr>
        <p:spPr>
          <a:xfrm>
            <a:off x="8074152" y="1691640"/>
            <a:ext cx="3383280" cy="4297680"/>
          </a:xfrm>
          <a:prstGeom prst="roundRect">
            <a:avLst>
              <a:gd name="adj" fmla="val 3243"/>
            </a:avLst>
          </a:prstGeom>
          <a:solidFill>
            <a:srgbClr val="161E36"/>
          </a:solidFill>
          <a:ln w="12700">
            <a:solidFill>
              <a:srgbClr val="2A3350"/>
            </a:solidFill>
            <a:prstDash val="solid"/>
          </a:ln>
        </p:spPr>
      </p:sp>
      <p:sp>
        <p:nvSpPr>
          <p:cNvPr id="10" name="Text 7"/>
          <p:cNvSpPr txBox="1"/>
          <p:nvPr/>
        </p:nvSpPr>
        <p:spPr>
          <a:xfrm>
            <a:off x="8302752" y="1828800"/>
            <a:ext cx="2926080" cy="402336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DELIVERY RISK 2 AND 3</a:t>
            </a:r>
            <a:endParaRPr lang="en-US" sz="1100" dirty="0"/>
          </a:p>
          <a:p>
            <a:pPr indent="0" marL="0">
              <a:spcBef>
                <a:spcPts val="400"/>
              </a:spcBef>
              <a:buNone/>
            </a:pPr>
            <a:r>
              <a:rPr lang="en-US" sz="2200" b="1" dirty="0">
                <a:solidFill>
                  <a:srgbClr val="F1F4FB"/>
                </a:solidFill>
                <a:latin typeface="Arial" pitchFamily="34" charset="0"/>
                <a:ea typeface="Arial" pitchFamily="34" charset="-122"/>
                <a:cs typeface="Arial" pitchFamily="34" charset="-120"/>
              </a:rPr>
              <a:t>Limits and reproducibility</a:t>
            </a:r>
            <a:endParaRPr lang="en-US" sz="1100" dirty="0"/>
          </a:p>
          <a:p>
            <a:pPr indent="0" marL="0">
              <a:spcBef>
                <a:spcPts val="600"/>
              </a:spcBef>
              <a:buNone/>
            </a:pPr>
            <a:r>
              <a:rPr lang="en-US" sz="1600" dirty="0">
                <a:solidFill>
                  <a:srgbClr val="B9C2D6"/>
                </a:solidFill>
                <a:latin typeface="Arial" pitchFamily="34" charset="0"/>
                <a:ea typeface="Arial" pitchFamily="34" charset="-122"/>
                <a:cs typeface="Arial" pitchFamily="34" charset="-120"/>
              </a:rPr>
              <a:t>The free weather service caps daily calls. Our full pull used about 6,500 of the 10,000 allowed in a day.</a:t>
            </a:r>
            <a:endParaRPr lang="en-US" sz="1100" dirty="0"/>
          </a:p>
          <a:p>
            <a:pPr indent="0" marL="0">
              <a:spcBef>
                <a:spcPts val="800"/>
              </a:spcBef>
              <a:buNone/>
            </a:pPr>
            <a:r>
              <a:rPr lang="en-US" sz="1400" dirty="0">
                <a:solidFill>
                  <a:srgbClr val="8893AB"/>
                </a:solidFill>
                <a:latin typeface="Arial" pitchFamily="34" charset="0"/>
                <a:ea typeface="Arial" pitchFamily="34" charset="-122"/>
                <a:cs typeface="Arial" pitchFamily="34" charset="-120"/>
              </a:rPr>
              <a:t>Raw files are saved in the repository with a data dictionary, so nobody needs to re-pull.</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THE BAR TO BEAT</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How good is CAISO's own forecast </a:t>
            </a:r>
            <a:pPr indent="0" marL="0">
              <a:buNone/>
            </a:pPr>
            <a:r>
              <a:rPr lang="en-US" sz="3200" b="1" dirty="0">
                <a:solidFill>
                  <a:srgbClr val="FFB703"/>
                </a:solidFill>
                <a:latin typeface="Arial" pitchFamily="34" charset="0"/>
                <a:ea typeface="Arial" pitchFamily="34" charset="-122"/>
                <a:cs typeface="Arial" pitchFamily="34" charset="-120"/>
              </a:rPr>
              <a:t>on our data?</a:t>
            </a:r>
            <a:endParaRPr lang="en-US" sz="3200" dirty="0"/>
          </a:p>
        </p:txBody>
      </p:sp>
      <p:sp>
        <p:nvSpPr>
          <p:cNvPr id="5" name="Shape 2"/>
          <p:cNvSpPr/>
          <p:nvPr/>
        </p:nvSpPr>
        <p:spPr>
          <a:xfrm>
            <a:off x="731520" y="1600200"/>
            <a:ext cx="3383280" cy="2743200"/>
          </a:xfrm>
          <a:prstGeom prst="roundRect">
            <a:avLst>
              <a:gd name="adj" fmla="val 4000"/>
            </a:avLst>
          </a:prstGeom>
          <a:solidFill>
            <a:srgbClr val="161E36"/>
          </a:solidFill>
          <a:ln w="12700">
            <a:solidFill>
              <a:srgbClr val="2A3350"/>
            </a:solidFill>
            <a:prstDash val="solid"/>
          </a:ln>
        </p:spPr>
      </p:sp>
      <p:sp>
        <p:nvSpPr>
          <p:cNvPr id="6" name="Text 3"/>
          <p:cNvSpPr txBox="1"/>
          <p:nvPr/>
        </p:nvSpPr>
        <p:spPr>
          <a:xfrm>
            <a:off x="960120" y="1764792"/>
            <a:ext cx="2926080" cy="27432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SAME AS YESTERDAY</a:t>
            </a:r>
            <a:endParaRPr lang="en-US" sz="1100" dirty="0"/>
          </a:p>
        </p:txBody>
      </p:sp>
      <p:sp>
        <p:nvSpPr>
          <p:cNvPr id="7" name="Text 4"/>
          <p:cNvSpPr txBox="1"/>
          <p:nvPr/>
        </p:nvSpPr>
        <p:spPr>
          <a:xfrm>
            <a:off x="960120" y="2103120"/>
            <a:ext cx="2926080" cy="914400"/>
          </a:xfrm>
          <a:prstGeom prst="rect">
            <a:avLst/>
          </a:prstGeom>
          <a:noFill/>
          <a:ln/>
        </p:spPr>
        <p:txBody>
          <a:bodyPr wrap="square" lIns="0" tIns="0" rIns="0" bIns="0" rtlCol="0" anchor="ctr">
            <a:normAutofit/>
          </a:bodyPr>
          <a:lstStyle/>
          <a:p>
            <a:pPr indent="0" marL="0">
              <a:buNone/>
            </a:pPr>
            <a:r>
              <a:rPr lang="en-US" sz="5400" b="1" dirty="0">
                <a:solidFill>
                  <a:srgbClr val="FFB703"/>
                </a:solidFill>
                <a:latin typeface="Arial" pitchFamily="34" charset="0"/>
                <a:ea typeface="Arial" pitchFamily="34" charset="-122"/>
                <a:cs typeface="Arial" pitchFamily="34" charset="-120"/>
              </a:rPr>
              <a:t>4.9%</a:t>
            </a:r>
            <a:endParaRPr lang="en-US" sz="5400" dirty="0"/>
          </a:p>
        </p:txBody>
      </p:sp>
      <p:sp>
        <p:nvSpPr>
          <p:cNvPr id="8" name="Text 5"/>
          <p:cNvSpPr txBox="1"/>
          <p:nvPr/>
        </p:nvSpPr>
        <p:spPr>
          <a:xfrm>
            <a:off x="960120" y="3108960"/>
            <a:ext cx="2926080" cy="1097280"/>
          </a:xfrm>
          <a:prstGeom prst="rect">
            <a:avLst/>
          </a:prstGeom>
          <a:noFill/>
          <a:ln/>
        </p:spPr>
        <p:txBody>
          <a:bodyPr wrap="square" lIns="0" tIns="0" rIns="0" bIns="0" rtlCol="0" anchor="t"/>
          <a:lstStyle/>
          <a:p>
            <a:pPr indent="0" marL="0">
              <a:buNone/>
            </a:pPr>
            <a:r>
              <a:rPr lang="en-US" sz="1500" dirty="0">
                <a:solidFill>
                  <a:srgbClr val="B9C2D6"/>
                </a:solidFill>
                <a:latin typeface="Arial" pitchFamily="34" charset="0"/>
                <a:ea typeface="Arial" pitchFamily="34" charset="-122"/>
                <a:cs typeface="Arial" pitchFamily="34" charset="-120"/>
              </a:rPr>
              <a:t>Average miss as a share of installed capacity. The floor to beat. It is 6.1% if limited to what is known at 10 a.m.</a:t>
            </a:r>
            <a:endParaRPr lang="en-US" sz="1500" dirty="0"/>
          </a:p>
        </p:txBody>
      </p:sp>
      <p:sp>
        <p:nvSpPr>
          <p:cNvPr id="9" name="Shape 6"/>
          <p:cNvSpPr/>
          <p:nvPr/>
        </p:nvSpPr>
        <p:spPr>
          <a:xfrm>
            <a:off x="4402836" y="1600200"/>
            <a:ext cx="3383280" cy="2743200"/>
          </a:xfrm>
          <a:prstGeom prst="roundRect">
            <a:avLst>
              <a:gd name="adj" fmla="val 4000"/>
            </a:avLst>
          </a:prstGeom>
          <a:solidFill>
            <a:srgbClr val="161E36"/>
          </a:solidFill>
          <a:ln w="12700">
            <a:solidFill>
              <a:srgbClr val="2A3350"/>
            </a:solidFill>
            <a:prstDash val="solid"/>
          </a:ln>
        </p:spPr>
      </p:sp>
      <p:sp>
        <p:nvSpPr>
          <p:cNvPr id="10" name="Text 7"/>
          <p:cNvSpPr txBox="1"/>
          <p:nvPr/>
        </p:nvSpPr>
        <p:spPr>
          <a:xfrm>
            <a:off x="4631436" y="1764792"/>
            <a:ext cx="2926080" cy="27432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CAISO, AS PUBLISHED</a:t>
            </a:r>
            <a:endParaRPr lang="en-US" sz="1100" dirty="0"/>
          </a:p>
        </p:txBody>
      </p:sp>
      <p:sp>
        <p:nvSpPr>
          <p:cNvPr id="11" name="Text 8"/>
          <p:cNvSpPr txBox="1"/>
          <p:nvPr/>
        </p:nvSpPr>
        <p:spPr>
          <a:xfrm>
            <a:off x="4631436" y="2103120"/>
            <a:ext cx="2926080" cy="914400"/>
          </a:xfrm>
          <a:prstGeom prst="rect">
            <a:avLst/>
          </a:prstGeom>
          <a:noFill/>
          <a:ln/>
        </p:spPr>
        <p:txBody>
          <a:bodyPr wrap="square" lIns="0" tIns="0" rIns="0" bIns="0" rtlCol="0" anchor="ctr">
            <a:normAutofit/>
          </a:bodyPr>
          <a:lstStyle/>
          <a:p>
            <a:pPr indent="0" marL="0">
              <a:buNone/>
            </a:pPr>
            <a:r>
              <a:rPr lang="en-US" sz="5400" b="1" dirty="0">
                <a:solidFill>
                  <a:srgbClr val="FFB703"/>
                </a:solidFill>
                <a:latin typeface="Arial" pitchFamily="34" charset="0"/>
                <a:ea typeface="Arial" pitchFamily="34" charset="-122"/>
                <a:cs typeface="Arial" pitchFamily="34" charset="-120"/>
              </a:rPr>
              <a:t>5.7%</a:t>
            </a:r>
            <a:endParaRPr lang="en-US" sz="5400" dirty="0"/>
          </a:p>
        </p:txBody>
      </p:sp>
      <p:sp>
        <p:nvSpPr>
          <p:cNvPr id="12" name="Text 9"/>
          <p:cNvSpPr txBox="1"/>
          <p:nvPr/>
        </p:nvSpPr>
        <p:spPr>
          <a:xfrm>
            <a:off x="4631436" y="3108960"/>
            <a:ext cx="2926080" cy="1097280"/>
          </a:xfrm>
          <a:prstGeom prst="rect">
            <a:avLst/>
          </a:prstGeom>
          <a:noFill/>
          <a:ln/>
        </p:spPr>
        <p:txBody>
          <a:bodyPr wrap="square" lIns="0" tIns="0" rIns="0" bIns="0" rtlCol="0" anchor="t"/>
          <a:lstStyle/>
          <a:p>
            <a:pPr indent="0" marL="0">
              <a:buNone/>
            </a:pPr>
            <a:r>
              <a:rPr lang="en-US" sz="1500" dirty="0">
                <a:solidFill>
                  <a:srgbClr val="B9C2D6"/>
                </a:solidFill>
                <a:latin typeface="Arial" pitchFamily="34" charset="0"/>
                <a:ea typeface="Arial" pitchFamily="34" charset="-122"/>
                <a:cs typeface="Arial" pitchFamily="34" charset="-120"/>
              </a:rPr>
              <a:t>Runs about 830 MW too high on average, because it plans for solar that is then turned down.</a:t>
            </a:r>
            <a:endParaRPr lang="en-US" sz="1500" dirty="0"/>
          </a:p>
        </p:txBody>
      </p:sp>
      <p:sp>
        <p:nvSpPr>
          <p:cNvPr id="13" name="Shape 10"/>
          <p:cNvSpPr/>
          <p:nvPr/>
        </p:nvSpPr>
        <p:spPr>
          <a:xfrm>
            <a:off x="8074152" y="1600200"/>
            <a:ext cx="3383280" cy="2743200"/>
          </a:xfrm>
          <a:prstGeom prst="roundRect">
            <a:avLst>
              <a:gd name="adj" fmla="val 4000"/>
            </a:avLst>
          </a:prstGeom>
          <a:solidFill>
            <a:srgbClr val="161E36"/>
          </a:solidFill>
          <a:ln w="12700">
            <a:solidFill>
              <a:srgbClr val="2A3350"/>
            </a:solidFill>
            <a:prstDash val="solid"/>
          </a:ln>
        </p:spPr>
      </p:sp>
      <p:sp>
        <p:nvSpPr>
          <p:cNvPr id="14" name="Text 11"/>
          <p:cNvSpPr txBox="1"/>
          <p:nvPr/>
        </p:nvSpPr>
        <p:spPr>
          <a:xfrm>
            <a:off x="8302752" y="1764792"/>
            <a:ext cx="2926080" cy="27432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CAISO, ADJUSTED</a:t>
            </a:r>
            <a:endParaRPr lang="en-US" sz="1100" dirty="0"/>
          </a:p>
        </p:txBody>
      </p:sp>
      <p:sp>
        <p:nvSpPr>
          <p:cNvPr id="15" name="Text 12"/>
          <p:cNvSpPr txBox="1"/>
          <p:nvPr/>
        </p:nvSpPr>
        <p:spPr>
          <a:xfrm>
            <a:off x="8302752" y="2103120"/>
            <a:ext cx="2926080" cy="914400"/>
          </a:xfrm>
          <a:prstGeom prst="rect">
            <a:avLst/>
          </a:prstGeom>
          <a:noFill/>
          <a:ln/>
        </p:spPr>
        <p:txBody>
          <a:bodyPr wrap="square" lIns="0" tIns="0" rIns="0" bIns="0" rtlCol="0" anchor="ctr">
            <a:normAutofit/>
          </a:bodyPr>
          <a:lstStyle/>
          <a:p>
            <a:pPr indent="0" marL="0">
              <a:buNone/>
            </a:pPr>
            <a:r>
              <a:rPr lang="en-US" sz="5400" b="1" dirty="0">
                <a:solidFill>
                  <a:srgbClr val="FFB703"/>
                </a:solidFill>
                <a:latin typeface="Arial" pitchFamily="34" charset="0"/>
                <a:ea typeface="Arial" pitchFamily="34" charset="-122"/>
                <a:cs typeface="Arial" pitchFamily="34" charset="-120"/>
              </a:rPr>
              <a:t>3.7%</a:t>
            </a:r>
            <a:endParaRPr lang="en-US" sz="5400" dirty="0"/>
          </a:p>
        </p:txBody>
      </p:sp>
      <p:sp>
        <p:nvSpPr>
          <p:cNvPr id="16" name="Text 13"/>
          <p:cNvSpPr txBox="1"/>
          <p:nvPr/>
        </p:nvSpPr>
        <p:spPr>
          <a:xfrm>
            <a:off x="8302752" y="3108960"/>
            <a:ext cx="2926080" cy="1097280"/>
          </a:xfrm>
          <a:prstGeom prst="rect">
            <a:avLst/>
          </a:prstGeom>
          <a:noFill/>
          <a:ln/>
        </p:spPr>
        <p:txBody>
          <a:bodyPr wrap="square" lIns="0" tIns="0" rIns="0" bIns="0" rtlCol="0" anchor="t"/>
          <a:lstStyle/>
          <a:p>
            <a:pPr indent="0" marL="0">
              <a:buNone/>
            </a:pPr>
            <a:r>
              <a:rPr lang="en-US" sz="1500" dirty="0">
                <a:solidFill>
                  <a:srgbClr val="B9C2D6"/>
                </a:solidFill>
                <a:latin typeface="Arial" pitchFamily="34" charset="0"/>
                <a:ea typeface="Arial" pitchFamily="34" charset="-122"/>
                <a:cs typeface="Arial" pitchFamily="34" charset="-120"/>
              </a:rPr>
              <a:t>With turned-down solar added back. The fairest picture of CAISO's skill. The gap to actual output almost disappears.</a:t>
            </a:r>
            <a:endParaRPr lang="en-US" sz="1500" dirty="0"/>
          </a:p>
        </p:txBody>
      </p:sp>
      <p:sp>
        <p:nvSpPr>
          <p:cNvPr id="17" name="Shape 14"/>
          <p:cNvSpPr/>
          <p:nvPr/>
        </p:nvSpPr>
        <p:spPr>
          <a:xfrm>
            <a:off x="731520" y="4526280"/>
            <a:ext cx="10725912" cy="1417320"/>
          </a:xfrm>
          <a:prstGeom prst="roundRect">
            <a:avLst>
              <a:gd name="adj" fmla="val 7742"/>
            </a:avLst>
          </a:prstGeom>
          <a:solidFill>
            <a:srgbClr val="2A2410"/>
          </a:solidFill>
          <a:ln w="19050">
            <a:solidFill>
              <a:srgbClr val="FFB703"/>
            </a:solidFill>
            <a:prstDash val="solid"/>
          </a:ln>
        </p:spPr>
      </p:sp>
      <p:sp>
        <p:nvSpPr>
          <p:cNvPr id="18" name="Text 15"/>
          <p:cNvSpPr txBox="1"/>
          <p:nvPr/>
        </p:nvSpPr>
        <p:spPr>
          <a:xfrm>
            <a:off x="960120" y="4663440"/>
            <a:ext cx="10268712" cy="114300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OUR TARGET: NO MORE THAN 1.25 TIMES CAISO'S MISS</a:t>
            </a:r>
            <a:endParaRPr lang="en-US" sz="1100" dirty="0"/>
          </a:p>
          <a:p>
            <a:pPr indent="0" marL="0">
              <a:spcBef>
                <a:spcPts val="400"/>
              </a:spcBef>
              <a:buNone/>
            </a:pPr>
            <a:r>
              <a:rPr lang="en-US" sz="2200" b="1" dirty="0">
                <a:solidFill>
                  <a:srgbClr val="F1F4FB"/>
                </a:solidFill>
                <a:latin typeface="Arial" pitchFamily="34" charset="0"/>
                <a:ea typeface="Arial" pitchFamily="34" charset="-122"/>
                <a:cs typeface="Arial" pitchFamily="34" charset="-120"/>
              </a:rPr>
              <a:t>That means 4.6% to about 7%, depending on which CAISO number counts</a:t>
            </a:r>
            <a:endParaRPr lang="en-US" sz="1100" dirty="0"/>
          </a:p>
          <a:p>
            <a:pPr indent="0" marL="0">
              <a:spcBef>
                <a:spcPts val="600"/>
              </a:spcBef>
              <a:buNone/>
            </a:pPr>
            <a:r>
              <a:rPr lang="en-US" sz="1500" dirty="0">
                <a:solidFill>
                  <a:srgbClr val="B9C2D6"/>
                </a:solidFill>
                <a:latin typeface="Arial" pitchFamily="34" charset="0"/>
                <a:ea typeface="Arial" pitchFamily="34" charset="-122"/>
                <a:cs typeface="Arial" pitchFamily="34" charset="-120"/>
              </a:rPr>
              <a:t>We will fix this before modeling and show both numbers.</a:t>
            </a:r>
            <a:endParaRPr lang="en-US" sz="1100" dirty="0"/>
          </a:p>
        </p:txBody>
      </p:sp>
      <p:sp>
        <p:nvSpPr>
          <p:cNvPr id="19" name="Text 16"/>
          <p:cNvSpPr txBox="1"/>
          <p:nvPr/>
        </p:nvSpPr>
        <p:spPr>
          <a:xfrm>
            <a:off x="731520" y="6355080"/>
            <a:ext cx="9692640" cy="320040"/>
          </a:xfrm>
          <a:prstGeom prst="rect">
            <a:avLst/>
          </a:prstGeom>
          <a:noFill/>
          <a:ln/>
        </p:spPr>
        <p:txBody>
          <a:bodyPr wrap="square" lIns="0" tIns="0" rIns="0" bIns="0" rtlCol="0" anchor="ctr"/>
          <a:lstStyle/>
          <a:p>
            <a:pPr indent="0" marL="0">
              <a:buNone/>
            </a:pPr>
            <a:r>
              <a:rPr lang="en-US" sz="1100" dirty="0">
                <a:solidFill>
                  <a:srgbClr val="8893AB"/>
                </a:solidFill>
                <a:latin typeface="Arial" pitchFamily="34" charset="0"/>
                <a:ea typeface="Arial" pitchFamily="34" charset="-122"/>
                <a:cs typeface="Arial" pitchFamily="34" charset="-120"/>
              </a:rPr>
              <a:t>Scored on 9,144 daylight hours in the training and validation days (March 2024 to April 9, 2026). The test days stay locked.</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DATA PREPARATION</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From five sources to </a:t>
            </a:r>
            <a:pPr indent="0" marL="0">
              <a:buNone/>
            </a:pPr>
            <a:r>
              <a:rPr lang="en-US" sz="3200" b="1" dirty="0">
                <a:solidFill>
                  <a:srgbClr val="FFB703"/>
                </a:solidFill>
                <a:latin typeface="Arial" pitchFamily="34" charset="0"/>
                <a:ea typeface="Arial" pitchFamily="34" charset="-122"/>
                <a:cs typeface="Arial" pitchFamily="34" charset="-120"/>
              </a:rPr>
              <a:t>one table</a:t>
            </a:r>
            <a:endParaRPr lang="en-US" sz="3200" dirty="0"/>
          </a:p>
        </p:txBody>
      </p:sp>
      <p:sp>
        <p:nvSpPr>
          <p:cNvPr id="5" name="Shape 2"/>
          <p:cNvSpPr/>
          <p:nvPr/>
        </p:nvSpPr>
        <p:spPr>
          <a:xfrm>
            <a:off x="731520" y="2103120"/>
            <a:ext cx="2011680" cy="3108960"/>
          </a:xfrm>
          <a:prstGeom prst="roundRect">
            <a:avLst>
              <a:gd name="adj" fmla="val 5455"/>
            </a:avLst>
          </a:prstGeom>
          <a:solidFill>
            <a:srgbClr val="161E36"/>
          </a:solidFill>
          <a:ln w="12700">
            <a:solidFill>
              <a:srgbClr val="2A3350"/>
            </a:solidFill>
            <a:prstDash val="solid"/>
          </a:ln>
        </p:spPr>
      </p:sp>
      <p:sp>
        <p:nvSpPr>
          <p:cNvPr id="6" name="Text 3"/>
          <p:cNvSpPr txBox="1"/>
          <p:nvPr/>
        </p:nvSpPr>
        <p:spPr>
          <a:xfrm>
            <a:off x="932688" y="2304288"/>
            <a:ext cx="457200" cy="457200"/>
          </a:xfrm>
          <a:prstGeom prst="ellipse">
            <a:avLst/>
          </a:prstGeom>
          <a:solidFill>
            <a:srgbClr val="0B1226"/>
          </a:solidFill>
          <a:ln w="25400">
            <a:solidFill>
              <a:srgbClr val="FFB703"/>
            </a:solidFill>
          </a:ln>
        </p:spPr>
        <p:txBody>
          <a:bodyPr wrap="square" lIns="0" tIns="0" rIns="0" bIns="0" rtlCol="0" anchor="ctr"/>
          <a:lstStyle/>
          <a:p>
            <a:pPr algn="ctr" indent="0" marL="0">
              <a:buNone/>
            </a:pPr>
            <a:r>
              <a:rPr lang="en-US" sz="1600" b="1" dirty="0">
                <a:solidFill>
                  <a:srgbClr val="FFB703"/>
                </a:solidFill>
                <a:latin typeface="Arial" pitchFamily="34" charset="0"/>
                <a:ea typeface="Arial" pitchFamily="34" charset="-122"/>
                <a:cs typeface="Arial" pitchFamily="34" charset="-120"/>
              </a:rPr>
              <a:t>1</a:t>
            </a:r>
            <a:endParaRPr lang="en-US" sz="1600" dirty="0"/>
          </a:p>
        </p:txBody>
      </p:sp>
      <p:sp>
        <p:nvSpPr>
          <p:cNvPr id="7" name="Text 4"/>
          <p:cNvSpPr txBox="1"/>
          <p:nvPr/>
        </p:nvSpPr>
        <p:spPr>
          <a:xfrm>
            <a:off x="932688" y="2971800"/>
            <a:ext cx="1609344" cy="2103120"/>
          </a:xfrm>
          <a:prstGeom prst="rect">
            <a:avLst/>
          </a:prstGeom>
          <a:noFill/>
          <a:ln/>
        </p:spPr>
        <p:txBody>
          <a:bodyPr wrap="square" lIns="0" tIns="0" rIns="0" bIns="0" rtlCol="0" anchor="t"/>
          <a:lstStyle/>
          <a:p>
            <a:pPr indent="0" marL="0">
              <a:buNone/>
            </a:pPr>
            <a:r>
              <a:rPr lang="en-US" sz="2200" b="1" dirty="0">
                <a:solidFill>
                  <a:srgbClr val="F1F4FB"/>
                </a:solidFill>
                <a:latin typeface="Arial" pitchFamily="34" charset="0"/>
                <a:ea typeface="Arial" pitchFamily="34" charset="-122"/>
                <a:cs typeface="Arial" pitchFamily="34" charset="-120"/>
              </a:rPr>
              <a:t>Pull</a:t>
            </a:r>
            <a:endParaRPr lang="en-US" sz="2200" dirty="0"/>
          </a:p>
          <a:p>
            <a:pPr indent="0" marL="0">
              <a:spcBef>
                <a:spcPts val="800"/>
              </a:spcBef>
              <a:buNone/>
            </a:pPr>
            <a:r>
              <a:rPr lang="en-US" sz="1500" dirty="0">
                <a:solidFill>
                  <a:srgbClr val="B9C2D6"/>
                </a:solidFill>
                <a:latin typeface="Arial" pitchFamily="34" charset="0"/>
                <a:ea typeface="Arial" pitchFamily="34" charset="-122"/>
                <a:cs typeface="Arial" pitchFamily="34" charset="-120"/>
              </a:rPr>
              <a:t>Download each source for the same dates.</a:t>
            </a:r>
            <a:endParaRPr lang="en-US" sz="2200" dirty="0"/>
          </a:p>
        </p:txBody>
      </p:sp>
      <p:sp>
        <p:nvSpPr>
          <p:cNvPr id="8" name="Shape 5"/>
          <p:cNvSpPr/>
          <p:nvPr/>
        </p:nvSpPr>
        <p:spPr>
          <a:xfrm>
            <a:off x="2907792" y="2103120"/>
            <a:ext cx="2011680" cy="3108960"/>
          </a:xfrm>
          <a:prstGeom prst="roundRect">
            <a:avLst>
              <a:gd name="adj" fmla="val 5455"/>
            </a:avLst>
          </a:prstGeom>
          <a:solidFill>
            <a:srgbClr val="161E36"/>
          </a:solidFill>
          <a:ln w="12700">
            <a:solidFill>
              <a:srgbClr val="2A3350"/>
            </a:solidFill>
            <a:prstDash val="solid"/>
          </a:ln>
        </p:spPr>
      </p:sp>
      <p:sp>
        <p:nvSpPr>
          <p:cNvPr id="9" name="Text 6"/>
          <p:cNvSpPr txBox="1"/>
          <p:nvPr/>
        </p:nvSpPr>
        <p:spPr>
          <a:xfrm>
            <a:off x="3108960" y="2304288"/>
            <a:ext cx="457200" cy="457200"/>
          </a:xfrm>
          <a:prstGeom prst="ellipse">
            <a:avLst/>
          </a:prstGeom>
          <a:solidFill>
            <a:srgbClr val="0B1226"/>
          </a:solidFill>
          <a:ln w="25400">
            <a:solidFill>
              <a:srgbClr val="FFB703"/>
            </a:solidFill>
          </a:ln>
        </p:spPr>
        <p:txBody>
          <a:bodyPr wrap="square" lIns="0" tIns="0" rIns="0" bIns="0" rtlCol="0" anchor="ctr"/>
          <a:lstStyle/>
          <a:p>
            <a:pPr algn="ctr" indent="0" marL="0">
              <a:buNone/>
            </a:pPr>
            <a:r>
              <a:rPr lang="en-US" sz="1600" b="1" dirty="0">
                <a:solidFill>
                  <a:srgbClr val="FFB703"/>
                </a:solidFill>
                <a:latin typeface="Arial" pitchFamily="34" charset="0"/>
                <a:ea typeface="Arial" pitchFamily="34" charset="-122"/>
                <a:cs typeface="Arial" pitchFamily="34" charset="-120"/>
              </a:rPr>
              <a:t>2</a:t>
            </a:r>
            <a:endParaRPr lang="en-US" sz="1600" dirty="0"/>
          </a:p>
        </p:txBody>
      </p:sp>
      <p:sp>
        <p:nvSpPr>
          <p:cNvPr id="10" name="Text 7"/>
          <p:cNvSpPr txBox="1"/>
          <p:nvPr/>
        </p:nvSpPr>
        <p:spPr>
          <a:xfrm>
            <a:off x="3108960" y="2971800"/>
            <a:ext cx="1609344" cy="2103120"/>
          </a:xfrm>
          <a:prstGeom prst="rect">
            <a:avLst/>
          </a:prstGeom>
          <a:noFill/>
          <a:ln/>
        </p:spPr>
        <p:txBody>
          <a:bodyPr wrap="square" lIns="0" tIns="0" rIns="0" bIns="0" rtlCol="0" anchor="t"/>
          <a:lstStyle/>
          <a:p>
            <a:pPr indent="0" marL="0">
              <a:buNone/>
            </a:pPr>
            <a:r>
              <a:rPr lang="en-US" sz="2200" b="1" dirty="0">
                <a:solidFill>
                  <a:srgbClr val="F1F4FB"/>
                </a:solidFill>
                <a:latin typeface="Arial" pitchFamily="34" charset="0"/>
                <a:ea typeface="Arial" pitchFamily="34" charset="-122"/>
                <a:cs typeface="Arial" pitchFamily="34" charset="-120"/>
              </a:rPr>
              <a:t>Align</a:t>
            </a:r>
            <a:endParaRPr lang="en-US" sz="2200" dirty="0"/>
          </a:p>
          <a:p>
            <a:pPr indent="0" marL="0">
              <a:spcBef>
                <a:spcPts val="800"/>
              </a:spcBef>
              <a:buNone/>
            </a:pPr>
            <a:r>
              <a:rPr lang="en-US" sz="1500" dirty="0">
                <a:solidFill>
                  <a:srgbClr val="B9C2D6"/>
                </a:solidFill>
                <a:latin typeface="Arial" pitchFamily="34" charset="0"/>
                <a:ea typeface="Arial" pitchFamily="34" charset="-122"/>
                <a:cs typeface="Arial" pitchFamily="34" charset="-120"/>
              </a:rPr>
              <a:t>One clock, one row per hour.</a:t>
            </a:r>
            <a:endParaRPr lang="en-US" sz="2200" dirty="0"/>
          </a:p>
        </p:txBody>
      </p:sp>
      <p:sp>
        <p:nvSpPr>
          <p:cNvPr id="11" name="Shape 8"/>
          <p:cNvSpPr/>
          <p:nvPr/>
        </p:nvSpPr>
        <p:spPr>
          <a:xfrm>
            <a:off x="5084064" y="2103120"/>
            <a:ext cx="2011680" cy="3108960"/>
          </a:xfrm>
          <a:prstGeom prst="roundRect">
            <a:avLst>
              <a:gd name="adj" fmla="val 5455"/>
            </a:avLst>
          </a:prstGeom>
          <a:solidFill>
            <a:srgbClr val="161E36"/>
          </a:solidFill>
          <a:ln w="12700">
            <a:solidFill>
              <a:srgbClr val="2A3350"/>
            </a:solidFill>
            <a:prstDash val="solid"/>
          </a:ln>
        </p:spPr>
      </p:sp>
      <p:sp>
        <p:nvSpPr>
          <p:cNvPr id="12" name="Text 9"/>
          <p:cNvSpPr txBox="1"/>
          <p:nvPr/>
        </p:nvSpPr>
        <p:spPr>
          <a:xfrm>
            <a:off x="5285232" y="2304288"/>
            <a:ext cx="457200" cy="457200"/>
          </a:xfrm>
          <a:prstGeom prst="ellipse">
            <a:avLst/>
          </a:prstGeom>
          <a:solidFill>
            <a:srgbClr val="0B1226"/>
          </a:solidFill>
          <a:ln w="25400">
            <a:solidFill>
              <a:srgbClr val="FFB703"/>
            </a:solidFill>
          </a:ln>
        </p:spPr>
        <p:txBody>
          <a:bodyPr wrap="square" lIns="0" tIns="0" rIns="0" bIns="0" rtlCol="0" anchor="ctr"/>
          <a:lstStyle/>
          <a:p>
            <a:pPr algn="ctr" indent="0" marL="0">
              <a:buNone/>
            </a:pPr>
            <a:r>
              <a:rPr lang="en-US" sz="1600" b="1" dirty="0">
                <a:solidFill>
                  <a:srgbClr val="FFB703"/>
                </a:solidFill>
                <a:latin typeface="Arial" pitchFamily="34" charset="0"/>
                <a:ea typeface="Arial" pitchFamily="34" charset="-122"/>
                <a:cs typeface="Arial" pitchFamily="34" charset="-120"/>
              </a:rPr>
              <a:t>3</a:t>
            </a:r>
            <a:endParaRPr lang="en-US" sz="1600" dirty="0"/>
          </a:p>
        </p:txBody>
      </p:sp>
      <p:sp>
        <p:nvSpPr>
          <p:cNvPr id="13" name="Text 10"/>
          <p:cNvSpPr txBox="1"/>
          <p:nvPr/>
        </p:nvSpPr>
        <p:spPr>
          <a:xfrm>
            <a:off x="5285232" y="2971800"/>
            <a:ext cx="1609344" cy="2103120"/>
          </a:xfrm>
          <a:prstGeom prst="rect">
            <a:avLst/>
          </a:prstGeom>
          <a:noFill/>
          <a:ln/>
        </p:spPr>
        <p:txBody>
          <a:bodyPr wrap="square" lIns="0" tIns="0" rIns="0" bIns="0" rtlCol="0" anchor="t"/>
          <a:lstStyle/>
          <a:p>
            <a:pPr indent="0" marL="0">
              <a:buNone/>
            </a:pPr>
            <a:r>
              <a:rPr lang="en-US" sz="2200" b="1" dirty="0">
                <a:solidFill>
                  <a:srgbClr val="F1F4FB"/>
                </a:solidFill>
                <a:latin typeface="Arial" pitchFamily="34" charset="0"/>
                <a:ea typeface="Arial" pitchFamily="34" charset="-122"/>
                <a:cs typeface="Arial" pitchFamily="34" charset="-120"/>
              </a:rPr>
              <a:t>Clean</a:t>
            </a:r>
            <a:endParaRPr lang="en-US" sz="2200" dirty="0"/>
          </a:p>
          <a:p>
            <a:pPr indent="0" marL="0">
              <a:spcBef>
                <a:spcPts val="800"/>
              </a:spcBef>
              <a:buNone/>
            </a:pPr>
            <a:r>
              <a:rPr lang="en-US" sz="1500" dirty="0">
                <a:solidFill>
                  <a:srgbClr val="B9C2D6"/>
                </a:solidFill>
                <a:latin typeface="Arial" pitchFamily="34" charset="0"/>
                <a:ea typeface="Arial" pitchFamily="34" charset="-122"/>
                <a:cs typeface="Arial" pitchFamily="34" charset="-120"/>
              </a:rPr>
              <a:t>Handle gaps and flag curtailed hours.</a:t>
            </a:r>
            <a:endParaRPr lang="en-US" sz="2200" dirty="0"/>
          </a:p>
        </p:txBody>
      </p:sp>
      <p:sp>
        <p:nvSpPr>
          <p:cNvPr id="14" name="Shape 11"/>
          <p:cNvSpPr/>
          <p:nvPr/>
        </p:nvSpPr>
        <p:spPr>
          <a:xfrm>
            <a:off x="7260336" y="2103120"/>
            <a:ext cx="2011680" cy="3108960"/>
          </a:xfrm>
          <a:prstGeom prst="roundRect">
            <a:avLst>
              <a:gd name="adj" fmla="val 5455"/>
            </a:avLst>
          </a:prstGeom>
          <a:solidFill>
            <a:srgbClr val="161E36"/>
          </a:solidFill>
          <a:ln w="12700">
            <a:solidFill>
              <a:srgbClr val="2A3350"/>
            </a:solidFill>
            <a:prstDash val="solid"/>
          </a:ln>
        </p:spPr>
      </p:sp>
      <p:sp>
        <p:nvSpPr>
          <p:cNvPr id="15" name="Text 12"/>
          <p:cNvSpPr txBox="1"/>
          <p:nvPr/>
        </p:nvSpPr>
        <p:spPr>
          <a:xfrm>
            <a:off x="7461504" y="2304288"/>
            <a:ext cx="457200" cy="457200"/>
          </a:xfrm>
          <a:prstGeom prst="ellipse">
            <a:avLst/>
          </a:prstGeom>
          <a:solidFill>
            <a:srgbClr val="0B1226"/>
          </a:solidFill>
          <a:ln w="25400">
            <a:solidFill>
              <a:srgbClr val="FFB703"/>
            </a:solidFill>
          </a:ln>
        </p:spPr>
        <p:txBody>
          <a:bodyPr wrap="square" lIns="0" tIns="0" rIns="0" bIns="0" rtlCol="0" anchor="ctr"/>
          <a:lstStyle/>
          <a:p>
            <a:pPr algn="ctr" indent="0" marL="0">
              <a:buNone/>
            </a:pPr>
            <a:r>
              <a:rPr lang="en-US" sz="1600" b="1" dirty="0">
                <a:solidFill>
                  <a:srgbClr val="FFB703"/>
                </a:solidFill>
                <a:latin typeface="Arial" pitchFamily="34" charset="0"/>
                <a:ea typeface="Arial" pitchFamily="34" charset="-122"/>
                <a:cs typeface="Arial" pitchFamily="34" charset="-120"/>
              </a:rPr>
              <a:t>4</a:t>
            </a:r>
            <a:endParaRPr lang="en-US" sz="1600" dirty="0"/>
          </a:p>
        </p:txBody>
      </p:sp>
      <p:sp>
        <p:nvSpPr>
          <p:cNvPr id="16" name="Text 13"/>
          <p:cNvSpPr txBox="1"/>
          <p:nvPr/>
        </p:nvSpPr>
        <p:spPr>
          <a:xfrm>
            <a:off x="7461504" y="2971800"/>
            <a:ext cx="1609344" cy="2103120"/>
          </a:xfrm>
          <a:prstGeom prst="rect">
            <a:avLst/>
          </a:prstGeom>
          <a:noFill/>
          <a:ln/>
        </p:spPr>
        <p:txBody>
          <a:bodyPr wrap="square" lIns="0" tIns="0" rIns="0" bIns="0" rtlCol="0" anchor="t"/>
          <a:lstStyle/>
          <a:p>
            <a:pPr indent="0" marL="0">
              <a:buNone/>
            </a:pPr>
            <a:r>
              <a:rPr lang="en-US" sz="2200" b="1" dirty="0">
                <a:solidFill>
                  <a:srgbClr val="F1F4FB"/>
                </a:solidFill>
                <a:latin typeface="Arial" pitchFamily="34" charset="0"/>
                <a:ea typeface="Arial" pitchFamily="34" charset="-122"/>
                <a:cs typeface="Arial" pitchFamily="34" charset="-120"/>
              </a:rPr>
              <a:t>Add features</a:t>
            </a:r>
            <a:endParaRPr lang="en-US" sz="2200" dirty="0"/>
          </a:p>
          <a:p>
            <a:pPr indent="0" marL="0">
              <a:spcBef>
                <a:spcPts val="800"/>
              </a:spcBef>
              <a:buNone/>
            </a:pPr>
            <a:r>
              <a:rPr lang="en-US" sz="1500" dirty="0">
                <a:solidFill>
                  <a:srgbClr val="B9C2D6"/>
                </a:solidFill>
                <a:latin typeface="Arial" pitchFamily="34" charset="0"/>
                <a:ea typeface="Arial" pitchFamily="34" charset="-122"/>
                <a:cs typeface="Arial" pitchFamily="34" charset="-120"/>
              </a:rPr>
              <a:t>Hour, season, sun angle, scaled by capacity.</a:t>
            </a:r>
            <a:endParaRPr lang="en-US" sz="2200" dirty="0"/>
          </a:p>
        </p:txBody>
      </p:sp>
      <p:sp>
        <p:nvSpPr>
          <p:cNvPr id="17" name="Shape 14"/>
          <p:cNvSpPr/>
          <p:nvPr/>
        </p:nvSpPr>
        <p:spPr>
          <a:xfrm>
            <a:off x="9436608" y="2103120"/>
            <a:ext cx="2011680" cy="3108960"/>
          </a:xfrm>
          <a:prstGeom prst="roundRect">
            <a:avLst>
              <a:gd name="adj" fmla="val 5455"/>
            </a:avLst>
          </a:prstGeom>
          <a:solidFill>
            <a:srgbClr val="161E36"/>
          </a:solidFill>
          <a:ln w="12700">
            <a:solidFill>
              <a:srgbClr val="2A3350"/>
            </a:solidFill>
            <a:prstDash val="solid"/>
          </a:ln>
        </p:spPr>
      </p:sp>
      <p:sp>
        <p:nvSpPr>
          <p:cNvPr id="18" name="Text 15"/>
          <p:cNvSpPr txBox="1"/>
          <p:nvPr/>
        </p:nvSpPr>
        <p:spPr>
          <a:xfrm>
            <a:off x="9637776" y="2304288"/>
            <a:ext cx="457200" cy="457200"/>
          </a:xfrm>
          <a:prstGeom prst="ellipse">
            <a:avLst/>
          </a:prstGeom>
          <a:solidFill>
            <a:srgbClr val="0B1226"/>
          </a:solidFill>
          <a:ln w="25400">
            <a:solidFill>
              <a:srgbClr val="FFB703"/>
            </a:solidFill>
          </a:ln>
        </p:spPr>
        <p:txBody>
          <a:bodyPr wrap="square" lIns="0" tIns="0" rIns="0" bIns="0" rtlCol="0" anchor="ctr"/>
          <a:lstStyle/>
          <a:p>
            <a:pPr algn="ctr" indent="0" marL="0">
              <a:buNone/>
            </a:pPr>
            <a:r>
              <a:rPr lang="en-US" sz="1600" b="1" dirty="0">
                <a:solidFill>
                  <a:srgbClr val="FFB703"/>
                </a:solidFill>
                <a:latin typeface="Arial" pitchFamily="34" charset="0"/>
                <a:ea typeface="Arial" pitchFamily="34" charset="-122"/>
                <a:cs typeface="Arial" pitchFamily="34" charset="-120"/>
              </a:rPr>
              <a:t>5</a:t>
            </a:r>
            <a:endParaRPr lang="en-US" sz="1600" dirty="0"/>
          </a:p>
        </p:txBody>
      </p:sp>
      <p:sp>
        <p:nvSpPr>
          <p:cNvPr id="19" name="Text 16"/>
          <p:cNvSpPr txBox="1"/>
          <p:nvPr/>
        </p:nvSpPr>
        <p:spPr>
          <a:xfrm>
            <a:off x="9637776" y="2971800"/>
            <a:ext cx="1609344" cy="2103120"/>
          </a:xfrm>
          <a:prstGeom prst="rect">
            <a:avLst/>
          </a:prstGeom>
          <a:noFill/>
          <a:ln/>
        </p:spPr>
        <p:txBody>
          <a:bodyPr wrap="square" lIns="0" tIns="0" rIns="0" bIns="0" rtlCol="0" anchor="t"/>
          <a:lstStyle/>
          <a:p>
            <a:pPr indent="0" marL="0">
              <a:buNone/>
            </a:pPr>
            <a:r>
              <a:rPr lang="en-US" sz="2200" b="1" dirty="0">
                <a:solidFill>
                  <a:srgbClr val="F1F4FB"/>
                </a:solidFill>
                <a:latin typeface="Arial" pitchFamily="34" charset="0"/>
                <a:ea typeface="Arial" pitchFamily="34" charset="-122"/>
                <a:cs typeface="Arial" pitchFamily="34" charset="-120"/>
              </a:rPr>
              <a:t>Split</a:t>
            </a:r>
            <a:endParaRPr lang="en-US" sz="2200" dirty="0"/>
          </a:p>
          <a:p>
            <a:pPr indent="0" marL="0">
              <a:spcBef>
                <a:spcPts val="800"/>
              </a:spcBef>
              <a:buNone/>
            </a:pPr>
            <a:r>
              <a:rPr lang="en-US" sz="1500" dirty="0">
                <a:solidFill>
                  <a:srgbClr val="B9C2D6"/>
                </a:solidFill>
                <a:latin typeface="Arial" pitchFamily="34" charset="0"/>
                <a:ea typeface="Arial" pitchFamily="34" charset="-122"/>
                <a:cs typeface="Arial" pitchFamily="34" charset="-120"/>
              </a:rPr>
              <a:t>Time-ordered training, validation and test sets.</a:t>
            </a:r>
            <a:endParaRPr lang="en-US" sz="2200" dirty="0"/>
          </a:p>
        </p:txBody>
      </p:sp>
      <p:sp>
        <p:nvSpPr>
          <p:cNvPr id="20" name="Text 17"/>
          <p:cNvSpPr txBox="1"/>
          <p:nvPr/>
        </p:nvSpPr>
        <p:spPr>
          <a:xfrm>
            <a:off x="731520" y="6355080"/>
            <a:ext cx="9692640" cy="320040"/>
          </a:xfrm>
          <a:prstGeom prst="rect">
            <a:avLst/>
          </a:prstGeom>
          <a:noFill/>
          <a:ln/>
        </p:spPr>
        <p:txBody>
          <a:bodyPr wrap="square" lIns="0" tIns="0" rIns="0" bIns="0" rtlCol="0" anchor="ctr"/>
          <a:lstStyle/>
          <a:p>
            <a:pPr indent="0" marL="0">
              <a:buNone/>
            </a:pPr>
            <a:r>
              <a:rPr lang="en-US" sz="1100" dirty="0">
                <a:solidFill>
                  <a:srgbClr val="8893AB"/>
                </a:solidFill>
                <a:latin typeface="Arial" pitchFamily="34" charset="0"/>
                <a:ea typeface="Arial" pitchFamily="34" charset="-122"/>
                <a:cs typeface="Arial" pitchFamily="34" charset="-120"/>
              </a:rPr>
              <a:t>Steps 1 and 2 are done: 22,896 aligned hourly rows. Steps 3 to 5 follow the rules on the previous slides.</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DATA PREPARATION</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Test on days the model </a:t>
            </a:r>
            <a:pPr indent="0" marL="0">
              <a:buNone/>
            </a:pPr>
            <a:r>
              <a:rPr lang="en-US" sz="3200" b="1" dirty="0">
                <a:solidFill>
                  <a:srgbClr val="FFB703"/>
                </a:solidFill>
                <a:latin typeface="Arial" pitchFamily="34" charset="0"/>
                <a:ea typeface="Arial" pitchFamily="34" charset="-122"/>
                <a:cs typeface="Arial" pitchFamily="34" charset="-120"/>
              </a:rPr>
              <a:t>has never seen</a:t>
            </a:r>
            <a:endParaRPr lang="en-US" sz="3200" dirty="0"/>
          </a:p>
        </p:txBody>
      </p:sp>
      <p:sp>
        <p:nvSpPr>
          <p:cNvPr id="5" name="Text 2"/>
          <p:cNvSpPr txBox="1"/>
          <p:nvPr/>
        </p:nvSpPr>
        <p:spPr>
          <a:xfrm>
            <a:off x="2286000" y="1554480"/>
            <a:ext cx="1828800" cy="274320"/>
          </a:xfrm>
          <a:prstGeom prst="rect">
            <a:avLst/>
          </a:prstGeom>
          <a:noFill/>
          <a:ln/>
        </p:spPr>
        <p:txBody>
          <a:bodyPr wrap="square" lIns="0" tIns="0" rIns="0" bIns="0" rtlCol="0" anchor="ctr"/>
          <a:lstStyle/>
          <a:p>
            <a:pPr indent="0" marL="0">
              <a:buNone/>
            </a:pPr>
            <a:r>
              <a:rPr lang="en-US" sz="1100" b="1" dirty="0">
                <a:solidFill>
                  <a:srgbClr val="8893AB"/>
                </a:solidFill>
                <a:latin typeface="Arial" pitchFamily="34" charset="0"/>
                <a:ea typeface="Arial" pitchFamily="34" charset="-122"/>
                <a:cs typeface="Arial" pitchFamily="34" charset="-120"/>
              </a:rPr>
              <a:t>Mar 2024</a:t>
            </a:r>
            <a:endParaRPr lang="en-US" sz="1100" dirty="0"/>
          </a:p>
        </p:txBody>
      </p:sp>
      <p:sp>
        <p:nvSpPr>
          <p:cNvPr id="6" name="Text 3"/>
          <p:cNvSpPr txBox="1"/>
          <p:nvPr/>
        </p:nvSpPr>
        <p:spPr>
          <a:xfrm>
            <a:off x="9628632" y="1554480"/>
            <a:ext cx="1828800" cy="274320"/>
          </a:xfrm>
          <a:prstGeom prst="rect">
            <a:avLst/>
          </a:prstGeom>
          <a:noFill/>
          <a:ln/>
        </p:spPr>
        <p:txBody>
          <a:bodyPr wrap="square" lIns="0" tIns="0" rIns="0" bIns="0" rtlCol="0" anchor="ctr"/>
          <a:lstStyle/>
          <a:p>
            <a:pPr algn="r" indent="0" marL="0">
              <a:buNone/>
            </a:pPr>
            <a:r>
              <a:rPr lang="en-US" sz="1100" b="1" dirty="0">
                <a:solidFill>
                  <a:srgbClr val="8893AB"/>
                </a:solidFill>
                <a:latin typeface="Arial" pitchFamily="34" charset="0"/>
                <a:ea typeface="Arial" pitchFamily="34" charset="-122"/>
                <a:cs typeface="Arial" pitchFamily="34" charset="-120"/>
              </a:rPr>
              <a:t>Oct 2026</a:t>
            </a:r>
            <a:endParaRPr lang="en-US" sz="1100" dirty="0"/>
          </a:p>
        </p:txBody>
      </p:sp>
      <p:sp>
        <p:nvSpPr>
          <p:cNvPr id="7" name="Text 4"/>
          <p:cNvSpPr txBox="1"/>
          <p:nvPr/>
        </p:nvSpPr>
        <p:spPr>
          <a:xfrm>
            <a:off x="731520" y="1874520"/>
            <a:ext cx="1554480" cy="411480"/>
          </a:xfrm>
          <a:prstGeom prst="rect">
            <a:avLst/>
          </a:prstGeom>
          <a:noFill/>
          <a:ln/>
        </p:spPr>
        <p:txBody>
          <a:bodyPr wrap="square" lIns="0" tIns="0" rIns="0" bIns="0" rtlCol="0" anchor="ctr"/>
          <a:lstStyle/>
          <a:p>
            <a:pPr indent="0" marL="0">
              <a:buNone/>
            </a:pPr>
            <a:r>
              <a:rPr lang="en-US" sz="1400" b="1" dirty="0">
                <a:solidFill>
                  <a:srgbClr val="F1F4FB"/>
                </a:solidFill>
                <a:latin typeface="Arial" pitchFamily="34" charset="0"/>
                <a:ea typeface="Arial" pitchFamily="34" charset="-122"/>
                <a:cs typeface="Arial" pitchFamily="34" charset="-120"/>
              </a:rPr>
              <a:t>All the days</a:t>
            </a:r>
            <a:endParaRPr lang="en-US" sz="1400" dirty="0"/>
          </a:p>
        </p:txBody>
      </p:sp>
      <p:sp>
        <p:nvSpPr>
          <p:cNvPr id="8" name="Text 5"/>
          <p:cNvSpPr txBox="1"/>
          <p:nvPr/>
        </p:nvSpPr>
        <p:spPr>
          <a:xfrm>
            <a:off x="2286000" y="1874520"/>
            <a:ext cx="7337146" cy="411480"/>
          </a:xfrm>
          <a:prstGeom prst="roundRect">
            <a:avLst>
              <a:gd name="adj" fmla="val 11111"/>
            </a:avLst>
          </a:prstGeom>
          <a:solidFill>
            <a:srgbClr val="2A3A66"/>
          </a:solidFill>
          <a:ln/>
        </p:spPr>
        <p:txBody>
          <a:bodyPr wrap="square" lIns="0" tIns="0" rIns="0" bIns="0" rtlCol="0" anchor="ctr"/>
          <a:lstStyle/>
          <a:p>
            <a:pPr algn="ctr" indent="0" marL="0">
              <a:buNone/>
            </a:pPr>
            <a:r>
              <a:rPr lang="en-US" sz="1300" b="1" dirty="0">
                <a:solidFill>
                  <a:srgbClr val="F1F4FB"/>
                </a:solidFill>
                <a:latin typeface="Arial" pitchFamily="34" charset="0"/>
                <a:ea typeface="Arial" pitchFamily="34" charset="-122"/>
                <a:cs typeface="Arial" pitchFamily="34" charset="-120"/>
              </a:rPr>
              <a:t>Training days (earliest 80%, 763 days)</a:t>
            </a:r>
            <a:endParaRPr lang="en-US" sz="1300" dirty="0"/>
          </a:p>
        </p:txBody>
      </p:sp>
      <p:sp>
        <p:nvSpPr>
          <p:cNvPr id="9" name="Text 6"/>
          <p:cNvSpPr txBox="1"/>
          <p:nvPr/>
        </p:nvSpPr>
        <p:spPr>
          <a:xfrm>
            <a:off x="9668866" y="1874520"/>
            <a:ext cx="1788566" cy="411480"/>
          </a:xfrm>
          <a:prstGeom prst="roundRect">
            <a:avLst>
              <a:gd name="adj" fmla="val 11111"/>
            </a:avLst>
          </a:prstGeom>
          <a:solidFill>
            <a:srgbClr val="FFB703"/>
          </a:solidFill>
          <a:ln/>
        </p:spPr>
        <p:txBody>
          <a:bodyPr wrap="square" lIns="0" tIns="0" rIns="0" bIns="0" rtlCol="0" anchor="ctr"/>
          <a:lstStyle/>
          <a:p>
            <a:pPr algn="ctr" indent="0" marL="0">
              <a:buNone/>
            </a:pPr>
            <a:r>
              <a:rPr lang="en-US" sz="1300" b="1" dirty="0">
                <a:solidFill>
                  <a:srgbClr val="1A1300"/>
                </a:solidFill>
                <a:latin typeface="Arial" pitchFamily="34" charset="0"/>
                <a:ea typeface="Arial" pitchFamily="34" charset="-122"/>
                <a:cs typeface="Arial" pitchFamily="34" charset="-120"/>
              </a:rPr>
              <a:t>Test (191 days)</a:t>
            </a:r>
            <a:endParaRPr lang="en-US" sz="1300" dirty="0"/>
          </a:p>
        </p:txBody>
      </p:sp>
      <p:sp>
        <p:nvSpPr>
          <p:cNvPr id="10" name="Text 7"/>
          <p:cNvSpPr txBox="1"/>
          <p:nvPr/>
        </p:nvSpPr>
        <p:spPr>
          <a:xfrm>
            <a:off x="9668866" y="2331720"/>
            <a:ext cx="1788566" cy="274320"/>
          </a:xfrm>
          <a:prstGeom prst="rect">
            <a:avLst/>
          </a:prstGeom>
          <a:noFill/>
          <a:ln/>
        </p:spPr>
        <p:txBody>
          <a:bodyPr wrap="square" lIns="0" tIns="0" rIns="0" bIns="0" rtlCol="0" anchor="ctr"/>
          <a:lstStyle/>
          <a:p>
            <a:pPr algn="ctr" indent="0" marL="0">
              <a:buNone/>
            </a:pPr>
            <a:r>
              <a:rPr lang="en-US" sz="1000" b="1" dirty="0">
                <a:solidFill>
                  <a:srgbClr val="FFB703"/>
                </a:solidFill>
                <a:latin typeface="Arial" pitchFamily="34" charset="0"/>
                <a:ea typeface="Arial" pitchFamily="34" charset="-122"/>
                <a:cs typeface="Arial" pitchFamily="34" charset="-120"/>
              </a:rPr>
              <a:t>Locked until the end</a:t>
            </a:r>
            <a:endParaRPr lang="en-US" sz="1000" dirty="0"/>
          </a:p>
        </p:txBody>
      </p:sp>
      <p:sp>
        <p:nvSpPr>
          <p:cNvPr id="11" name="Text 8"/>
          <p:cNvSpPr txBox="1"/>
          <p:nvPr/>
        </p:nvSpPr>
        <p:spPr>
          <a:xfrm>
            <a:off x="2286000" y="2560320"/>
            <a:ext cx="6400800" cy="274320"/>
          </a:xfrm>
          <a:prstGeom prst="rect">
            <a:avLst/>
          </a:prstGeom>
          <a:noFill/>
          <a:ln/>
        </p:spPr>
        <p:txBody>
          <a:bodyPr wrap="square" lIns="0" tIns="0" rIns="0" bIns="0" rtlCol="0" anchor="ctr"/>
          <a:lstStyle/>
          <a:p>
            <a:pPr indent="0" marL="0">
              <a:buNone/>
            </a:pPr>
            <a:r>
              <a:rPr lang="en-US" sz="1000" b="1" spc="100" kern="0" dirty="0">
                <a:solidFill>
                  <a:srgbClr val="8893AB"/>
                </a:solidFill>
                <a:latin typeface="Arial" pitchFamily="34" charset="0"/>
                <a:ea typeface="Arial" pitchFamily="34" charset="-122"/>
                <a:cs typeface="Arial" pitchFamily="34" charset="-120"/>
              </a:rPr>
              <a:t>FOUR ROLLING CHECKS ON THE TRAINING DAYS, USED TO TUNE SETTINGS</a:t>
            </a:r>
            <a:endParaRPr lang="en-US" sz="1000" dirty="0"/>
          </a:p>
        </p:txBody>
      </p:sp>
      <p:sp>
        <p:nvSpPr>
          <p:cNvPr id="12" name="Text 9"/>
          <p:cNvSpPr txBox="1"/>
          <p:nvPr/>
        </p:nvSpPr>
        <p:spPr>
          <a:xfrm>
            <a:off x="731520" y="2880360"/>
            <a:ext cx="1371600" cy="292608"/>
          </a:xfrm>
          <a:prstGeom prst="rect">
            <a:avLst/>
          </a:prstGeom>
          <a:noFill/>
          <a:ln/>
        </p:spPr>
        <p:txBody>
          <a:bodyPr wrap="square" lIns="0" tIns="0" rIns="0" bIns="0" rtlCol="0" anchor="ctr"/>
          <a:lstStyle/>
          <a:p>
            <a:pPr indent="0" marL="0">
              <a:buNone/>
            </a:pPr>
            <a:r>
              <a:rPr lang="en-US" sz="1300" dirty="0">
                <a:solidFill>
                  <a:srgbClr val="B9C2D6"/>
                </a:solidFill>
                <a:latin typeface="Arial" pitchFamily="34" charset="0"/>
                <a:ea typeface="Arial" pitchFamily="34" charset="-122"/>
                <a:cs typeface="Arial" pitchFamily="34" charset="-120"/>
              </a:rPr>
              <a:t>Check 1</a:t>
            </a:r>
            <a:endParaRPr lang="en-US" sz="1300" dirty="0"/>
          </a:p>
        </p:txBody>
      </p:sp>
      <p:sp>
        <p:nvSpPr>
          <p:cNvPr id="13" name="Text 10"/>
          <p:cNvSpPr txBox="1"/>
          <p:nvPr/>
        </p:nvSpPr>
        <p:spPr>
          <a:xfrm>
            <a:off x="2286000" y="2880360"/>
            <a:ext cx="2856246" cy="292608"/>
          </a:xfrm>
          <a:prstGeom prst="roundRect">
            <a:avLst>
              <a:gd name="adj" fmla="val 12500"/>
            </a:avLst>
          </a:prstGeom>
          <a:solidFill>
            <a:srgbClr val="2A3A66"/>
          </a:solidFill>
          <a:ln/>
        </p:spPr>
        <p:txBody>
          <a:bodyPr wrap="square" lIns="0" tIns="0" rIns="0" bIns="0" rtlCol="0" anchor="ctr"/>
          <a:lstStyle/>
          <a:p>
            <a:pPr algn="ctr" indent="0" marL="0">
              <a:buNone/>
            </a:pPr>
            <a:r>
              <a:rPr lang="en-US" sz="1100" b="1" dirty="0">
                <a:solidFill>
                  <a:srgbClr val="F1F4FB"/>
                </a:solidFill>
                <a:latin typeface="Arial" pitchFamily="34" charset="0"/>
                <a:ea typeface="Arial" pitchFamily="34" charset="-122"/>
                <a:cs typeface="Arial" pitchFamily="34" charset="-120"/>
              </a:rPr>
              <a:t>Train</a:t>
            </a:r>
            <a:endParaRPr lang="en-US" sz="1100" dirty="0"/>
          </a:p>
        </p:txBody>
      </p:sp>
      <p:sp>
        <p:nvSpPr>
          <p:cNvPr id="14" name="Text 11"/>
          <p:cNvSpPr txBox="1"/>
          <p:nvPr/>
        </p:nvSpPr>
        <p:spPr>
          <a:xfrm>
            <a:off x="5142246" y="2880360"/>
            <a:ext cx="1113674" cy="292608"/>
          </a:xfrm>
          <a:prstGeom prst="roundRect">
            <a:avLst>
              <a:gd name="adj" fmla="val 12500"/>
            </a:avLst>
          </a:prstGeom>
          <a:solidFill>
            <a:srgbClr val="B9C2D6"/>
          </a:solidFill>
          <a:ln/>
        </p:spPr>
        <p:txBody>
          <a:bodyPr wrap="square" lIns="0" tIns="0" rIns="0" bIns="0" rtlCol="0" anchor="ctr"/>
          <a:lstStyle/>
          <a:p>
            <a:pPr algn="ctr" indent="0" marL="0">
              <a:buNone/>
            </a:pPr>
            <a:r>
              <a:rPr lang="en-US" sz="1100" b="1" dirty="0">
                <a:solidFill>
                  <a:srgbClr val="0B1226"/>
                </a:solidFill>
                <a:latin typeface="Arial" pitchFamily="34" charset="0"/>
                <a:ea typeface="Arial" pitchFamily="34" charset="-122"/>
                <a:cs typeface="Arial" pitchFamily="34" charset="-120"/>
              </a:rPr>
              <a:t>Validate</a:t>
            </a:r>
            <a:endParaRPr lang="en-US" sz="1100" dirty="0"/>
          </a:p>
        </p:txBody>
      </p:sp>
      <p:sp>
        <p:nvSpPr>
          <p:cNvPr id="15" name="Text 12"/>
          <p:cNvSpPr txBox="1"/>
          <p:nvPr/>
        </p:nvSpPr>
        <p:spPr>
          <a:xfrm>
            <a:off x="9668866" y="2880360"/>
            <a:ext cx="1788566" cy="292608"/>
          </a:xfrm>
          <a:prstGeom prst="roundRect">
            <a:avLst>
              <a:gd name="adj" fmla="val 12500"/>
            </a:avLst>
          </a:prstGeom>
          <a:solidFill>
            <a:srgbClr val="0B1226"/>
          </a:solidFill>
          <a:ln w="12700">
            <a:solidFill>
              <a:srgbClr val="34436E"/>
            </a:solidFill>
            <a:prstDash val="dash"/>
          </a:ln>
        </p:spPr>
        <p:txBody>
          <a:bodyPr wrap="square" lIns="0" tIns="0" rIns="0" bIns="0" rtlCol="0" anchor="ctr"/>
          <a:lstStyle/>
          <a:p>
            <a:pPr algn="ctr" indent="0" marL="0">
              <a:buNone/>
            </a:pPr>
            <a:r>
              <a:rPr lang="en-US" sz="1000" dirty="0">
                <a:solidFill>
                  <a:srgbClr val="8893AB"/>
                </a:solidFill>
                <a:latin typeface="Arial" pitchFamily="34" charset="0"/>
                <a:ea typeface="Arial" pitchFamily="34" charset="-122"/>
                <a:cs typeface="Arial" pitchFamily="34" charset="-120"/>
              </a:rPr>
              <a:t>untouched</a:t>
            </a:r>
            <a:endParaRPr lang="en-US" sz="1000" dirty="0"/>
          </a:p>
        </p:txBody>
      </p:sp>
      <p:sp>
        <p:nvSpPr>
          <p:cNvPr id="16" name="Text 13"/>
          <p:cNvSpPr txBox="1"/>
          <p:nvPr/>
        </p:nvSpPr>
        <p:spPr>
          <a:xfrm>
            <a:off x="731520" y="3246120"/>
            <a:ext cx="1371600" cy="292608"/>
          </a:xfrm>
          <a:prstGeom prst="rect">
            <a:avLst/>
          </a:prstGeom>
          <a:noFill/>
          <a:ln/>
        </p:spPr>
        <p:txBody>
          <a:bodyPr wrap="square" lIns="0" tIns="0" rIns="0" bIns="0" rtlCol="0" anchor="ctr"/>
          <a:lstStyle/>
          <a:p>
            <a:pPr indent="0" marL="0">
              <a:buNone/>
            </a:pPr>
            <a:r>
              <a:rPr lang="en-US" sz="1300" dirty="0">
                <a:solidFill>
                  <a:srgbClr val="B9C2D6"/>
                </a:solidFill>
                <a:latin typeface="Arial" pitchFamily="34" charset="0"/>
                <a:ea typeface="Arial" pitchFamily="34" charset="-122"/>
                <a:cs typeface="Arial" pitchFamily="34" charset="-120"/>
              </a:rPr>
              <a:t>Check 2</a:t>
            </a:r>
            <a:endParaRPr lang="en-US" sz="1300" dirty="0"/>
          </a:p>
        </p:txBody>
      </p:sp>
      <p:sp>
        <p:nvSpPr>
          <p:cNvPr id="17" name="Text 14"/>
          <p:cNvSpPr txBox="1"/>
          <p:nvPr/>
        </p:nvSpPr>
        <p:spPr>
          <a:xfrm>
            <a:off x="2286000" y="3246120"/>
            <a:ext cx="3969920" cy="292608"/>
          </a:xfrm>
          <a:prstGeom prst="roundRect">
            <a:avLst>
              <a:gd name="adj" fmla="val 12500"/>
            </a:avLst>
          </a:prstGeom>
          <a:solidFill>
            <a:srgbClr val="2A3A66"/>
          </a:solidFill>
          <a:ln/>
        </p:spPr>
        <p:txBody>
          <a:bodyPr wrap="square" lIns="0" tIns="0" rIns="0" bIns="0" rtlCol="0" anchor="ctr"/>
          <a:lstStyle/>
          <a:p>
            <a:pPr algn="ctr" indent="0" marL="0">
              <a:buNone/>
            </a:pPr>
            <a:r>
              <a:rPr lang="en-US" sz="1100" b="1" dirty="0">
                <a:solidFill>
                  <a:srgbClr val="F1F4FB"/>
                </a:solidFill>
                <a:latin typeface="Arial" pitchFamily="34" charset="0"/>
                <a:ea typeface="Arial" pitchFamily="34" charset="-122"/>
                <a:cs typeface="Arial" pitchFamily="34" charset="-120"/>
              </a:rPr>
              <a:t>Train</a:t>
            </a:r>
            <a:endParaRPr lang="en-US" sz="1100" dirty="0"/>
          </a:p>
        </p:txBody>
      </p:sp>
      <p:sp>
        <p:nvSpPr>
          <p:cNvPr id="18" name="Text 15"/>
          <p:cNvSpPr txBox="1"/>
          <p:nvPr/>
        </p:nvSpPr>
        <p:spPr>
          <a:xfrm>
            <a:off x="6255920" y="3246120"/>
            <a:ext cx="1113674" cy="292608"/>
          </a:xfrm>
          <a:prstGeom prst="roundRect">
            <a:avLst>
              <a:gd name="adj" fmla="val 12500"/>
            </a:avLst>
          </a:prstGeom>
          <a:solidFill>
            <a:srgbClr val="B9C2D6"/>
          </a:solidFill>
          <a:ln/>
        </p:spPr>
        <p:txBody>
          <a:bodyPr wrap="square" lIns="0" tIns="0" rIns="0" bIns="0" rtlCol="0" anchor="ctr"/>
          <a:lstStyle/>
          <a:p>
            <a:pPr algn="ctr" indent="0" marL="0">
              <a:buNone/>
            </a:pPr>
            <a:r>
              <a:rPr lang="en-US" sz="1100" b="1" dirty="0">
                <a:solidFill>
                  <a:srgbClr val="0B1226"/>
                </a:solidFill>
                <a:latin typeface="Arial" pitchFamily="34" charset="0"/>
                <a:ea typeface="Arial" pitchFamily="34" charset="-122"/>
                <a:cs typeface="Arial" pitchFamily="34" charset="-120"/>
              </a:rPr>
              <a:t>Validate</a:t>
            </a:r>
            <a:endParaRPr lang="en-US" sz="1100" dirty="0"/>
          </a:p>
        </p:txBody>
      </p:sp>
      <p:sp>
        <p:nvSpPr>
          <p:cNvPr id="19" name="Text 16"/>
          <p:cNvSpPr txBox="1"/>
          <p:nvPr/>
        </p:nvSpPr>
        <p:spPr>
          <a:xfrm>
            <a:off x="9668866" y="3246120"/>
            <a:ext cx="1788566" cy="292608"/>
          </a:xfrm>
          <a:prstGeom prst="roundRect">
            <a:avLst>
              <a:gd name="adj" fmla="val 12500"/>
            </a:avLst>
          </a:prstGeom>
          <a:solidFill>
            <a:srgbClr val="0B1226"/>
          </a:solidFill>
          <a:ln w="12700">
            <a:solidFill>
              <a:srgbClr val="34436E"/>
            </a:solidFill>
            <a:prstDash val="dash"/>
          </a:ln>
        </p:spPr>
        <p:txBody>
          <a:bodyPr wrap="square" lIns="0" tIns="0" rIns="0" bIns="0" rtlCol="0" anchor="ctr"/>
          <a:lstStyle/>
          <a:p>
            <a:pPr algn="ctr" indent="0" marL="0">
              <a:buNone/>
            </a:pPr>
            <a:r>
              <a:rPr lang="en-US" sz="1000" dirty="0">
                <a:solidFill>
                  <a:srgbClr val="8893AB"/>
                </a:solidFill>
                <a:latin typeface="Arial" pitchFamily="34" charset="0"/>
                <a:ea typeface="Arial" pitchFamily="34" charset="-122"/>
                <a:cs typeface="Arial" pitchFamily="34" charset="-120"/>
              </a:rPr>
              <a:t>untouched</a:t>
            </a:r>
            <a:endParaRPr lang="en-US" sz="1000" dirty="0"/>
          </a:p>
        </p:txBody>
      </p:sp>
      <p:sp>
        <p:nvSpPr>
          <p:cNvPr id="20" name="Text 17"/>
          <p:cNvSpPr txBox="1"/>
          <p:nvPr/>
        </p:nvSpPr>
        <p:spPr>
          <a:xfrm>
            <a:off x="731520" y="3611880"/>
            <a:ext cx="1371600" cy="292608"/>
          </a:xfrm>
          <a:prstGeom prst="rect">
            <a:avLst/>
          </a:prstGeom>
          <a:noFill/>
          <a:ln/>
        </p:spPr>
        <p:txBody>
          <a:bodyPr wrap="square" lIns="0" tIns="0" rIns="0" bIns="0" rtlCol="0" anchor="ctr"/>
          <a:lstStyle/>
          <a:p>
            <a:pPr indent="0" marL="0">
              <a:buNone/>
            </a:pPr>
            <a:r>
              <a:rPr lang="en-US" sz="1300" dirty="0">
                <a:solidFill>
                  <a:srgbClr val="B9C2D6"/>
                </a:solidFill>
                <a:latin typeface="Arial" pitchFamily="34" charset="0"/>
                <a:ea typeface="Arial" pitchFamily="34" charset="-122"/>
                <a:cs typeface="Arial" pitchFamily="34" charset="-120"/>
              </a:rPr>
              <a:t>Check 3</a:t>
            </a:r>
            <a:endParaRPr lang="en-US" sz="1300" dirty="0"/>
          </a:p>
        </p:txBody>
      </p:sp>
      <p:sp>
        <p:nvSpPr>
          <p:cNvPr id="21" name="Text 18"/>
          <p:cNvSpPr txBox="1"/>
          <p:nvPr/>
        </p:nvSpPr>
        <p:spPr>
          <a:xfrm>
            <a:off x="2286000" y="3611880"/>
            <a:ext cx="5083594" cy="292608"/>
          </a:xfrm>
          <a:prstGeom prst="roundRect">
            <a:avLst>
              <a:gd name="adj" fmla="val 12500"/>
            </a:avLst>
          </a:prstGeom>
          <a:solidFill>
            <a:srgbClr val="2A3A66"/>
          </a:solidFill>
          <a:ln/>
        </p:spPr>
        <p:txBody>
          <a:bodyPr wrap="square" lIns="0" tIns="0" rIns="0" bIns="0" rtlCol="0" anchor="ctr"/>
          <a:lstStyle/>
          <a:p>
            <a:pPr algn="ctr" indent="0" marL="0">
              <a:buNone/>
            </a:pPr>
            <a:r>
              <a:rPr lang="en-US" sz="1100" b="1" dirty="0">
                <a:solidFill>
                  <a:srgbClr val="F1F4FB"/>
                </a:solidFill>
                <a:latin typeface="Arial" pitchFamily="34" charset="0"/>
                <a:ea typeface="Arial" pitchFamily="34" charset="-122"/>
                <a:cs typeface="Arial" pitchFamily="34" charset="-120"/>
              </a:rPr>
              <a:t>Train</a:t>
            </a:r>
            <a:endParaRPr lang="en-US" sz="1100" dirty="0"/>
          </a:p>
        </p:txBody>
      </p:sp>
      <p:sp>
        <p:nvSpPr>
          <p:cNvPr id="22" name="Text 19"/>
          <p:cNvSpPr txBox="1"/>
          <p:nvPr/>
        </p:nvSpPr>
        <p:spPr>
          <a:xfrm>
            <a:off x="7369594" y="3611880"/>
            <a:ext cx="1113674" cy="292608"/>
          </a:xfrm>
          <a:prstGeom prst="roundRect">
            <a:avLst>
              <a:gd name="adj" fmla="val 12500"/>
            </a:avLst>
          </a:prstGeom>
          <a:solidFill>
            <a:srgbClr val="B9C2D6"/>
          </a:solidFill>
          <a:ln/>
        </p:spPr>
        <p:txBody>
          <a:bodyPr wrap="square" lIns="0" tIns="0" rIns="0" bIns="0" rtlCol="0" anchor="ctr"/>
          <a:lstStyle/>
          <a:p>
            <a:pPr algn="ctr" indent="0" marL="0">
              <a:buNone/>
            </a:pPr>
            <a:r>
              <a:rPr lang="en-US" sz="1100" b="1" dirty="0">
                <a:solidFill>
                  <a:srgbClr val="0B1226"/>
                </a:solidFill>
                <a:latin typeface="Arial" pitchFamily="34" charset="0"/>
                <a:ea typeface="Arial" pitchFamily="34" charset="-122"/>
                <a:cs typeface="Arial" pitchFamily="34" charset="-120"/>
              </a:rPr>
              <a:t>Validate</a:t>
            </a:r>
            <a:endParaRPr lang="en-US" sz="1100" dirty="0"/>
          </a:p>
        </p:txBody>
      </p:sp>
      <p:sp>
        <p:nvSpPr>
          <p:cNvPr id="23" name="Text 20"/>
          <p:cNvSpPr txBox="1"/>
          <p:nvPr/>
        </p:nvSpPr>
        <p:spPr>
          <a:xfrm>
            <a:off x="9668866" y="3611880"/>
            <a:ext cx="1788566" cy="292608"/>
          </a:xfrm>
          <a:prstGeom prst="roundRect">
            <a:avLst>
              <a:gd name="adj" fmla="val 12500"/>
            </a:avLst>
          </a:prstGeom>
          <a:solidFill>
            <a:srgbClr val="0B1226"/>
          </a:solidFill>
          <a:ln w="12700">
            <a:solidFill>
              <a:srgbClr val="34436E"/>
            </a:solidFill>
            <a:prstDash val="dash"/>
          </a:ln>
        </p:spPr>
        <p:txBody>
          <a:bodyPr wrap="square" lIns="0" tIns="0" rIns="0" bIns="0" rtlCol="0" anchor="ctr"/>
          <a:lstStyle/>
          <a:p>
            <a:pPr algn="ctr" indent="0" marL="0">
              <a:buNone/>
            </a:pPr>
            <a:r>
              <a:rPr lang="en-US" sz="1000" dirty="0">
                <a:solidFill>
                  <a:srgbClr val="8893AB"/>
                </a:solidFill>
                <a:latin typeface="Arial" pitchFamily="34" charset="0"/>
                <a:ea typeface="Arial" pitchFamily="34" charset="-122"/>
                <a:cs typeface="Arial" pitchFamily="34" charset="-120"/>
              </a:rPr>
              <a:t>untouched</a:t>
            </a:r>
            <a:endParaRPr lang="en-US" sz="1000" dirty="0"/>
          </a:p>
        </p:txBody>
      </p:sp>
      <p:sp>
        <p:nvSpPr>
          <p:cNvPr id="24" name="Text 21"/>
          <p:cNvSpPr txBox="1"/>
          <p:nvPr/>
        </p:nvSpPr>
        <p:spPr>
          <a:xfrm>
            <a:off x="731520" y="3977640"/>
            <a:ext cx="1371600" cy="292608"/>
          </a:xfrm>
          <a:prstGeom prst="rect">
            <a:avLst/>
          </a:prstGeom>
          <a:noFill/>
          <a:ln/>
        </p:spPr>
        <p:txBody>
          <a:bodyPr wrap="square" lIns="0" tIns="0" rIns="0" bIns="0" rtlCol="0" anchor="ctr"/>
          <a:lstStyle/>
          <a:p>
            <a:pPr indent="0" marL="0">
              <a:buNone/>
            </a:pPr>
            <a:r>
              <a:rPr lang="en-US" sz="1300" dirty="0">
                <a:solidFill>
                  <a:srgbClr val="B9C2D6"/>
                </a:solidFill>
                <a:latin typeface="Arial" pitchFamily="34" charset="0"/>
                <a:ea typeface="Arial" pitchFamily="34" charset="-122"/>
                <a:cs typeface="Arial" pitchFamily="34" charset="-120"/>
              </a:rPr>
              <a:t>Check 4</a:t>
            </a:r>
            <a:endParaRPr lang="en-US" sz="1300" dirty="0"/>
          </a:p>
        </p:txBody>
      </p:sp>
      <p:sp>
        <p:nvSpPr>
          <p:cNvPr id="25" name="Text 22"/>
          <p:cNvSpPr txBox="1"/>
          <p:nvPr/>
        </p:nvSpPr>
        <p:spPr>
          <a:xfrm>
            <a:off x="2286000" y="3977640"/>
            <a:ext cx="6197268" cy="292608"/>
          </a:xfrm>
          <a:prstGeom prst="roundRect">
            <a:avLst>
              <a:gd name="adj" fmla="val 12500"/>
            </a:avLst>
          </a:prstGeom>
          <a:solidFill>
            <a:srgbClr val="2A3A66"/>
          </a:solidFill>
          <a:ln/>
        </p:spPr>
        <p:txBody>
          <a:bodyPr wrap="square" lIns="0" tIns="0" rIns="0" bIns="0" rtlCol="0" anchor="ctr"/>
          <a:lstStyle/>
          <a:p>
            <a:pPr algn="ctr" indent="0" marL="0">
              <a:buNone/>
            </a:pPr>
            <a:r>
              <a:rPr lang="en-US" sz="1100" b="1" dirty="0">
                <a:solidFill>
                  <a:srgbClr val="F1F4FB"/>
                </a:solidFill>
                <a:latin typeface="Arial" pitchFamily="34" charset="0"/>
                <a:ea typeface="Arial" pitchFamily="34" charset="-122"/>
                <a:cs typeface="Arial" pitchFamily="34" charset="-120"/>
              </a:rPr>
              <a:t>Train</a:t>
            </a:r>
            <a:endParaRPr lang="en-US" sz="1100" dirty="0"/>
          </a:p>
        </p:txBody>
      </p:sp>
      <p:sp>
        <p:nvSpPr>
          <p:cNvPr id="26" name="Text 23"/>
          <p:cNvSpPr txBox="1"/>
          <p:nvPr/>
        </p:nvSpPr>
        <p:spPr>
          <a:xfrm>
            <a:off x="8483268" y="3977640"/>
            <a:ext cx="1113674" cy="292608"/>
          </a:xfrm>
          <a:prstGeom prst="roundRect">
            <a:avLst>
              <a:gd name="adj" fmla="val 12500"/>
            </a:avLst>
          </a:prstGeom>
          <a:solidFill>
            <a:srgbClr val="B9C2D6"/>
          </a:solidFill>
          <a:ln/>
        </p:spPr>
        <p:txBody>
          <a:bodyPr wrap="square" lIns="0" tIns="0" rIns="0" bIns="0" rtlCol="0" anchor="ctr"/>
          <a:lstStyle/>
          <a:p>
            <a:pPr algn="ctr" indent="0" marL="0">
              <a:buNone/>
            </a:pPr>
            <a:r>
              <a:rPr lang="en-US" sz="1100" b="1" dirty="0">
                <a:solidFill>
                  <a:srgbClr val="0B1226"/>
                </a:solidFill>
                <a:latin typeface="Arial" pitchFamily="34" charset="0"/>
                <a:ea typeface="Arial" pitchFamily="34" charset="-122"/>
                <a:cs typeface="Arial" pitchFamily="34" charset="-120"/>
              </a:rPr>
              <a:t>Validate</a:t>
            </a:r>
            <a:endParaRPr lang="en-US" sz="1100" dirty="0"/>
          </a:p>
        </p:txBody>
      </p:sp>
      <p:sp>
        <p:nvSpPr>
          <p:cNvPr id="27" name="Text 24"/>
          <p:cNvSpPr txBox="1"/>
          <p:nvPr/>
        </p:nvSpPr>
        <p:spPr>
          <a:xfrm>
            <a:off x="9668866" y="3977640"/>
            <a:ext cx="1788566" cy="292608"/>
          </a:xfrm>
          <a:prstGeom prst="roundRect">
            <a:avLst>
              <a:gd name="adj" fmla="val 12500"/>
            </a:avLst>
          </a:prstGeom>
          <a:solidFill>
            <a:srgbClr val="0B1226"/>
          </a:solidFill>
          <a:ln w="12700">
            <a:solidFill>
              <a:srgbClr val="34436E"/>
            </a:solidFill>
            <a:prstDash val="dash"/>
          </a:ln>
        </p:spPr>
        <p:txBody>
          <a:bodyPr wrap="square" lIns="0" tIns="0" rIns="0" bIns="0" rtlCol="0" anchor="ctr"/>
          <a:lstStyle/>
          <a:p>
            <a:pPr algn="ctr" indent="0" marL="0">
              <a:buNone/>
            </a:pPr>
            <a:r>
              <a:rPr lang="en-US" sz="1000" dirty="0">
                <a:solidFill>
                  <a:srgbClr val="8893AB"/>
                </a:solidFill>
                <a:latin typeface="Arial" pitchFamily="34" charset="0"/>
                <a:ea typeface="Arial" pitchFamily="34" charset="-122"/>
                <a:cs typeface="Arial" pitchFamily="34" charset="-120"/>
              </a:rPr>
              <a:t>untouched</a:t>
            </a:r>
            <a:endParaRPr lang="en-US" sz="1000" dirty="0"/>
          </a:p>
        </p:txBody>
      </p:sp>
      <p:sp>
        <p:nvSpPr>
          <p:cNvPr id="28" name="Shape 25"/>
          <p:cNvSpPr/>
          <p:nvPr/>
        </p:nvSpPr>
        <p:spPr>
          <a:xfrm>
            <a:off x="731520" y="4572000"/>
            <a:ext cx="3383280" cy="1691640"/>
          </a:xfrm>
          <a:prstGeom prst="roundRect">
            <a:avLst>
              <a:gd name="adj" fmla="val 6486"/>
            </a:avLst>
          </a:prstGeom>
          <a:solidFill>
            <a:srgbClr val="161E36"/>
          </a:solidFill>
          <a:ln w="12700">
            <a:solidFill>
              <a:srgbClr val="2A3350"/>
            </a:solidFill>
            <a:prstDash val="solid"/>
          </a:ln>
        </p:spPr>
      </p:sp>
      <p:sp>
        <p:nvSpPr>
          <p:cNvPr id="29" name="Text 26"/>
          <p:cNvSpPr txBox="1"/>
          <p:nvPr/>
        </p:nvSpPr>
        <p:spPr>
          <a:xfrm>
            <a:off x="932688" y="4773168"/>
            <a:ext cx="457200" cy="457200"/>
          </a:xfrm>
          <a:prstGeom prst="ellipse">
            <a:avLst/>
          </a:prstGeom>
          <a:solidFill>
            <a:srgbClr val="0B1226"/>
          </a:solidFill>
          <a:ln w="25400">
            <a:solidFill>
              <a:srgbClr val="FFB703"/>
            </a:solidFill>
          </a:ln>
        </p:spPr>
        <p:txBody>
          <a:bodyPr wrap="square" lIns="0" tIns="0" rIns="0" bIns="0" rtlCol="0" anchor="ctr"/>
          <a:lstStyle/>
          <a:p>
            <a:pPr algn="ctr" indent="0" marL="0">
              <a:buNone/>
            </a:pPr>
            <a:r>
              <a:rPr lang="en-US" sz="1600" b="1" dirty="0">
                <a:solidFill>
                  <a:srgbClr val="FFB703"/>
                </a:solidFill>
                <a:latin typeface="Arial" pitchFamily="34" charset="0"/>
                <a:ea typeface="Arial" pitchFamily="34" charset="-122"/>
                <a:cs typeface="Arial" pitchFamily="34" charset="-120"/>
              </a:rPr>
              <a:t>1</a:t>
            </a:r>
            <a:endParaRPr lang="en-US" sz="1600" dirty="0"/>
          </a:p>
        </p:txBody>
      </p:sp>
      <p:sp>
        <p:nvSpPr>
          <p:cNvPr id="30" name="Text 27"/>
          <p:cNvSpPr txBox="1"/>
          <p:nvPr/>
        </p:nvSpPr>
        <p:spPr>
          <a:xfrm>
            <a:off x="932688" y="5212080"/>
            <a:ext cx="2980944" cy="914400"/>
          </a:xfrm>
          <a:prstGeom prst="rect">
            <a:avLst/>
          </a:prstGeom>
          <a:noFill/>
          <a:ln/>
        </p:spPr>
        <p:txBody>
          <a:bodyPr wrap="square" lIns="0" tIns="0" rIns="0" bIns="0" rtlCol="0" anchor="t"/>
          <a:lstStyle/>
          <a:p>
            <a:pPr indent="0" marL="0">
              <a:buNone/>
            </a:pPr>
            <a:r>
              <a:rPr lang="en-US" sz="1800" b="1" dirty="0">
                <a:solidFill>
                  <a:srgbClr val="F1F4FB"/>
                </a:solidFill>
                <a:latin typeface="Arial" pitchFamily="34" charset="0"/>
                <a:ea typeface="Arial" pitchFamily="34" charset="-122"/>
                <a:cs typeface="Arial" pitchFamily="34" charset="-120"/>
              </a:rPr>
              <a:t>Train</a:t>
            </a:r>
            <a:endParaRPr lang="en-US" sz="1800" dirty="0"/>
          </a:p>
          <a:p>
            <a:pPr indent="0" marL="0">
              <a:spcBef>
                <a:spcPts val="800"/>
              </a:spcBef>
              <a:buNone/>
            </a:pPr>
            <a:r>
              <a:rPr lang="en-US" sz="1300" dirty="0">
                <a:solidFill>
                  <a:srgbClr val="B9C2D6"/>
                </a:solidFill>
                <a:latin typeface="Arial" pitchFamily="34" charset="0"/>
                <a:ea typeface="Arial" pitchFamily="34" charset="-122"/>
                <a:cs typeface="Arial" pitchFamily="34" charset="-120"/>
              </a:rPr>
              <a:t>The earliest 80% of days (763 days, to April 9, 2026) teach the models.</a:t>
            </a:r>
            <a:endParaRPr lang="en-US" sz="1800" dirty="0"/>
          </a:p>
        </p:txBody>
      </p:sp>
      <p:sp>
        <p:nvSpPr>
          <p:cNvPr id="31" name="Shape 28"/>
          <p:cNvSpPr/>
          <p:nvPr/>
        </p:nvSpPr>
        <p:spPr>
          <a:xfrm>
            <a:off x="4402836" y="4572000"/>
            <a:ext cx="3383280" cy="1691640"/>
          </a:xfrm>
          <a:prstGeom prst="roundRect">
            <a:avLst>
              <a:gd name="adj" fmla="val 6486"/>
            </a:avLst>
          </a:prstGeom>
          <a:solidFill>
            <a:srgbClr val="161E36"/>
          </a:solidFill>
          <a:ln w="12700">
            <a:solidFill>
              <a:srgbClr val="2A3350"/>
            </a:solidFill>
            <a:prstDash val="solid"/>
          </a:ln>
        </p:spPr>
      </p:sp>
      <p:sp>
        <p:nvSpPr>
          <p:cNvPr id="32" name="Text 29"/>
          <p:cNvSpPr txBox="1"/>
          <p:nvPr/>
        </p:nvSpPr>
        <p:spPr>
          <a:xfrm>
            <a:off x="4604004" y="4773168"/>
            <a:ext cx="457200" cy="457200"/>
          </a:xfrm>
          <a:prstGeom prst="ellipse">
            <a:avLst/>
          </a:prstGeom>
          <a:solidFill>
            <a:srgbClr val="0B1226"/>
          </a:solidFill>
          <a:ln w="25400">
            <a:solidFill>
              <a:srgbClr val="FFB703"/>
            </a:solidFill>
          </a:ln>
        </p:spPr>
        <p:txBody>
          <a:bodyPr wrap="square" lIns="0" tIns="0" rIns="0" bIns="0" rtlCol="0" anchor="ctr"/>
          <a:lstStyle/>
          <a:p>
            <a:pPr algn="ctr" indent="0" marL="0">
              <a:buNone/>
            </a:pPr>
            <a:r>
              <a:rPr lang="en-US" sz="1600" b="1" dirty="0">
                <a:solidFill>
                  <a:srgbClr val="FFB703"/>
                </a:solidFill>
                <a:latin typeface="Arial" pitchFamily="34" charset="0"/>
                <a:ea typeface="Arial" pitchFamily="34" charset="-122"/>
                <a:cs typeface="Arial" pitchFamily="34" charset="-120"/>
              </a:rPr>
              <a:t>2</a:t>
            </a:r>
            <a:endParaRPr lang="en-US" sz="1600" dirty="0"/>
          </a:p>
        </p:txBody>
      </p:sp>
      <p:sp>
        <p:nvSpPr>
          <p:cNvPr id="33" name="Text 30"/>
          <p:cNvSpPr txBox="1"/>
          <p:nvPr/>
        </p:nvSpPr>
        <p:spPr>
          <a:xfrm>
            <a:off x="4604004" y="5212080"/>
            <a:ext cx="2980944" cy="914400"/>
          </a:xfrm>
          <a:prstGeom prst="rect">
            <a:avLst/>
          </a:prstGeom>
          <a:noFill/>
          <a:ln/>
        </p:spPr>
        <p:txBody>
          <a:bodyPr wrap="square" lIns="0" tIns="0" rIns="0" bIns="0" rtlCol="0" anchor="t"/>
          <a:lstStyle/>
          <a:p>
            <a:pPr indent="0" marL="0">
              <a:buNone/>
            </a:pPr>
            <a:r>
              <a:rPr lang="en-US" sz="1800" b="1" dirty="0">
                <a:solidFill>
                  <a:srgbClr val="F1F4FB"/>
                </a:solidFill>
                <a:latin typeface="Arial" pitchFamily="34" charset="0"/>
                <a:ea typeface="Arial" pitchFamily="34" charset="-122"/>
                <a:cs typeface="Arial" pitchFamily="34" charset="-120"/>
              </a:rPr>
              <a:t>Validate</a:t>
            </a:r>
            <a:endParaRPr lang="en-US" sz="1800" dirty="0"/>
          </a:p>
          <a:p>
            <a:pPr indent="0" marL="0">
              <a:spcBef>
                <a:spcPts val="800"/>
              </a:spcBef>
              <a:buNone/>
            </a:pPr>
            <a:r>
              <a:rPr lang="en-US" sz="1300" dirty="0">
                <a:solidFill>
                  <a:srgbClr val="B9C2D6"/>
                </a:solidFill>
                <a:latin typeface="Arial" pitchFamily="34" charset="0"/>
                <a:ea typeface="Arial" pitchFamily="34" charset="-122"/>
                <a:cs typeface="Arial" pitchFamily="34" charset="-120"/>
              </a:rPr>
              <a:t>Four rolling checks of about three months each compare the models and tune them.</a:t>
            </a:r>
            <a:endParaRPr lang="en-US" sz="1800" dirty="0"/>
          </a:p>
        </p:txBody>
      </p:sp>
      <p:sp>
        <p:nvSpPr>
          <p:cNvPr id="34" name="Shape 31"/>
          <p:cNvSpPr/>
          <p:nvPr/>
        </p:nvSpPr>
        <p:spPr>
          <a:xfrm>
            <a:off x="8074152" y="4572000"/>
            <a:ext cx="3383280" cy="1691640"/>
          </a:xfrm>
          <a:prstGeom prst="roundRect">
            <a:avLst>
              <a:gd name="adj" fmla="val 6486"/>
            </a:avLst>
          </a:prstGeom>
          <a:solidFill>
            <a:srgbClr val="161E36"/>
          </a:solidFill>
          <a:ln w="12700">
            <a:solidFill>
              <a:srgbClr val="2A3350"/>
            </a:solidFill>
            <a:prstDash val="solid"/>
          </a:ln>
        </p:spPr>
      </p:sp>
      <p:sp>
        <p:nvSpPr>
          <p:cNvPr id="35" name="Text 32"/>
          <p:cNvSpPr txBox="1"/>
          <p:nvPr/>
        </p:nvSpPr>
        <p:spPr>
          <a:xfrm>
            <a:off x="8275320" y="4773168"/>
            <a:ext cx="457200" cy="457200"/>
          </a:xfrm>
          <a:prstGeom prst="ellipse">
            <a:avLst/>
          </a:prstGeom>
          <a:solidFill>
            <a:srgbClr val="0B1226"/>
          </a:solidFill>
          <a:ln w="25400">
            <a:solidFill>
              <a:srgbClr val="FFB703"/>
            </a:solidFill>
          </a:ln>
        </p:spPr>
        <p:txBody>
          <a:bodyPr wrap="square" lIns="0" tIns="0" rIns="0" bIns="0" rtlCol="0" anchor="ctr"/>
          <a:lstStyle/>
          <a:p>
            <a:pPr algn="ctr" indent="0" marL="0">
              <a:buNone/>
            </a:pPr>
            <a:r>
              <a:rPr lang="en-US" sz="1600" b="1" dirty="0">
                <a:solidFill>
                  <a:srgbClr val="FFB703"/>
                </a:solidFill>
                <a:latin typeface="Arial" pitchFamily="34" charset="0"/>
                <a:ea typeface="Arial" pitchFamily="34" charset="-122"/>
                <a:cs typeface="Arial" pitchFamily="34" charset="-120"/>
              </a:rPr>
              <a:t>3</a:t>
            </a:r>
            <a:endParaRPr lang="en-US" sz="1600" dirty="0"/>
          </a:p>
        </p:txBody>
      </p:sp>
      <p:sp>
        <p:nvSpPr>
          <p:cNvPr id="36" name="Text 33"/>
          <p:cNvSpPr txBox="1"/>
          <p:nvPr/>
        </p:nvSpPr>
        <p:spPr>
          <a:xfrm>
            <a:off x="8275320" y="5212080"/>
            <a:ext cx="2980944" cy="914400"/>
          </a:xfrm>
          <a:prstGeom prst="rect">
            <a:avLst/>
          </a:prstGeom>
          <a:noFill/>
          <a:ln/>
        </p:spPr>
        <p:txBody>
          <a:bodyPr wrap="square" lIns="0" tIns="0" rIns="0" bIns="0" rtlCol="0" anchor="t"/>
          <a:lstStyle/>
          <a:p>
            <a:pPr indent="0" marL="0">
              <a:buNone/>
            </a:pPr>
            <a:r>
              <a:rPr lang="en-US" sz="1800" b="1" dirty="0">
                <a:solidFill>
                  <a:srgbClr val="F1F4FB"/>
                </a:solidFill>
                <a:latin typeface="Arial" pitchFamily="34" charset="0"/>
                <a:ea typeface="Arial" pitchFamily="34" charset="-122"/>
                <a:cs typeface="Arial" pitchFamily="34" charset="-120"/>
              </a:rPr>
              <a:t>Test</a:t>
            </a:r>
            <a:endParaRPr lang="en-US" sz="1800" dirty="0"/>
          </a:p>
          <a:p>
            <a:pPr indent="0" marL="0">
              <a:spcBef>
                <a:spcPts val="800"/>
              </a:spcBef>
              <a:buNone/>
            </a:pPr>
            <a:r>
              <a:rPr lang="en-US" sz="1300" dirty="0">
                <a:solidFill>
                  <a:srgbClr val="B9C2D6"/>
                </a:solidFill>
                <a:latin typeface="Arial" pitchFamily="34" charset="0"/>
                <a:ea typeface="Arial" pitchFamily="34" charset="-122"/>
                <a:cs typeface="Arial" pitchFamily="34" charset="-120"/>
              </a:rPr>
              <a:t>The latest 191 days (April 10 to October 17, 2026), scored once at the end. No winter, so winter is judged in validation.</a:t>
            </a:r>
            <a:endParaRPr lang="en-US" sz="18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WHAT COMES NEXT</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We choose models </a:t>
            </a:r>
            <a:pPr indent="0" marL="0">
              <a:buNone/>
            </a:pPr>
            <a:r>
              <a:rPr lang="en-US" sz="3200" b="1" dirty="0">
                <a:solidFill>
                  <a:srgbClr val="FFB703"/>
                </a:solidFill>
                <a:latin typeface="Arial" pitchFamily="34" charset="0"/>
                <a:ea typeface="Arial" pitchFamily="34" charset="-122"/>
                <a:cs typeface="Arial" pitchFamily="34" charset="-120"/>
              </a:rPr>
              <a:t>after</a:t>
            </a:r>
            <a:pPr indent="0" marL="0">
              <a:buNone/>
            </a:pPr>
            <a:r>
              <a:rPr lang="en-US" sz="3200" b="1" dirty="0">
                <a:solidFill>
                  <a:srgbClr val="F1F4FB"/>
                </a:solidFill>
                <a:latin typeface="Arial" pitchFamily="34" charset="0"/>
                <a:ea typeface="Arial" pitchFamily="34" charset="-122"/>
                <a:cs typeface="Arial" pitchFamily="34" charset="-120"/>
              </a:rPr>
              <a:t> we see the data</a:t>
            </a:r>
            <a:endParaRPr lang="en-US" sz="3200" dirty="0"/>
          </a:p>
        </p:txBody>
      </p:sp>
      <p:sp>
        <p:nvSpPr>
          <p:cNvPr id="5" name="Shape 2"/>
          <p:cNvSpPr/>
          <p:nvPr/>
        </p:nvSpPr>
        <p:spPr>
          <a:xfrm>
            <a:off x="731520" y="1828800"/>
            <a:ext cx="2331720" cy="1371600"/>
          </a:xfrm>
          <a:prstGeom prst="roundRect">
            <a:avLst>
              <a:gd name="adj" fmla="val 8000"/>
            </a:avLst>
          </a:prstGeom>
          <a:solidFill>
            <a:srgbClr val="161E36"/>
          </a:solidFill>
          <a:ln w="12700">
            <a:solidFill>
              <a:srgbClr val="2A3350"/>
            </a:solidFill>
            <a:prstDash val="solid"/>
          </a:ln>
        </p:spPr>
      </p:sp>
      <p:sp>
        <p:nvSpPr>
          <p:cNvPr id="6" name="Text 3"/>
          <p:cNvSpPr txBox="1"/>
          <p:nvPr/>
        </p:nvSpPr>
        <p:spPr>
          <a:xfrm>
            <a:off x="914400" y="1938528"/>
            <a:ext cx="1965960" cy="1152144"/>
          </a:xfrm>
          <a:prstGeom prst="rect">
            <a:avLst/>
          </a:prstGeom>
          <a:noFill/>
          <a:ln/>
        </p:spPr>
        <p:txBody>
          <a:bodyPr wrap="square" lIns="0" tIns="0" rIns="0" bIns="0" rtlCol="0" anchor="ctr"/>
          <a:lstStyle/>
          <a:p>
            <a:pPr indent="0" marL="0">
              <a:buNone/>
            </a:pPr>
            <a:r>
              <a:rPr lang="en-US" sz="1050" b="1" spc="200" kern="0" dirty="0">
                <a:solidFill>
                  <a:srgbClr val="8893AB"/>
                </a:solidFill>
                <a:latin typeface="Arial" pitchFamily="34" charset="0"/>
                <a:ea typeface="Arial" pitchFamily="34" charset="-122"/>
                <a:cs typeface="Arial" pitchFamily="34" charset="-120"/>
              </a:rPr>
              <a:t>STEP 1</a:t>
            </a:r>
            <a:endParaRPr lang="en-US" sz="1050" dirty="0"/>
          </a:p>
          <a:p>
            <a:pPr indent="0" marL="0">
              <a:spcBef>
                <a:spcPts val="400"/>
              </a:spcBef>
              <a:buNone/>
            </a:pPr>
            <a:r>
              <a:rPr lang="en-US" sz="1700" b="1" dirty="0">
                <a:solidFill>
                  <a:srgbClr val="F1F4FB"/>
                </a:solidFill>
                <a:latin typeface="Arial" pitchFamily="34" charset="0"/>
                <a:ea typeface="Arial" pitchFamily="34" charset="-122"/>
                <a:cs typeface="Arial" pitchFamily="34" charset="-120"/>
              </a:rPr>
              <a:t>Score the two reference forecasts</a:t>
            </a:r>
            <a:endParaRPr lang="en-US" sz="1050" dirty="0"/>
          </a:p>
        </p:txBody>
      </p:sp>
      <p:sp>
        <p:nvSpPr>
          <p:cNvPr id="7" name="Text 4"/>
          <p:cNvSpPr txBox="1"/>
          <p:nvPr/>
        </p:nvSpPr>
        <p:spPr>
          <a:xfrm>
            <a:off x="3063240" y="1828800"/>
            <a:ext cx="457200" cy="1371600"/>
          </a:xfrm>
          <a:prstGeom prst="rect">
            <a:avLst/>
          </a:prstGeom>
          <a:noFill/>
          <a:ln/>
        </p:spPr>
        <p:txBody>
          <a:bodyPr wrap="square" lIns="0" tIns="0" rIns="0" bIns="0" rtlCol="0" anchor="ctr"/>
          <a:lstStyle/>
          <a:p>
            <a:pPr algn="ctr" indent="0" marL="0">
              <a:buNone/>
            </a:pPr>
            <a:r>
              <a:rPr lang="en-US" sz="2400" b="1" dirty="0">
                <a:solidFill>
                  <a:srgbClr val="FFB703"/>
                </a:solidFill>
                <a:latin typeface="Arial" pitchFamily="34" charset="0"/>
                <a:ea typeface="Arial" pitchFamily="34" charset="-122"/>
                <a:cs typeface="Arial" pitchFamily="34" charset="-120"/>
              </a:rPr>
              <a:t>→</a:t>
            </a:r>
            <a:endParaRPr lang="en-US" sz="2400" dirty="0"/>
          </a:p>
        </p:txBody>
      </p:sp>
      <p:sp>
        <p:nvSpPr>
          <p:cNvPr id="8" name="Shape 5"/>
          <p:cNvSpPr/>
          <p:nvPr/>
        </p:nvSpPr>
        <p:spPr>
          <a:xfrm>
            <a:off x="3520440" y="1828800"/>
            <a:ext cx="2331720" cy="1371600"/>
          </a:xfrm>
          <a:prstGeom prst="roundRect">
            <a:avLst>
              <a:gd name="adj" fmla="val 8000"/>
            </a:avLst>
          </a:prstGeom>
          <a:solidFill>
            <a:srgbClr val="161E36"/>
          </a:solidFill>
          <a:ln w="12700">
            <a:solidFill>
              <a:srgbClr val="2A3350"/>
            </a:solidFill>
            <a:prstDash val="solid"/>
          </a:ln>
        </p:spPr>
      </p:sp>
      <p:sp>
        <p:nvSpPr>
          <p:cNvPr id="9" name="Text 6"/>
          <p:cNvSpPr txBox="1"/>
          <p:nvPr/>
        </p:nvSpPr>
        <p:spPr>
          <a:xfrm>
            <a:off x="3703320" y="1938528"/>
            <a:ext cx="1965960" cy="1152144"/>
          </a:xfrm>
          <a:prstGeom prst="rect">
            <a:avLst/>
          </a:prstGeom>
          <a:noFill/>
          <a:ln/>
        </p:spPr>
        <p:txBody>
          <a:bodyPr wrap="square" lIns="0" tIns="0" rIns="0" bIns="0" rtlCol="0" anchor="ctr"/>
          <a:lstStyle/>
          <a:p>
            <a:pPr indent="0" marL="0">
              <a:buNone/>
            </a:pPr>
            <a:r>
              <a:rPr lang="en-US" sz="1050" b="1" spc="200" kern="0" dirty="0">
                <a:solidFill>
                  <a:srgbClr val="8893AB"/>
                </a:solidFill>
                <a:latin typeface="Arial" pitchFamily="34" charset="0"/>
                <a:ea typeface="Arial" pitchFamily="34" charset="-122"/>
                <a:cs typeface="Arial" pitchFamily="34" charset="-120"/>
              </a:rPr>
              <a:t>STEP 2</a:t>
            </a:r>
            <a:endParaRPr lang="en-US" sz="1050" dirty="0"/>
          </a:p>
          <a:p>
            <a:pPr indent="0" marL="0">
              <a:spcBef>
                <a:spcPts val="400"/>
              </a:spcBef>
              <a:buNone/>
            </a:pPr>
            <a:r>
              <a:rPr lang="en-US" sz="1700" b="1" dirty="0">
                <a:solidFill>
                  <a:srgbClr val="F1F4FB"/>
                </a:solidFill>
                <a:latin typeface="Arial" pitchFamily="34" charset="0"/>
                <a:ea typeface="Arial" pitchFamily="34" charset="-122"/>
                <a:cs typeface="Arial" pitchFamily="34" charset="-120"/>
              </a:rPr>
              <a:t>Explore the data</a:t>
            </a:r>
            <a:endParaRPr lang="en-US" sz="1050" dirty="0"/>
          </a:p>
        </p:txBody>
      </p:sp>
      <p:sp>
        <p:nvSpPr>
          <p:cNvPr id="10" name="Text 7"/>
          <p:cNvSpPr txBox="1"/>
          <p:nvPr/>
        </p:nvSpPr>
        <p:spPr>
          <a:xfrm>
            <a:off x="5852160" y="1828800"/>
            <a:ext cx="457200" cy="1371600"/>
          </a:xfrm>
          <a:prstGeom prst="rect">
            <a:avLst/>
          </a:prstGeom>
          <a:noFill/>
          <a:ln/>
        </p:spPr>
        <p:txBody>
          <a:bodyPr wrap="square" lIns="0" tIns="0" rIns="0" bIns="0" rtlCol="0" anchor="ctr"/>
          <a:lstStyle/>
          <a:p>
            <a:pPr algn="ctr" indent="0" marL="0">
              <a:buNone/>
            </a:pPr>
            <a:r>
              <a:rPr lang="en-US" sz="2400" b="1" dirty="0">
                <a:solidFill>
                  <a:srgbClr val="FFB703"/>
                </a:solidFill>
                <a:latin typeface="Arial" pitchFamily="34" charset="0"/>
                <a:ea typeface="Arial" pitchFamily="34" charset="-122"/>
                <a:cs typeface="Arial" pitchFamily="34" charset="-120"/>
              </a:rPr>
              <a:t>→</a:t>
            </a:r>
            <a:endParaRPr lang="en-US" sz="2400" dirty="0"/>
          </a:p>
        </p:txBody>
      </p:sp>
      <p:sp>
        <p:nvSpPr>
          <p:cNvPr id="11" name="Shape 8"/>
          <p:cNvSpPr/>
          <p:nvPr/>
        </p:nvSpPr>
        <p:spPr>
          <a:xfrm>
            <a:off x="6309360" y="1828800"/>
            <a:ext cx="2331720" cy="1371600"/>
          </a:xfrm>
          <a:prstGeom prst="roundRect">
            <a:avLst>
              <a:gd name="adj" fmla="val 8000"/>
            </a:avLst>
          </a:prstGeom>
          <a:solidFill>
            <a:srgbClr val="161E36"/>
          </a:solidFill>
          <a:ln w="12700">
            <a:solidFill>
              <a:srgbClr val="2A3350"/>
            </a:solidFill>
            <a:prstDash val="solid"/>
          </a:ln>
        </p:spPr>
      </p:sp>
      <p:sp>
        <p:nvSpPr>
          <p:cNvPr id="12" name="Text 9"/>
          <p:cNvSpPr txBox="1"/>
          <p:nvPr/>
        </p:nvSpPr>
        <p:spPr>
          <a:xfrm>
            <a:off x="6492240" y="1938528"/>
            <a:ext cx="1965960" cy="1152144"/>
          </a:xfrm>
          <a:prstGeom prst="rect">
            <a:avLst/>
          </a:prstGeom>
          <a:noFill/>
          <a:ln/>
        </p:spPr>
        <p:txBody>
          <a:bodyPr wrap="square" lIns="0" tIns="0" rIns="0" bIns="0" rtlCol="0" anchor="ctr"/>
          <a:lstStyle/>
          <a:p>
            <a:pPr indent="0" marL="0">
              <a:buNone/>
            </a:pPr>
            <a:r>
              <a:rPr lang="en-US" sz="1050" b="1" spc="200" kern="0" dirty="0">
                <a:solidFill>
                  <a:srgbClr val="8893AB"/>
                </a:solidFill>
                <a:latin typeface="Arial" pitchFamily="34" charset="0"/>
                <a:ea typeface="Arial" pitchFamily="34" charset="-122"/>
                <a:cs typeface="Arial" pitchFamily="34" charset="-120"/>
              </a:rPr>
              <a:t>STEP 3</a:t>
            </a:r>
            <a:endParaRPr lang="en-US" sz="1050" dirty="0"/>
          </a:p>
          <a:p>
            <a:pPr indent="0" marL="0">
              <a:spcBef>
                <a:spcPts val="400"/>
              </a:spcBef>
              <a:buNone/>
            </a:pPr>
            <a:r>
              <a:rPr lang="en-US" sz="1700" b="1" dirty="0">
                <a:solidFill>
                  <a:srgbClr val="F1F4FB"/>
                </a:solidFill>
                <a:latin typeface="Arial" pitchFamily="34" charset="0"/>
                <a:ea typeface="Arial" pitchFamily="34" charset="-122"/>
                <a:cs typeface="Arial" pitchFamily="34" charset="-120"/>
              </a:rPr>
              <a:t>Shortlist candidate models</a:t>
            </a:r>
            <a:endParaRPr lang="en-US" sz="1050" dirty="0"/>
          </a:p>
        </p:txBody>
      </p:sp>
      <p:sp>
        <p:nvSpPr>
          <p:cNvPr id="13" name="Text 10"/>
          <p:cNvSpPr txBox="1"/>
          <p:nvPr/>
        </p:nvSpPr>
        <p:spPr>
          <a:xfrm>
            <a:off x="8641080" y="1828800"/>
            <a:ext cx="457200" cy="1371600"/>
          </a:xfrm>
          <a:prstGeom prst="rect">
            <a:avLst/>
          </a:prstGeom>
          <a:noFill/>
          <a:ln/>
        </p:spPr>
        <p:txBody>
          <a:bodyPr wrap="square" lIns="0" tIns="0" rIns="0" bIns="0" rtlCol="0" anchor="ctr"/>
          <a:lstStyle/>
          <a:p>
            <a:pPr algn="ctr" indent="0" marL="0">
              <a:buNone/>
            </a:pPr>
            <a:r>
              <a:rPr lang="en-US" sz="2400" b="1" dirty="0">
                <a:solidFill>
                  <a:srgbClr val="FFB703"/>
                </a:solidFill>
                <a:latin typeface="Arial" pitchFamily="34" charset="0"/>
                <a:ea typeface="Arial" pitchFamily="34" charset="-122"/>
                <a:cs typeface="Arial" pitchFamily="34" charset="-120"/>
              </a:rPr>
              <a:t>→</a:t>
            </a:r>
            <a:endParaRPr lang="en-US" sz="2400" dirty="0"/>
          </a:p>
        </p:txBody>
      </p:sp>
      <p:sp>
        <p:nvSpPr>
          <p:cNvPr id="14" name="Shape 11"/>
          <p:cNvSpPr/>
          <p:nvPr/>
        </p:nvSpPr>
        <p:spPr>
          <a:xfrm>
            <a:off x="9098280" y="1828800"/>
            <a:ext cx="2331720" cy="1371600"/>
          </a:xfrm>
          <a:prstGeom prst="roundRect">
            <a:avLst>
              <a:gd name="adj" fmla="val 8000"/>
            </a:avLst>
          </a:prstGeom>
          <a:solidFill>
            <a:srgbClr val="2A2410"/>
          </a:solidFill>
          <a:ln w="19050">
            <a:solidFill>
              <a:srgbClr val="FFB703"/>
            </a:solidFill>
            <a:prstDash val="solid"/>
          </a:ln>
        </p:spPr>
      </p:sp>
      <p:sp>
        <p:nvSpPr>
          <p:cNvPr id="15" name="Text 12"/>
          <p:cNvSpPr txBox="1"/>
          <p:nvPr/>
        </p:nvSpPr>
        <p:spPr>
          <a:xfrm>
            <a:off x="9281160" y="1938528"/>
            <a:ext cx="1965960" cy="1152144"/>
          </a:xfrm>
          <a:prstGeom prst="rect">
            <a:avLst/>
          </a:prstGeom>
          <a:noFill/>
          <a:ln/>
        </p:spPr>
        <p:txBody>
          <a:bodyPr wrap="square" lIns="0" tIns="0" rIns="0" bIns="0" rtlCol="0" anchor="ctr"/>
          <a:lstStyle/>
          <a:p>
            <a:pPr indent="0" marL="0">
              <a:buNone/>
            </a:pPr>
            <a:r>
              <a:rPr lang="en-US" sz="1050" b="1" spc="200" kern="0" dirty="0">
                <a:solidFill>
                  <a:srgbClr val="8893AB"/>
                </a:solidFill>
                <a:latin typeface="Arial" pitchFamily="34" charset="0"/>
                <a:ea typeface="Arial" pitchFamily="34" charset="-122"/>
                <a:cs typeface="Arial" pitchFamily="34" charset="-120"/>
              </a:rPr>
              <a:t>STEP 4</a:t>
            </a:r>
            <a:endParaRPr lang="en-US" sz="1050" dirty="0"/>
          </a:p>
          <a:p>
            <a:pPr indent="0" marL="0">
              <a:spcBef>
                <a:spcPts val="400"/>
              </a:spcBef>
              <a:buNone/>
            </a:pPr>
            <a:r>
              <a:rPr lang="en-US" sz="1700" b="1" dirty="0">
                <a:solidFill>
                  <a:srgbClr val="F1F4FB"/>
                </a:solidFill>
                <a:latin typeface="Arial" pitchFamily="34" charset="0"/>
                <a:ea typeface="Arial" pitchFamily="34" charset="-122"/>
                <a:cs typeface="Arial" pitchFamily="34" charset="-120"/>
              </a:rPr>
              <a:t>Compare on the same folds</a:t>
            </a:r>
            <a:endParaRPr lang="en-US" sz="1050" dirty="0"/>
          </a:p>
        </p:txBody>
      </p:sp>
      <p:sp>
        <p:nvSpPr>
          <p:cNvPr id="16" name="Shape 13"/>
          <p:cNvSpPr/>
          <p:nvPr/>
        </p:nvSpPr>
        <p:spPr>
          <a:xfrm>
            <a:off x="731520" y="3657600"/>
            <a:ext cx="3383280" cy="1737360"/>
          </a:xfrm>
          <a:prstGeom prst="roundRect">
            <a:avLst>
              <a:gd name="adj" fmla="val 6316"/>
            </a:avLst>
          </a:prstGeom>
          <a:solidFill>
            <a:srgbClr val="161E36"/>
          </a:solidFill>
          <a:ln w="12700">
            <a:solidFill>
              <a:srgbClr val="2A3350"/>
            </a:solidFill>
            <a:prstDash val="solid"/>
          </a:ln>
        </p:spPr>
      </p:sp>
      <p:sp>
        <p:nvSpPr>
          <p:cNvPr id="17" name="Text 14"/>
          <p:cNvSpPr txBox="1"/>
          <p:nvPr/>
        </p:nvSpPr>
        <p:spPr>
          <a:xfrm>
            <a:off x="960120" y="3822192"/>
            <a:ext cx="2926080" cy="27432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JUDGED ON</a:t>
            </a:r>
            <a:endParaRPr lang="en-US" sz="1100" dirty="0"/>
          </a:p>
        </p:txBody>
      </p:sp>
      <p:sp>
        <p:nvSpPr>
          <p:cNvPr id="18" name="Text 15"/>
          <p:cNvSpPr txBox="1"/>
          <p:nvPr/>
        </p:nvSpPr>
        <p:spPr>
          <a:xfrm>
            <a:off x="960120" y="4206240"/>
            <a:ext cx="2926080" cy="1051560"/>
          </a:xfrm>
          <a:prstGeom prst="rect">
            <a:avLst/>
          </a:prstGeom>
          <a:noFill/>
          <a:ln/>
        </p:spPr>
        <p:txBody>
          <a:bodyPr wrap="square" lIns="0" tIns="0" rIns="0" bIns="0" rtlCol="0" anchor="t"/>
          <a:lstStyle/>
          <a:p>
            <a:pPr indent="0" marL="0">
              <a:buNone/>
            </a:pPr>
            <a:r>
              <a:rPr lang="en-US" sz="2000" b="1" dirty="0">
                <a:solidFill>
                  <a:srgbClr val="F1F4FB"/>
                </a:solidFill>
                <a:latin typeface="Arial" pitchFamily="34" charset="0"/>
                <a:ea typeface="Arial" pitchFamily="34" charset="-122"/>
                <a:cs typeface="Arial" pitchFamily="34" charset="-120"/>
              </a:rPr>
              <a:t>Average miss compared with CAISO</a:t>
            </a:r>
            <a:endParaRPr lang="en-US" sz="2000" dirty="0"/>
          </a:p>
        </p:txBody>
      </p:sp>
      <p:sp>
        <p:nvSpPr>
          <p:cNvPr id="19" name="Shape 16"/>
          <p:cNvSpPr/>
          <p:nvPr/>
        </p:nvSpPr>
        <p:spPr>
          <a:xfrm>
            <a:off x="4402836" y="3657600"/>
            <a:ext cx="3383280" cy="1737360"/>
          </a:xfrm>
          <a:prstGeom prst="roundRect">
            <a:avLst>
              <a:gd name="adj" fmla="val 6316"/>
            </a:avLst>
          </a:prstGeom>
          <a:solidFill>
            <a:srgbClr val="161E36"/>
          </a:solidFill>
          <a:ln w="12700">
            <a:solidFill>
              <a:srgbClr val="2A3350"/>
            </a:solidFill>
            <a:prstDash val="solid"/>
          </a:ln>
        </p:spPr>
      </p:sp>
      <p:sp>
        <p:nvSpPr>
          <p:cNvPr id="20" name="Text 17"/>
          <p:cNvSpPr txBox="1"/>
          <p:nvPr/>
        </p:nvSpPr>
        <p:spPr>
          <a:xfrm>
            <a:off x="4631436" y="3822192"/>
            <a:ext cx="2926080" cy="27432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JUDGED ON</a:t>
            </a:r>
            <a:endParaRPr lang="en-US" sz="1100" dirty="0"/>
          </a:p>
        </p:txBody>
      </p:sp>
      <p:sp>
        <p:nvSpPr>
          <p:cNvPr id="21" name="Text 18"/>
          <p:cNvSpPr txBox="1"/>
          <p:nvPr/>
        </p:nvSpPr>
        <p:spPr>
          <a:xfrm>
            <a:off x="4631436" y="4206240"/>
            <a:ext cx="2926080" cy="1051560"/>
          </a:xfrm>
          <a:prstGeom prst="rect">
            <a:avLst/>
          </a:prstGeom>
          <a:noFill/>
          <a:ln/>
        </p:spPr>
        <p:txBody>
          <a:bodyPr wrap="square" lIns="0" tIns="0" rIns="0" bIns="0" rtlCol="0" anchor="t"/>
          <a:lstStyle/>
          <a:p>
            <a:pPr indent="0" marL="0">
              <a:buNone/>
            </a:pPr>
            <a:r>
              <a:rPr lang="en-US" sz="2000" b="1" dirty="0">
                <a:solidFill>
                  <a:srgbClr val="F1F4FB"/>
                </a:solidFill>
                <a:latin typeface="Arial" pitchFamily="34" charset="0"/>
                <a:ea typeface="Arial" pitchFamily="34" charset="-122"/>
                <a:cs typeface="Arial" pitchFamily="34" charset="-120"/>
              </a:rPr>
              <a:t>Worst-case overshoot, which drives backup power</a:t>
            </a:r>
            <a:endParaRPr lang="en-US" sz="2000" dirty="0"/>
          </a:p>
        </p:txBody>
      </p:sp>
      <p:sp>
        <p:nvSpPr>
          <p:cNvPr id="22" name="Shape 19"/>
          <p:cNvSpPr/>
          <p:nvPr/>
        </p:nvSpPr>
        <p:spPr>
          <a:xfrm>
            <a:off x="8074152" y="3657600"/>
            <a:ext cx="3383280" cy="1737360"/>
          </a:xfrm>
          <a:prstGeom prst="roundRect">
            <a:avLst>
              <a:gd name="adj" fmla="val 6316"/>
            </a:avLst>
          </a:prstGeom>
          <a:solidFill>
            <a:srgbClr val="161E36"/>
          </a:solidFill>
          <a:ln w="12700">
            <a:solidFill>
              <a:srgbClr val="2A3350"/>
            </a:solidFill>
            <a:prstDash val="solid"/>
          </a:ln>
        </p:spPr>
      </p:sp>
      <p:sp>
        <p:nvSpPr>
          <p:cNvPr id="23" name="Text 20"/>
          <p:cNvSpPr txBox="1"/>
          <p:nvPr/>
        </p:nvSpPr>
        <p:spPr>
          <a:xfrm>
            <a:off x="8302752" y="3822192"/>
            <a:ext cx="2926080" cy="274320"/>
          </a:xfrm>
          <a:prstGeom prst="rect">
            <a:avLst/>
          </a:prstGeom>
          <a:noFill/>
          <a:ln/>
        </p:spPr>
        <p:txBody>
          <a:bodyPr wrap="square" lIns="0" tIns="0" rIns="0" bIns="0" rtlCol="0" anchor="ctr"/>
          <a:lstStyle/>
          <a:p>
            <a:pPr indent="0" marL="0">
              <a:buNone/>
            </a:pPr>
            <a:r>
              <a:rPr lang="en-US" sz="1100" b="1" spc="200" kern="0" dirty="0">
                <a:solidFill>
                  <a:srgbClr val="8893AB"/>
                </a:solidFill>
                <a:latin typeface="Arial" pitchFamily="34" charset="0"/>
                <a:ea typeface="Arial" pitchFamily="34" charset="-122"/>
                <a:cs typeface="Arial" pitchFamily="34" charset="-120"/>
              </a:rPr>
              <a:t>JUDGED ON</a:t>
            </a:r>
            <a:endParaRPr lang="en-US" sz="1100" dirty="0"/>
          </a:p>
        </p:txBody>
      </p:sp>
      <p:sp>
        <p:nvSpPr>
          <p:cNvPr id="24" name="Text 21"/>
          <p:cNvSpPr txBox="1"/>
          <p:nvPr/>
        </p:nvSpPr>
        <p:spPr>
          <a:xfrm>
            <a:off x="8302752" y="4206240"/>
            <a:ext cx="2926080" cy="1051560"/>
          </a:xfrm>
          <a:prstGeom prst="rect">
            <a:avLst/>
          </a:prstGeom>
          <a:noFill/>
          <a:ln/>
        </p:spPr>
        <p:txBody>
          <a:bodyPr wrap="square" lIns="0" tIns="0" rIns="0" bIns="0" rtlCol="0" anchor="t"/>
          <a:lstStyle/>
          <a:p>
            <a:pPr indent="0" marL="0">
              <a:buNone/>
            </a:pPr>
            <a:r>
              <a:rPr lang="en-US" sz="2000" b="1" dirty="0">
                <a:solidFill>
                  <a:srgbClr val="F1F4FB"/>
                </a:solidFill>
                <a:latin typeface="Arial" pitchFamily="34" charset="0"/>
                <a:ea typeface="Arial" pitchFamily="34" charset="-122"/>
                <a:cs typeface="Arial" pitchFamily="34" charset="-120"/>
              </a:rPr>
              <a:t>How easily we can explain it</a:t>
            </a:r>
            <a:endParaRPr lang="en-US" sz="2000" dirty="0"/>
          </a:p>
        </p:txBody>
      </p:sp>
      <p:sp>
        <p:nvSpPr>
          <p:cNvPr id="25" name="Text 22"/>
          <p:cNvSpPr txBox="1"/>
          <p:nvPr/>
        </p:nvSpPr>
        <p:spPr>
          <a:xfrm>
            <a:off x="731520" y="6355080"/>
            <a:ext cx="9692640" cy="320040"/>
          </a:xfrm>
          <a:prstGeom prst="rect">
            <a:avLst/>
          </a:prstGeom>
          <a:noFill/>
          <a:ln/>
        </p:spPr>
        <p:txBody>
          <a:bodyPr wrap="square" lIns="0" tIns="0" rIns="0" bIns="0" rtlCol="0" anchor="ctr"/>
          <a:lstStyle/>
          <a:p>
            <a:pPr indent="0" marL="0">
              <a:buNone/>
            </a:pPr>
            <a:r>
              <a:rPr lang="en-US" sz="1100" dirty="0">
                <a:solidFill>
                  <a:srgbClr val="8893AB"/>
                </a:solidFill>
                <a:latin typeface="Arial" pitchFamily="34" charset="0"/>
                <a:ea typeface="Arial" pitchFamily="34" charset="-122"/>
                <a:cs typeface="Arial" pitchFamily="34" charset="-120"/>
              </a:rPr>
              <a:t>Step 1 is done: see the bar to beat.</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RISKS AND OPEN DECISIONS</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Four things we are </a:t>
            </a:r>
            <a:pPr indent="0" marL="0">
              <a:buNone/>
            </a:pPr>
            <a:r>
              <a:rPr lang="en-US" sz="3200" b="1" dirty="0">
                <a:solidFill>
                  <a:srgbClr val="FFB703"/>
                </a:solidFill>
                <a:latin typeface="Arial" pitchFamily="34" charset="0"/>
                <a:ea typeface="Arial" pitchFamily="34" charset="-122"/>
                <a:cs typeface="Arial" pitchFamily="34" charset="-120"/>
              </a:rPr>
              <a:t>watching</a:t>
            </a:r>
            <a:endParaRPr lang="en-US" sz="3200" dirty="0"/>
          </a:p>
        </p:txBody>
      </p:sp>
      <p:sp>
        <p:nvSpPr>
          <p:cNvPr id="5" name="Shape 2"/>
          <p:cNvSpPr/>
          <p:nvPr/>
        </p:nvSpPr>
        <p:spPr>
          <a:xfrm>
            <a:off x="731520" y="1645920"/>
            <a:ext cx="5212080" cy="2148840"/>
          </a:xfrm>
          <a:prstGeom prst="roundRect">
            <a:avLst>
              <a:gd name="adj" fmla="val 5106"/>
            </a:avLst>
          </a:prstGeom>
          <a:solidFill>
            <a:srgbClr val="161E36"/>
          </a:solidFill>
          <a:ln w="12700">
            <a:solidFill>
              <a:srgbClr val="2A3350"/>
            </a:solidFill>
            <a:prstDash val="solid"/>
          </a:ln>
        </p:spPr>
      </p:sp>
      <p:sp>
        <p:nvSpPr>
          <p:cNvPr id="6" name="Text 3"/>
          <p:cNvSpPr txBox="1"/>
          <p:nvPr/>
        </p:nvSpPr>
        <p:spPr>
          <a:xfrm>
            <a:off x="960120" y="1783080"/>
            <a:ext cx="4754880" cy="18745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SHORT HISTORY, NO WINTER IN THE TEST</a:t>
            </a:r>
            <a:endParaRPr lang="en-US" sz="1100" dirty="0"/>
          </a:p>
          <a:p>
            <a:pPr indent="0" marL="0">
              <a:spcBef>
                <a:spcPts val="400"/>
              </a:spcBef>
              <a:buNone/>
            </a:pPr>
            <a:r>
              <a:rPr lang="en-US" sz="1900" b="1" dirty="0">
                <a:solidFill>
                  <a:srgbClr val="F1F4FB"/>
                </a:solidFill>
                <a:latin typeface="Arial" pitchFamily="34" charset="0"/>
                <a:ea typeface="Arial" pitchFamily="34" charset="-122"/>
                <a:cs typeface="Arial" pitchFamily="34" charset="-120"/>
              </a:rPr>
              <a:t>About two and three-quarter years</a:t>
            </a:r>
            <a:endParaRPr lang="en-US" sz="1100" dirty="0"/>
          </a:p>
          <a:p>
            <a:pPr indent="0" marL="0">
              <a:spcBef>
                <a:spcPts val="600"/>
              </a:spcBef>
              <a:buNone/>
            </a:pPr>
            <a:r>
              <a:rPr lang="en-US" sz="1400" dirty="0">
                <a:solidFill>
                  <a:srgbClr val="B9C2D6"/>
                </a:solidFill>
                <a:latin typeface="Arial" pitchFamily="34" charset="0"/>
                <a:ea typeface="Arial" pitchFamily="34" charset="-122"/>
                <a:cs typeface="Arial" pitchFamily="34" charset="-120"/>
              </a:rPr>
              <a:t>Each calendar month appears two to three times. The test block runs April to October, so we judge winter in validation and say so plainly.</a:t>
            </a:r>
            <a:endParaRPr lang="en-US" sz="1100" dirty="0"/>
          </a:p>
        </p:txBody>
      </p:sp>
      <p:sp>
        <p:nvSpPr>
          <p:cNvPr id="7" name="Shape 4"/>
          <p:cNvSpPr/>
          <p:nvPr/>
        </p:nvSpPr>
        <p:spPr>
          <a:xfrm>
            <a:off x="6245352" y="1645920"/>
            <a:ext cx="5212080" cy="2148840"/>
          </a:xfrm>
          <a:prstGeom prst="roundRect">
            <a:avLst>
              <a:gd name="adj" fmla="val 5106"/>
            </a:avLst>
          </a:prstGeom>
          <a:solidFill>
            <a:srgbClr val="161E36"/>
          </a:solidFill>
          <a:ln w="12700">
            <a:solidFill>
              <a:srgbClr val="2A3350"/>
            </a:solidFill>
            <a:prstDash val="solid"/>
          </a:ln>
        </p:spPr>
      </p:sp>
      <p:sp>
        <p:nvSpPr>
          <p:cNvPr id="8" name="Text 5"/>
          <p:cNvSpPr txBox="1"/>
          <p:nvPr/>
        </p:nvSpPr>
        <p:spPr>
          <a:xfrm>
            <a:off x="6473952" y="1783080"/>
            <a:ext cx="4754880" cy="18745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WHICH YARDSTICK</a:t>
            </a:r>
            <a:endParaRPr lang="en-US" sz="1100" dirty="0"/>
          </a:p>
          <a:p>
            <a:pPr indent="0" marL="0">
              <a:spcBef>
                <a:spcPts val="400"/>
              </a:spcBef>
              <a:buNone/>
            </a:pPr>
            <a:r>
              <a:rPr lang="en-US" sz="1900" b="1" dirty="0">
                <a:solidFill>
                  <a:srgbClr val="F1F4FB"/>
                </a:solidFill>
                <a:latin typeface="Arial" pitchFamily="34" charset="0"/>
                <a:ea typeface="Arial" pitchFamily="34" charset="-122"/>
                <a:cs typeface="Arial" pitchFamily="34" charset="-120"/>
              </a:rPr>
              <a:t>CAISO's number depends on turned-down solar</a:t>
            </a:r>
            <a:endParaRPr lang="en-US" sz="1100" dirty="0"/>
          </a:p>
          <a:p>
            <a:pPr indent="0" marL="0">
              <a:spcBef>
                <a:spcPts val="600"/>
              </a:spcBef>
              <a:buNone/>
            </a:pPr>
            <a:r>
              <a:rPr lang="en-US" sz="1400" dirty="0">
                <a:solidFill>
                  <a:srgbClr val="B9C2D6"/>
                </a:solidFill>
                <a:latin typeface="Arial" pitchFamily="34" charset="0"/>
                <a:ea typeface="Arial" pitchFamily="34" charset="-122"/>
                <a:cs typeface="Arial" pitchFamily="34" charset="-120"/>
              </a:rPr>
              <a:t>Its miss is 5.7% as published and 3.7% with turned-down solar added back. We report both and fix the target before modeling.</a:t>
            </a:r>
            <a:endParaRPr lang="en-US" sz="1100" dirty="0"/>
          </a:p>
        </p:txBody>
      </p:sp>
      <p:sp>
        <p:nvSpPr>
          <p:cNvPr id="9" name="Shape 6"/>
          <p:cNvSpPr/>
          <p:nvPr/>
        </p:nvSpPr>
        <p:spPr>
          <a:xfrm>
            <a:off x="731520" y="4023360"/>
            <a:ext cx="5212080" cy="2148840"/>
          </a:xfrm>
          <a:prstGeom prst="roundRect">
            <a:avLst>
              <a:gd name="adj" fmla="val 5106"/>
            </a:avLst>
          </a:prstGeom>
          <a:solidFill>
            <a:srgbClr val="161E36"/>
          </a:solidFill>
          <a:ln w="12700">
            <a:solidFill>
              <a:srgbClr val="2A3350"/>
            </a:solidFill>
            <a:prstDash val="solid"/>
          </a:ln>
        </p:spPr>
      </p:sp>
      <p:sp>
        <p:nvSpPr>
          <p:cNvPr id="10" name="Text 7"/>
          <p:cNvSpPr txBox="1"/>
          <p:nvPr/>
        </p:nvSpPr>
        <p:spPr>
          <a:xfrm>
            <a:off x="960120" y="4160520"/>
            <a:ext cx="4754880" cy="18745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WEATHER TIMING</a:t>
            </a:r>
            <a:endParaRPr lang="en-US" sz="1100" dirty="0"/>
          </a:p>
          <a:p>
            <a:pPr indent="0" marL="0">
              <a:spcBef>
                <a:spcPts val="400"/>
              </a:spcBef>
              <a:buNone/>
            </a:pPr>
            <a:r>
              <a:rPr lang="en-US" sz="1900" b="1" dirty="0">
                <a:solidFill>
                  <a:srgbClr val="F1F4FB"/>
                </a:solidFill>
                <a:latin typeface="Arial" pitchFamily="34" charset="0"/>
                <a:ea typeface="Arial" pitchFamily="34" charset="-122"/>
                <a:cs typeface="Arial" pitchFamily="34" charset="-120"/>
              </a:rPr>
              <a:t>Which forecast is available at 10 a.m.</a:t>
            </a:r>
            <a:endParaRPr lang="en-US" sz="1100" dirty="0"/>
          </a:p>
          <a:p>
            <a:pPr indent="0" marL="0">
              <a:spcBef>
                <a:spcPts val="600"/>
              </a:spcBef>
              <a:buNone/>
            </a:pPr>
            <a:r>
              <a:rPr lang="en-US" sz="1400" dirty="0">
                <a:solidFill>
                  <a:srgbClr val="B9C2D6"/>
                </a:solidFill>
                <a:latin typeface="Arial" pitchFamily="34" charset="0"/>
                <a:ea typeface="Arial" pitchFamily="34" charset="-122"/>
                <a:cs typeface="Arial" pitchFamily="34" charset="-120"/>
              </a:rPr>
              <a:t>Main model uses the forecast made two days before. The one-day version is a labeled comparison.</a:t>
            </a:r>
            <a:endParaRPr lang="en-US" sz="1100" dirty="0"/>
          </a:p>
        </p:txBody>
      </p:sp>
      <p:sp>
        <p:nvSpPr>
          <p:cNvPr id="11" name="Shape 8"/>
          <p:cNvSpPr/>
          <p:nvPr/>
        </p:nvSpPr>
        <p:spPr>
          <a:xfrm>
            <a:off x="6245352" y="4023360"/>
            <a:ext cx="5212080" cy="2148840"/>
          </a:xfrm>
          <a:prstGeom prst="roundRect">
            <a:avLst>
              <a:gd name="adj" fmla="val 5106"/>
            </a:avLst>
          </a:prstGeom>
          <a:solidFill>
            <a:srgbClr val="161E36"/>
          </a:solidFill>
          <a:ln w="12700">
            <a:solidFill>
              <a:srgbClr val="2A3350"/>
            </a:solidFill>
            <a:prstDash val="solid"/>
          </a:ln>
        </p:spPr>
      </p:sp>
      <p:sp>
        <p:nvSpPr>
          <p:cNvPr id="12" name="Text 9"/>
          <p:cNvSpPr txBox="1"/>
          <p:nvPr/>
        </p:nvSpPr>
        <p:spPr>
          <a:xfrm>
            <a:off x="6473952" y="4160520"/>
            <a:ext cx="4754880" cy="1874520"/>
          </a:xfrm>
          <a:prstGeom prst="rect">
            <a:avLst/>
          </a:prstGeom>
          <a:noFill/>
          <a:ln/>
        </p:spPr>
        <p:txBody>
          <a:bodyPr wrap="square" lIns="0" tIns="0" rIns="0" bIns="0" rtlCol="0" anchor="t"/>
          <a:lstStyle/>
          <a:p>
            <a:pPr indent="0" marL="0">
              <a:buNone/>
            </a:pPr>
            <a:r>
              <a:rPr lang="en-US" sz="1100" b="1" spc="200" kern="0" dirty="0">
                <a:solidFill>
                  <a:srgbClr val="8893AB"/>
                </a:solidFill>
                <a:latin typeface="Arial" pitchFamily="34" charset="0"/>
                <a:ea typeface="Arial" pitchFamily="34" charset="-122"/>
                <a:cs typeface="Arial" pitchFamily="34" charset="-120"/>
              </a:rPr>
              <a:t>TURNED-DOWN SOLAR</a:t>
            </a:r>
            <a:endParaRPr lang="en-US" sz="1100" dirty="0"/>
          </a:p>
          <a:p>
            <a:pPr indent="0" marL="0">
              <a:spcBef>
                <a:spcPts val="400"/>
              </a:spcBef>
              <a:buNone/>
            </a:pPr>
            <a:r>
              <a:rPr lang="en-US" sz="1900" b="1" dirty="0">
                <a:solidFill>
                  <a:srgbClr val="F1F4FB"/>
                </a:solidFill>
                <a:latin typeface="Arial" pitchFamily="34" charset="0"/>
                <a:ea typeface="Arial" pitchFamily="34" charset="-122"/>
                <a:cs typeface="Arial" pitchFamily="34" charset="-120"/>
              </a:rPr>
              <a:t>Concentrated in spring, inside our test block</a:t>
            </a:r>
            <a:endParaRPr lang="en-US" sz="1100" dirty="0"/>
          </a:p>
          <a:p>
            <a:pPr indent="0" marL="0">
              <a:spcBef>
                <a:spcPts val="600"/>
              </a:spcBef>
              <a:buNone/>
            </a:pPr>
            <a:r>
              <a:rPr lang="en-US" sz="1400" dirty="0">
                <a:solidFill>
                  <a:srgbClr val="B9C2D6"/>
                </a:solidFill>
                <a:latin typeface="Arial" pitchFamily="34" charset="0"/>
                <a:ea typeface="Arial" pitchFamily="34" charset="-122"/>
                <a:cs typeface="Arial" pitchFamily="34" charset="-120"/>
              </a:rPr>
              <a:t>April and May 2026 saw 21% to 24% turned down. We flag those hours and report results with and without them.</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NEXT STEPS</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From a clean table to </a:t>
            </a:r>
            <a:pPr indent="0" marL="0">
              <a:buNone/>
            </a:pPr>
            <a:r>
              <a:rPr lang="en-US" sz="3200" b="1" dirty="0">
                <a:solidFill>
                  <a:srgbClr val="FFB703"/>
                </a:solidFill>
                <a:latin typeface="Arial" pitchFamily="34" charset="0"/>
                <a:ea typeface="Arial" pitchFamily="34" charset="-122"/>
                <a:cs typeface="Arial" pitchFamily="34" charset="-120"/>
              </a:rPr>
              <a:t>results</a:t>
            </a:r>
            <a:endParaRPr lang="en-US" sz="3200" dirty="0"/>
          </a:p>
        </p:txBody>
      </p:sp>
      <p:sp>
        <p:nvSpPr>
          <p:cNvPr id="5" name="Text 2"/>
          <p:cNvSpPr txBox="1"/>
          <p:nvPr/>
        </p:nvSpPr>
        <p:spPr>
          <a:xfrm>
            <a:off x="731520" y="2011680"/>
            <a:ext cx="3291840" cy="1737360"/>
          </a:xfrm>
          <a:prstGeom prst="rect">
            <a:avLst/>
          </a:prstGeom>
          <a:noFill/>
          <a:ln/>
        </p:spPr>
        <p:txBody>
          <a:bodyPr wrap="square" lIns="0" tIns="0" rIns="0" bIns="0" rtlCol="0" anchor="t"/>
          <a:lstStyle/>
          <a:p>
            <a:pPr indent="0" marL="0">
              <a:buNone/>
            </a:pPr>
            <a:r>
              <a:rPr lang="en-US" sz="3600" b="1" dirty="0">
                <a:solidFill>
                  <a:srgbClr val="FFB703"/>
                </a:solidFill>
                <a:latin typeface="Arial" pitchFamily="34" charset="0"/>
                <a:ea typeface="Arial" pitchFamily="34" charset="-122"/>
                <a:cs typeface="Arial" pitchFamily="34" charset="-120"/>
              </a:rPr>
              <a:t>Nov 17–27</a:t>
            </a:r>
            <a:endParaRPr lang="en-US" sz="3600" dirty="0"/>
          </a:p>
          <a:p>
            <a:pPr indent="0" marL="0">
              <a:spcBef>
                <a:spcPts val="800"/>
              </a:spcBef>
              <a:buNone/>
            </a:pPr>
            <a:r>
              <a:rPr lang="en-US" sz="1800" dirty="0">
                <a:solidFill>
                  <a:srgbClr val="B9C2D6"/>
                </a:solidFill>
                <a:latin typeface="Arial" pitchFamily="34" charset="0"/>
                <a:ea typeface="Arial" pitchFamily="34" charset="-122"/>
                <a:cs typeface="Arial" pitchFamily="34" charset="-120"/>
              </a:rPr>
              <a:t>Explore the data and compare candidate models.</a:t>
            </a:r>
            <a:endParaRPr lang="en-US" sz="3600" dirty="0"/>
          </a:p>
        </p:txBody>
      </p:sp>
      <p:sp>
        <p:nvSpPr>
          <p:cNvPr id="6" name="Text 3"/>
          <p:cNvSpPr txBox="1"/>
          <p:nvPr/>
        </p:nvSpPr>
        <p:spPr>
          <a:xfrm>
            <a:off x="4343400" y="2011680"/>
            <a:ext cx="3291840" cy="1737360"/>
          </a:xfrm>
          <a:prstGeom prst="rect">
            <a:avLst/>
          </a:prstGeom>
          <a:noFill/>
          <a:ln/>
        </p:spPr>
        <p:txBody>
          <a:bodyPr wrap="square" lIns="0" tIns="0" rIns="0" bIns="0" rtlCol="0" anchor="t"/>
          <a:lstStyle/>
          <a:p>
            <a:pPr indent="0" marL="0">
              <a:buNone/>
            </a:pPr>
            <a:r>
              <a:rPr lang="en-US" sz="3600" b="1" dirty="0">
                <a:solidFill>
                  <a:srgbClr val="FFB703"/>
                </a:solidFill>
                <a:latin typeface="Arial" pitchFamily="34" charset="0"/>
                <a:ea typeface="Arial" pitchFamily="34" charset="-122"/>
                <a:cs typeface="Arial" pitchFamily="34" charset="-120"/>
              </a:rPr>
              <a:t>Nov 30–Dec 8</a:t>
            </a:r>
            <a:endParaRPr lang="en-US" sz="3600" dirty="0"/>
          </a:p>
          <a:p>
            <a:pPr indent="0" marL="0">
              <a:spcBef>
                <a:spcPts val="800"/>
              </a:spcBef>
              <a:buNone/>
            </a:pPr>
            <a:r>
              <a:rPr lang="en-US" sz="1800" dirty="0">
                <a:solidFill>
                  <a:srgbClr val="B9C2D6"/>
                </a:solidFill>
                <a:latin typeface="Arial" pitchFamily="34" charset="0"/>
                <a:ea typeface="Arial" pitchFamily="34" charset="-122"/>
                <a:cs typeface="Arial" pitchFamily="34" charset="-120"/>
              </a:rPr>
              <a:t>Score the models against CAISO and build the charts.</a:t>
            </a:r>
            <a:endParaRPr lang="en-US" sz="3600" dirty="0"/>
          </a:p>
        </p:txBody>
      </p:sp>
      <p:sp>
        <p:nvSpPr>
          <p:cNvPr id="7" name="Text 4"/>
          <p:cNvSpPr txBox="1"/>
          <p:nvPr/>
        </p:nvSpPr>
        <p:spPr>
          <a:xfrm>
            <a:off x="7955280" y="2011680"/>
            <a:ext cx="3291840" cy="1737360"/>
          </a:xfrm>
          <a:prstGeom prst="rect">
            <a:avLst/>
          </a:prstGeom>
          <a:noFill/>
          <a:ln/>
        </p:spPr>
        <p:txBody>
          <a:bodyPr wrap="square" lIns="0" tIns="0" rIns="0" bIns="0" rtlCol="0" anchor="t"/>
          <a:lstStyle/>
          <a:p>
            <a:pPr indent="0" marL="0">
              <a:buNone/>
            </a:pPr>
            <a:r>
              <a:rPr lang="en-US" sz="3600" b="1" dirty="0">
                <a:solidFill>
                  <a:srgbClr val="FFB703"/>
                </a:solidFill>
                <a:latin typeface="Arial" pitchFamily="34" charset="0"/>
                <a:ea typeface="Arial" pitchFamily="34" charset="-122"/>
                <a:cs typeface="Arial" pitchFamily="34" charset="-120"/>
              </a:rPr>
              <a:t>Dec 14</a:t>
            </a:r>
            <a:endParaRPr lang="en-US" sz="3600" dirty="0"/>
          </a:p>
          <a:p>
            <a:pPr indent="0" marL="0">
              <a:spcBef>
                <a:spcPts val="800"/>
              </a:spcBef>
              <a:buNone/>
            </a:pPr>
            <a:r>
              <a:rPr lang="en-US" sz="1800" dirty="0">
                <a:solidFill>
                  <a:srgbClr val="B9C2D6"/>
                </a:solidFill>
                <a:latin typeface="Arial" pitchFamily="34" charset="0"/>
                <a:ea typeface="Arial" pitchFamily="34" charset="-122"/>
                <a:cs typeface="Arial" pitchFamily="34" charset="-120"/>
              </a:rPr>
              <a:t>Capstone 3: models and results.</a:t>
            </a:r>
            <a:endParaRPr lang="en-US" sz="3600" dirty="0"/>
          </a:p>
        </p:txBody>
      </p:sp>
      <p:sp>
        <p:nvSpPr>
          <p:cNvPr id="8" name="Text 5"/>
          <p:cNvSpPr txBox="1"/>
          <p:nvPr/>
        </p:nvSpPr>
        <p:spPr>
          <a:xfrm>
            <a:off x="731520" y="4297680"/>
            <a:ext cx="10725912" cy="914400"/>
          </a:xfrm>
          <a:prstGeom prst="rect">
            <a:avLst/>
          </a:prstGeom>
          <a:noFill/>
          <a:ln/>
        </p:spPr>
        <p:txBody>
          <a:bodyPr wrap="square" lIns="0" tIns="0" rIns="0" bIns="0" rtlCol="0" anchor="t"/>
          <a:lstStyle/>
          <a:p>
            <a:pPr indent="0" marL="0">
              <a:buNone/>
            </a:pPr>
            <a:r>
              <a:rPr lang="en-US" sz="2200" b="1" dirty="0">
                <a:solidFill>
                  <a:srgbClr val="FFB703"/>
                </a:solidFill>
                <a:latin typeface="Arial" pitchFamily="34" charset="0"/>
                <a:ea typeface="Arial" pitchFamily="34" charset="-122"/>
                <a:cs typeface="Arial" pitchFamily="34" charset="-120"/>
              </a:rPr>
              <a:t>Your input: </a:t>
            </a:r>
            <a:pPr indent="0" marL="0">
              <a:buNone/>
            </a:pPr>
            <a:r>
              <a:rPr lang="en-US" sz="2200" dirty="0">
                <a:solidFill>
                  <a:srgbClr val="F1F4FB"/>
                </a:solidFill>
                <a:latin typeface="Arial" pitchFamily="34" charset="0"/>
                <a:ea typeface="Arial" pitchFamily="34" charset="-122"/>
                <a:cs typeface="Arial" pitchFamily="34" charset="-120"/>
              </a:rPr>
              <a:t>Is there anything in the data or the test design you would want us to check before we build models?</a:t>
            </a:r>
            <a:endParaRPr lang="en-US" sz="22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APPENDIX A</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Data dictionary: the main columns</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10725912" cy="914400"/>
        </p:xfrm>
        <a:graphic>
          <a:graphicData uri="http://schemas.openxmlformats.org/drawingml/2006/table">
            <a:tbl>
              <a:tblPr/>
              <a:tblGrid>
                <a:gridCol w="3108960"/>
                <a:gridCol w="4206240"/>
                <a:gridCol w="1371600"/>
                <a:gridCol w="2039112"/>
              </a:tblGrid>
              <a:tr h="0">
                <a:tc>
                  <a:txBody>
                    <a:bodyPr/>
                    <a:lstStyle/>
                    <a:p>
                      <a:pPr indent="0" marL="0">
                        <a:buNone/>
                      </a:pPr>
                      <a:r>
                        <a:rPr lang="en-US" sz="1050" b="1" dirty="0">
                          <a:solidFill>
                            <a:srgbClr val="8893AB"/>
                          </a:solidFill>
                          <a:latin typeface="Arial" pitchFamily="34" charset="0"/>
                          <a:ea typeface="Arial" pitchFamily="34" charset="-122"/>
                          <a:cs typeface="Arial" pitchFamily="34" charset="-120"/>
                        </a:rPr>
                        <a:t>COLUMN</a:t>
                      </a:r>
                      <a:endParaRPr lang="en-US" sz="105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12700" cap="flat" cmpd="sng" algn="ctr">
                      <a:solidFill>
                        <a:srgbClr val="34436E"/>
                      </a:solidFill>
                      <a:prstDash val="solid"/>
                      <a:round/>
                      <a:headEnd type="none" w="med" len="med"/>
                      <a:tailEnd type="none" w="med" len="med"/>
                    </a:lnB>
                    <a:solidFill>
                      <a:srgbClr val="0B1226"/>
                    </a:solidFill>
                  </a:tcPr>
                </a:tc>
                <a:tc>
                  <a:txBody>
                    <a:bodyPr/>
                    <a:lstStyle/>
                    <a:p>
                      <a:pPr indent="0" marL="0">
                        <a:buNone/>
                      </a:pPr>
                      <a:r>
                        <a:rPr lang="en-US" sz="1050" b="1" dirty="0">
                          <a:solidFill>
                            <a:srgbClr val="8893AB"/>
                          </a:solidFill>
                          <a:latin typeface="Arial" pitchFamily="34" charset="0"/>
                          <a:ea typeface="Arial" pitchFamily="34" charset="-122"/>
                          <a:cs typeface="Arial" pitchFamily="34" charset="-120"/>
                        </a:rPr>
                        <a:t>MEANING</a:t>
                      </a:r>
                      <a:endParaRPr lang="en-US" sz="105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12700" cap="flat" cmpd="sng" algn="ctr">
                      <a:solidFill>
                        <a:srgbClr val="34436E"/>
                      </a:solidFill>
                      <a:prstDash val="solid"/>
                      <a:round/>
                      <a:headEnd type="none" w="med" len="med"/>
                      <a:tailEnd type="none" w="med" len="med"/>
                    </a:lnB>
                    <a:solidFill>
                      <a:srgbClr val="0B1226"/>
                    </a:solidFill>
                  </a:tcPr>
                </a:tc>
                <a:tc>
                  <a:txBody>
                    <a:bodyPr/>
                    <a:lstStyle/>
                    <a:p>
                      <a:pPr indent="0" marL="0">
                        <a:buNone/>
                      </a:pPr>
                      <a:r>
                        <a:rPr lang="en-US" sz="1050" b="1" dirty="0">
                          <a:solidFill>
                            <a:srgbClr val="8893AB"/>
                          </a:solidFill>
                          <a:latin typeface="Arial" pitchFamily="34" charset="0"/>
                          <a:ea typeface="Arial" pitchFamily="34" charset="-122"/>
                          <a:cs typeface="Arial" pitchFamily="34" charset="-120"/>
                        </a:rPr>
                        <a:t>UNIT</a:t>
                      </a:r>
                      <a:endParaRPr lang="en-US" sz="105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12700" cap="flat" cmpd="sng" algn="ctr">
                      <a:solidFill>
                        <a:srgbClr val="34436E"/>
                      </a:solidFill>
                      <a:prstDash val="solid"/>
                      <a:round/>
                      <a:headEnd type="none" w="med" len="med"/>
                      <a:tailEnd type="none" w="med" len="med"/>
                    </a:lnB>
                    <a:solidFill>
                      <a:srgbClr val="0B1226"/>
                    </a:solidFill>
                  </a:tcPr>
                </a:tc>
                <a:tc>
                  <a:txBody>
                    <a:bodyPr/>
                    <a:lstStyle/>
                    <a:p>
                      <a:pPr indent="0" marL="0">
                        <a:buNone/>
                      </a:pPr>
                      <a:r>
                        <a:rPr lang="en-US" sz="1050" b="1" dirty="0">
                          <a:solidFill>
                            <a:srgbClr val="8893AB"/>
                          </a:solidFill>
                          <a:latin typeface="Arial" pitchFamily="34" charset="0"/>
                          <a:ea typeface="Arial" pitchFamily="34" charset="-122"/>
                          <a:cs typeface="Arial" pitchFamily="34" charset="-120"/>
                        </a:rPr>
                        <a:t>SOURCE</a:t>
                      </a:r>
                      <a:endParaRPr lang="en-US" sz="105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12700" cap="flat" cmpd="sng" algn="ctr">
                      <a:solidFill>
                        <a:srgbClr val="34436E"/>
                      </a:solidFill>
                      <a:prstDash val="solid"/>
                      <a:round/>
                      <a:headEnd type="none" w="med" len="med"/>
                      <a:tailEnd type="none" w="med" len="med"/>
                    </a:lnB>
                    <a:solidFill>
                      <a:srgbClr val="0B1226"/>
                    </a:solidFill>
                  </a:tcPr>
                </a:tc>
              </a:tr>
              <a:tr h="0">
                <a:tc>
                  <a:txBody>
                    <a:bodyPr/>
                    <a:lstStyle/>
                    <a:p>
                      <a:pPr indent="0" marL="0">
                        <a:buNone/>
                      </a:pPr>
                      <a:r>
                        <a:rPr lang="en-US" sz="1600" dirty="0">
                          <a:solidFill>
                            <a:srgbClr val="FFD166"/>
                          </a:solidFill>
                          <a:latin typeface="Consolas" pitchFamily="34" charset="0"/>
                          <a:ea typeface="Consolas" pitchFamily="34" charset="-122"/>
                          <a:cs typeface="Consolas" pitchFamily="34" charset="-120"/>
                        </a:rPr>
                        <a:t>hour_end_utc</a:t>
                      </a:r>
                      <a:endParaRPr lang="en-US" sz="1600" dirty="0">
                        <a:latin typeface="Consolas" charset="0"/>
                        <a:ea typeface="Consolas" charset="0"/>
                        <a:cs typeface="Consolas"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The hour ending at this time, UTC (the key for joining all sources)</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timestamp</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All, aligned</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r>
              <a:tr h="0">
                <a:tc>
                  <a:txBody>
                    <a:bodyPr/>
                    <a:lstStyle/>
                    <a:p>
                      <a:pPr indent="0" marL="0">
                        <a:buNone/>
                      </a:pPr>
                      <a:r>
                        <a:rPr lang="en-US" sz="1600" dirty="0">
                          <a:solidFill>
                            <a:srgbClr val="FFD166"/>
                          </a:solidFill>
                          <a:latin typeface="Consolas" pitchFamily="34" charset="0"/>
                          <a:ea typeface="Consolas" pitchFamily="34" charset="-122"/>
                          <a:cs typeface="Consolas" pitchFamily="34" charset="-120"/>
                        </a:rPr>
                        <a:t>eia_mw</a:t>
                      </a:r>
                      <a:endParaRPr lang="en-US" sz="1600" dirty="0">
                        <a:latin typeface="Consolas" charset="0"/>
                        <a:ea typeface="Consolas" charset="0"/>
                        <a:cs typeface="Consolas"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Actual utility-scale solar output (target variable)</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MW</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EIA</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r>
              <a:tr h="0">
                <a:tc>
                  <a:txBody>
                    <a:bodyPr/>
                    <a:lstStyle/>
                    <a:p>
                      <a:pPr indent="0" marL="0">
                        <a:buNone/>
                      </a:pPr>
                      <a:r>
                        <a:rPr lang="en-US" sz="1600" dirty="0">
                          <a:solidFill>
                            <a:srgbClr val="FFD166"/>
                          </a:solidFill>
                          <a:latin typeface="Consolas" pitchFamily="34" charset="0"/>
                          <a:ea typeface="Consolas" pitchFamily="34" charset="-122"/>
                          <a:cs typeface="Consolas" pitchFamily="34" charset="-120"/>
                        </a:rPr>
                        <a:t>caiso_dam_mw</a:t>
                      </a:r>
                      <a:endParaRPr lang="en-US" sz="1600" dirty="0">
                        <a:latin typeface="Consolas" charset="0"/>
                        <a:ea typeface="Consolas" charset="0"/>
                        <a:cs typeface="Consolas"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CAISO day-ahead solar forecast (benchmark only)</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MW</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CAISO OASIS</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r>
              <a:tr h="0">
                <a:tc>
                  <a:txBody>
                    <a:bodyPr/>
                    <a:lstStyle/>
                    <a:p>
                      <a:pPr indent="0" marL="0">
                        <a:buNone/>
                      </a:pPr>
                      <a:r>
                        <a:rPr lang="en-US" sz="1600" dirty="0">
                          <a:solidFill>
                            <a:srgbClr val="FFD166"/>
                          </a:solidFill>
                          <a:latin typeface="Consolas" pitchFamily="34" charset="0"/>
                          <a:ea typeface="Consolas" pitchFamily="34" charset="-122"/>
                          <a:cs typeface="Consolas" pitchFamily="34" charset="-120"/>
                        </a:rPr>
                        <a:t>capacity_mw</a:t>
                      </a:r>
                      <a:endParaRPr lang="en-US" sz="1600" dirty="0">
                        <a:latin typeface="Consolas" charset="0"/>
                        <a:ea typeface="Consolas" charset="0"/>
                        <a:cs typeface="Consolas"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Installed solar capacity in that month</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MW</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EIA Form 860M</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r>
              <a:tr h="0">
                <a:tc>
                  <a:txBody>
                    <a:bodyPr/>
                    <a:lstStyle/>
                    <a:p>
                      <a:pPr indent="0" marL="0">
                        <a:buNone/>
                      </a:pPr>
                      <a:r>
                        <a:rPr lang="en-US" sz="1600" dirty="0">
                          <a:solidFill>
                            <a:srgbClr val="FFD166"/>
                          </a:solidFill>
                          <a:latin typeface="Consolas" pitchFamily="34" charset="0"/>
                          <a:ea typeface="Consolas" pitchFamily="34" charset="-122"/>
                          <a:cs typeface="Consolas" pitchFamily="34" charset="-120"/>
                        </a:rPr>
                        <a:t>cloud_cover, shortwave_radiation, temperature_2m, ...</a:t>
                      </a:r>
                      <a:endParaRPr lang="en-US" sz="1600" dirty="0">
                        <a:latin typeface="Consolas" charset="0"/>
                        <a:ea typeface="Consolas" charset="0"/>
                        <a:cs typeface="Consolas"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Weather forecast inputs, two-day-ahead version, capacity-weighted across locations</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 W/m², °C</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Open-Meteo</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r>
              <a:tr h="0">
                <a:tc>
                  <a:txBody>
                    <a:bodyPr/>
                    <a:lstStyle/>
                    <a:p>
                      <a:pPr indent="0" marL="0">
                        <a:buNone/>
                      </a:pPr>
                      <a:r>
                        <a:rPr lang="en-US" sz="1600" dirty="0">
                          <a:solidFill>
                            <a:srgbClr val="FFD166"/>
                          </a:solidFill>
                          <a:latin typeface="Consolas" pitchFamily="34" charset="0"/>
                          <a:ea typeface="Consolas" pitchFamily="34" charset="-122"/>
                          <a:cs typeface="Consolas" pitchFamily="34" charset="-120"/>
                        </a:rPr>
                        <a:t>curt_mwh</a:t>
                      </a:r>
                      <a:endParaRPr lang="en-US" sz="1600" dirty="0">
                        <a:latin typeface="Consolas" charset="0"/>
                        <a:ea typeface="Consolas" charset="0"/>
                        <a:cs typeface="Consolas"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Solar energy turned down in that hour</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MWh</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c>
                  <a:txBody>
                    <a:bodyPr/>
                    <a:lstStyle/>
                    <a:p>
                      <a:pPr indent="0" marL="0">
                        <a:buNone/>
                      </a:pPr>
                      <a:r>
                        <a:rPr lang="en-US" sz="1600" dirty="0">
                          <a:solidFill>
                            <a:srgbClr val="B9C2D6"/>
                          </a:solidFill>
                          <a:latin typeface="Arial" pitchFamily="34" charset="0"/>
                          <a:ea typeface="Arial" pitchFamily="34" charset="-122"/>
                          <a:cs typeface="Arial" pitchFamily="34" charset="-120"/>
                        </a:rPr>
                        <a:t>CAISO curtailment files</a:t>
                      </a:r>
                      <a:endParaRPr lang="en-US" sz="1600" dirty="0">
                        <a:latin typeface="Arial" charset="0"/>
                        <a:ea typeface="Arial" charset="0"/>
                        <a:cs typeface="Arial" charset="0"/>
                      </a:endParaRPr>
                    </a:p>
                  </a:txBody>
                  <a:tcPr marL="91440" marR="91440" marT="82296" marB="82296" anchor="t">
                    <a:lnL w="0" cap="flat" cmpd="sng" algn="ctr">
                      <a:noFill/>
                    </a:lnL>
                    <a:lnR w="0" cap="flat" cmpd="sng" algn="ctr">
                      <a:noFill/>
                    </a:lnR>
                    <a:lnT w="0" cap="flat" cmpd="sng" algn="ctr">
                      <a:noFill/>
                    </a:lnT>
                    <a:lnB w="9525" cap="flat" cmpd="sng" algn="ctr">
                      <a:solidFill>
                        <a:srgbClr val="1D2A4D"/>
                      </a:solidFill>
                      <a:prstDash val="solid"/>
                      <a:round/>
                      <a:headEnd type="none" w="med" len="med"/>
                      <a:tailEnd type="none" w="med" len="med"/>
                    </a:lnB>
                    <a:solidFill>
                      <a:srgbClr val="0B1226"/>
                    </a:solidFill>
                  </a:tcPr>
                </a:tc>
              </a:tr>
            </a:tbl>
          </a:graphicData>
        </a:graphic>
      </p:graphicFrame>
      <p:sp>
        <p:nvSpPr>
          <p:cNvPr id="6" name="Text 2"/>
          <p:cNvSpPr txBox="1"/>
          <p:nvPr/>
        </p:nvSpPr>
        <p:spPr>
          <a:xfrm>
            <a:off x="731520" y="6355080"/>
            <a:ext cx="9692640" cy="320040"/>
          </a:xfrm>
          <a:prstGeom prst="rect">
            <a:avLst/>
          </a:prstGeom>
          <a:noFill/>
          <a:ln/>
        </p:spPr>
        <p:txBody>
          <a:bodyPr wrap="square" lIns="0" tIns="0" rIns="0" bIns="0" rtlCol="0" anchor="ctr"/>
          <a:lstStyle/>
          <a:p>
            <a:pPr indent="0" marL="0">
              <a:buNone/>
            </a:pPr>
            <a:r>
              <a:rPr lang="en-US" sz="1100" dirty="0">
                <a:solidFill>
                  <a:srgbClr val="8893AB"/>
                </a:solidFill>
                <a:latin typeface="Arial" pitchFamily="34" charset="0"/>
                <a:ea typeface="Arial" pitchFamily="34" charset="-122"/>
                <a:cs typeface="Arial" pitchFamily="34" charset="-120"/>
              </a:rPr>
              <a:t>Full list of columns, units and checks: docs/DATA_DICTIONARY.md in the team repository.</a:t>
            </a:r>
            <a:endParaRPr lang="en-US" sz="11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731520" y="502920"/>
            <a:ext cx="10725912" cy="274320"/>
          </a:xfrm>
          <a:prstGeom prst="rect">
            <a:avLst/>
          </a:prstGeom>
          <a:noFill/>
          <a:ln/>
        </p:spPr>
        <p:txBody>
          <a:bodyPr wrap="square" lIns="0" tIns="0" rIns="0" bIns="0" rtlCol="0" anchor="ctr"/>
          <a:lstStyle/>
          <a:p>
            <a:pPr indent="0" marL="0">
              <a:buNone/>
            </a:pPr>
            <a:r>
              <a:rPr lang="en-US" sz="1200" b="1" spc="300" kern="0" dirty="0">
                <a:solidFill>
                  <a:srgbClr val="FFB703"/>
                </a:solidFill>
                <a:latin typeface="Arial" pitchFamily="34" charset="0"/>
                <a:ea typeface="Arial" pitchFamily="34" charset="-122"/>
                <a:cs typeface="Arial" pitchFamily="34" charset="-120"/>
              </a:rPr>
              <a:t>APPENDIX B</a:t>
            </a:r>
            <a:endParaRPr lang="en-US" sz="1200" dirty="0"/>
          </a:p>
        </p:txBody>
      </p:sp>
      <p:sp>
        <p:nvSpPr>
          <p:cNvPr id="4" name="Text 1"/>
          <p:cNvSpPr txBox="1"/>
          <p:nvPr/>
        </p:nvSpPr>
        <p:spPr>
          <a:xfrm>
            <a:off x="731520" y="822960"/>
            <a:ext cx="10725912" cy="640080"/>
          </a:xfrm>
          <a:prstGeom prst="rect">
            <a:avLst/>
          </a:prstGeom>
          <a:noFill/>
          <a:ln/>
        </p:spPr>
        <p:txBody>
          <a:bodyPr wrap="square" lIns="0" tIns="0" rIns="0" bIns="0" rtlCol="0" anchor="t">
            <a:normAutofit/>
          </a:bodyPr>
          <a:lstStyle/>
          <a:p>
            <a:pPr indent="0" marL="0">
              <a:buNone/>
            </a:pPr>
            <a:r>
              <a:rPr lang="en-US" sz="3200" b="1" dirty="0">
                <a:solidFill>
                  <a:srgbClr val="F1F4FB"/>
                </a:solidFill>
                <a:latin typeface="Arial" pitchFamily="34" charset="0"/>
                <a:ea typeface="Arial" pitchFamily="34" charset="-122"/>
                <a:cs typeface="Arial" pitchFamily="34" charset="-120"/>
              </a:rPr>
              <a:t>Sources</a:t>
            </a:r>
            <a:endParaRPr lang="en-US" sz="3200" dirty="0"/>
          </a:p>
        </p:txBody>
      </p:sp>
      <p:sp>
        <p:nvSpPr>
          <p:cNvPr id="5" name="Text 2"/>
          <p:cNvSpPr txBox="1"/>
          <p:nvPr/>
        </p:nvSpPr>
        <p:spPr>
          <a:xfrm>
            <a:off x="731520" y="1554480"/>
            <a:ext cx="10725912" cy="4572000"/>
          </a:xfrm>
          <a:prstGeom prst="rect">
            <a:avLst/>
          </a:prstGeom>
          <a:noFill/>
          <a:ln/>
        </p:spPr>
        <p:txBody>
          <a:bodyPr wrap="square" lIns="0" tIns="0" rIns="0" bIns="0" rtlCol="0" anchor="t"/>
          <a:lstStyle/>
          <a:p>
            <a:pPr indent="0" marL="0">
              <a:spcAft>
                <a:spcPts val="1400"/>
              </a:spcAft>
              <a:buNone/>
            </a:pPr>
            <a:r>
              <a:rPr lang="en-US" sz="1500" b="1" dirty="0">
                <a:solidFill>
                  <a:srgbClr val="F1F4FB"/>
                </a:solidFill>
                <a:latin typeface="Arial" pitchFamily="34" charset="0"/>
                <a:ea typeface="Arial" pitchFamily="34" charset="-122"/>
                <a:cs typeface="Arial" pitchFamily="34" charset="-120"/>
              </a:rPr>
              <a:t>U.S. EIA</a:t>
            </a:r>
            <a:pPr indent="0" marL="0">
              <a:spcAft>
                <a:spcPts val="1400"/>
              </a:spcAft>
              <a:buNone/>
            </a:pPr>
            <a:r>
              <a:rPr lang="en-US" sz="1500" dirty="0">
                <a:solidFill>
                  <a:srgbClr val="B9C2D6"/>
                </a:solidFill>
                <a:latin typeface="Arial" pitchFamily="34" charset="0"/>
                <a:ea typeface="Arial" pitchFamily="34" charset="-122"/>
                <a:cs typeface="Arial" pitchFamily="34" charset="-120"/>
              </a:rPr>
              <a:t>, Hourly Electric Grid Monitor and API; net load definition: </a:t>
            </a:r>
            <a:pPr indent="0" marL="0">
              <a:spcAft>
                <a:spcPts val="1400"/>
              </a:spcAft>
              <a:buNone/>
            </a:pPr>
            <a:r>
              <a:rPr lang="en-US" sz="1500" u="sng" dirty="0">
                <a:solidFill>
                  <a:srgbClr val="8FB8F0"/>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eia.gov/opendata</a:t>
            </a:r>
            <a:endParaRPr lang="en-US" sz="1500" dirty="0"/>
          </a:p>
          <a:p>
            <a:pPr indent="0" marL="0">
              <a:spcAft>
                <a:spcPts val="1400"/>
              </a:spcAft>
              <a:buNone/>
            </a:pPr>
            <a:r>
              <a:rPr lang="en-US" sz="1500" b="1" dirty="0">
                <a:solidFill>
                  <a:srgbClr val="F1F4FB"/>
                </a:solidFill>
                <a:latin typeface="Arial" pitchFamily="34" charset="0"/>
                <a:ea typeface="Arial" pitchFamily="34" charset="-122"/>
                <a:cs typeface="Arial" pitchFamily="34" charset="-120"/>
              </a:rPr>
              <a:t>U.S. EIA</a:t>
            </a:r>
            <a:pPr indent="0" marL="0">
              <a:spcAft>
                <a:spcPts val="1400"/>
              </a:spcAft>
              <a:buNone/>
            </a:pPr>
            <a:r>
              <a:rPr lang="en-US" sz="1500" dirty="0">
                <a:solidFill>
                  <a:srgbClr val="B9C2D6"/>
                </a:solidFill>
                <a:latin typeface="Arial" pitchFamily="34" charset="0"/>
                <a:ea typeface="Arial" pitchFamily="34" charset="-122"/>
                <a:cs typeface="Arial" pitchFamily="34" charset="-120"/>
              </a:rPr>
              <a:t>, Form 860M, monthly installed capacity: </a:t>
            </a:r>
            <a:pPr indent="0" marL="0">
              <a:spcAft>
                <a:spcPts val="1400"/>
              </a:spcAft>
              <a:buNone/>
            </a:pPr>
            <a:r>
              <a:rPr lang="en-US" sz="1500" u="sng" dirty="0">
                <a:solidFill>
                  <a:srgbClr val="8FB8F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eia.gov/electricity/data/eia860m</a:t>
            </a:r>
            <a:endParaRPr lang="en-US" sz="1500" dirty="0"/>
          </a:p>
          <a:p>
            <a:pPr indent="0" marL="0">
              <a:spcAft>
                <a:spcPts val="1400"/>
              </a:spcAft>
              <a:buNone/>
            </a:pPr>
            <a:r>
              <a:rPr lang="en-US" sz="1500" b="1" dirty="0">
                <a:solidFill>
                  <a:srgbClr val="F1F4FB"/>
                </a:solidFill>
                <a:latin typeface="Arial" pitchFamily="34" charset="0"/>
                <a:ea typeface="Arial" pitchFamily="34" charset="-122"/>
                <a:cs typeface="Arial" pitchFamily="34" charset="-120"/>
              </a:rPr>
              <a:t>Open-Meteo</a:t>
            </a:r>
            <a:pPr indent="0" marL="0">
              <a:spcAft>
                <a:spcPts val="1400"/>
              </a:spcAft>
              <a:buNone/>
            </a:pPr>
            <a:r>
              <a:rPr lang="en-US" sz="1500" dirty="0">
                <a:solidFill>
                  <a:srgbClr val="B9C2D6"/>
                </a:solidFill>
                <a:latin typeface="Arial" pitchFamily="34" charset="0"/>
                <a:ea typeface="Arial" pitchFamily="34" charset="-122"/>
                <a:cs typeface="Arial" pitchFamily="34" charset="-120"/>
              </a:rPr>
              <a:t>, Previous Runs API, CC BY 4.0: </a:t>
            </a:r>
            <a:pPr indent="0" marL="0">
              <a:spcAft>
                <a:spcPts val="1400"/>
              </a:spcAft>
              <a:buNone/>
            </a:pPr>
            <a:r>
              <a:rPr lang="en-US" sz="1500" u="sng" dirty="0">
                <a:solidFill>
                  <a:srgbClr val="8FB8F0"/>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open-meteo.com/en/docs/previous-runs-api</a:t>
            </a:r>
            <a:endParaRPr lang="en-US" sz="1500" dirty="0"/>
          </a:p>
          <a:p>
            <a:pPr indent="0" marL="0">
              <a:spcAft>
                <a:spcPts val="1400"/>
              </a:spcAft>
              <a:buNone/>
            </a:pPr>
            <a:r>
              <a:rPr lang="en-US" sz="1500" b="1" dirty="0">
                <a:solidFill>
                  <a:srgbClr val="F1F4FB"/>
                </a:solidFill>
                <a:latin typeface="Arial" pitchFamily="34" charset="0"/>
                <a:ea typeface="Arial" pitchFamily="34" charset="-122"/>
                <a:cs typeface="Arial" pitchFamily="34" charset="-120"/>
              </a:rPr>
              <a:t>CAISO</a:t>
            </a:r>
            <a:pPr indent="0" marL="0">
              <a:spcAft>
                <a:spcPts val="1400"/>
              </a:spcAft>
              <a:buNone/>
            </a:pPr>
            <a:r>
              <a:rPr lang="en-US" sz="1500" dirty="0">
                <a:solidFill>
                  <a:srgbClr val="B9C2D6"/>
                </a:solidFill>
                <a:latin typeface="Arial" pitchFamily="34" charset="0"/>
                <a:ea typeface="Arial" pitchFamily="34" charset="-122"/>
                <a:cs typeface="Arial" pitchFamily="34" charset="-120"/>
              </a:rPr>
              <a:t>, day-ahead market (bids close 10 a.m. Pacific, results about 1 p.m.): </a:t>
            </a:r>
            <a:pPr indent="0" marL="0">
              <a:spcAft>
                <a:spcPts val="1400"/>
              </a:spcAft>
              <a:buNone/>
            </a:pPr>
            <a:r>
              <a:rPr lang="en-US" sz="1500" u="sng" dirty="0">
                <a:solidFill>
                  <a:srgbClr val="8FB8F0"/>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caiso.com/market-operations/products-services</a:t>
            </a:r>
            <a:endParaRPr lang="en-US" sz="1500" dirty="0"/>
          </a:p>
          <a:p>
            <a:pPr indent="0" marL="0">
              <a:spcAft>
                <a:spcPts val="1400"/>
              </a:spcAft>
              <a:buNone/>
            </a:pPr>
            <a:r>
              <a:rPr lang="en-US" sz="1500" b="1" dirty="0">
                <a:solidFill>
                  <a:srgbClr val="F1F4FB"/>
                </a:solidFill>
                <a:latin typeface="Arial" pitchFamily="34" charset="0"/>
                <a:ea typeface="Arial" pitchFamily="34" charset="-122"/>
                <a:cs typeface="Arial" pitchFamily="34" charset="-120"/>
              </a:rPr>
              <a:t>CAISO OASIS</a:t>
            </a:r>
            <a:pPr indent="0" marL="0">
              <a:spcAft>
                <a:spcPts val="1400"/>
              </a:spcAft>
              <a:buNone/>
            </a:pPr>
            <a:r>
              <a:rPr lang="en-US" sz="1500" dirty="0">
                <a:solidFill>
                  <a:srgbClr val="B9C2D6"/>
                </a:solidFill>
                <a:latin typeface="Arial" pitchFamily="34" charset="0"/>
                <a:ea typeface="Arial" pitchFamily="34" charset="-122"/>
                <a:cs typeface="Arial" pitchFamily="34" charset="-120"/>
              </a:rPr>
              <a:t>, day-ahead solar forecast, report SLD_REN_FCST: </a:t>
            </a:r>
            <a:pPr indent="0" marL="0">
              <a:spcAft>
                <a:spcPts val="1400"/>
              </a:spcAft>
              <a:buNone/>
            </a:pPr>
            <a:r>
              <a:rPr lang="en-US" sz="1500" u="sng" dirty="0">
                <a:solidFill>
                  <a:srgbClr val="8FB8F0"/>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oasis.caiso.com</a:t>
            </a:r>
            <a:endParaRPr lang="en-US" sz="1500" dirty="0"/>
          </a:p>
          <a:p>
            <a:pPr indent="0" marL="0">
              <a:spcAft>
                <a:spcPts val="1400"/>
              </a:spcAft>
              <a:buNone/>
            </a:pPr>
            <a:r>
              <a:rPr lang="en-US" sz="1500" b="1" dirty="0">
                <a:solidFill>
                  <a:srgbClr val="F1F4FB"/>
                </a:solidFill>
                <a:latin typeface="Arial" pitchFamily="34" charset="0"/>
                <a:ea typeface="Arial" pitchFamily="34" charset="-122"/>
                <a:cs typeface="Arial" pitchFamily="34" charset="-120"/>
              </a:rPr>
              <a:t>CAISO</a:t>
            </a:r>
            <a:pPr indent="0" marL="0">
              <a:spcAft>
                <a:spcPts val="1400"/>
              </a:spcAft>
              <a:buNone/>
            </a:pPr>
            <a:r>
              <a:rPr lang="en-US" sz="1500" dirty="0">
                <a:solidFill>
                  <a:srgbClr val="B9C2D6"/>
                </a:solidFill>
                <a:latin typeface="Arial" pitchFamily="34" charset="0"/>
                <a:ea typeface="Arial" pitchFamily="34" charset="-122"/>
                <a:cs typeface="Arial" pitchFamily="34" charset="-120"/>
              </a:rPr>
              <a:t>, production and curtailments data (curtailment workbooks and daily renewables report): </a:t>
            </a:r>
            <a:pPr indent="0" marL="0">
              <a:spcAft>
                <a:spcPts val="1400"/>
              </a:spcAft>
              <a:buNone/>
            </a:pPr>
            <a:r>
              <a:rPr lang="en-US" sz="1500" u="sng" dirty="0">
                <a:solidFill>
                  <a:srgbClr val="8FB8F0"/>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caiso.com/library/production-curtailments-data</a:t>
            </a:r>
            <a:endParaRPr lang="en-US" sz="1500" dirty="0"/>
          </a:p>
          <a:p>
            <a:pPr indent="0" marL="0">
              <a:spcAft>
                <a:spcPts val="1400"/>
              </a:spcAft>
              <a:buNone/>
            </a:pPr>
            <a:r>
              <a:rPr lang="en-US" sz="1500" b="1" dirty="0">
                <a:solidFill>
                  <a:srgbClr val="F1F4FB"/>
                </a:solidFill>
                <a:latin typeface="Arial" pitchFamily="34" charset="0"/>
                <a:ea typeface="Arial" pitchFamily="34" charset="-122"/>
                <a:cs typeface="Arial" pitchFamily="34" charset="-120"/>
              </a:rPr>
              <a:t>Team repository</a:t>
            </a:r>
            <a:pPr indent="0" marL="0">
              <a:spcAft>
                <a:spcPts val="1400"/>
              </a:spcAft>
              <a:buNone/>
            </a:pPr>
            <a:r>
              <a:rPr lang="en-US" sz="1500" dirty="0">
                <a:solidFill>
                  <a:srgbClr val="B9C2D6"/>
                </a:solidFill>
                <a:latin typeface="Arial" pitchFamily="34" charset="0"/>
                <a:ea typeface="Arial" pitchFamily="34" charset="-122"/>
                <a:cs typeface="Arial" pitchFamily="34" charset="-120"/>
              </a:rPr>
              <a:t>, raw data, data dictionary, FAQ and how-to: </a:t>
            </a:r>
            <a:pPr indent="0" marL="0">
              <a:spcAft>
                <a:spcPts val="1400"/>
              </a:spcAft>
              <a:buNone/>
            </a:pPr>
            <a:r>
              <a:rPr lang="en-US" sz="1500" u="sng" dirty="0">
                <a:solidFill>
                  <a:srgbClr val="8FB8F0"/>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github.com/RaulSolaNavarro/caiso-solar-forecast</a:t>
            </a:r>
            <a:endParaRPr lang="en-US" sz="1500" dirty="0"/>
          </a:p>
        </p:txBody>
      </p:sp>
      <p:sp>
        <p:nvSpPr>
          <p:cNvPr id="25" name="Slide Number Placeholder 0"/>
          <p:cNvSpPr>
            <a:spLocks noGrp="1"/>
          </p:cNvSpPr>
          <p:nvPr>
            <p:ph type="sldNum" sz="quarter" idx="4294967295"/>
          </p:nvPr>
        </p:nvSpPr>
        <p:spPr>
          <a:xfrm>
            <a:off x="10881360" y="6382512"/>
            <a:ext cx="822960" cy="274320"/>
          </a:xfrm>
          <a:prstGeom prst="rect">
            <a:avLst/>
          </a:prstGeom>
          <a:extLst>
            <a:ext uri="{C572A759-6A51-4108-AA02-DFA0A04FC94B}">
              <ma14:wrappingTextBoxFlag xmlns:ma14="http://schemas.microsoft.com/office/mac/drawingml/2011/main" val="0"/>
            </a:ext>
          </a:extLst>
        </p:spPr>
        <p:txBody>
          <a:bodyPr/>
          <a:lstStyle>
            <a:lvl1pPr>
              <a:defRPr sz="1400">
                <a:solidFill>
                  <a:srgbClr val="B9C2D6"/>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Solar Foresight">
  <a:themeElements>
    <a:clrScheme name="Solar Foresight">
      <a:dk1>
        <a:srgbClr val="0B1226"/>
      </a:dk1>
      <a:lt1>
        <a:srgbClr val="F1F4FB"/>
      </a:lt1>
      <a:dk2>
        <a:srgbClr val="161E36"/>
      </a:dk2>
      <a:lt2>
        <a:srgbClr val="B9C2D6"/>
      </a:lt2>
      <a:accent1>
        <a:srgbClr val="FFB703"/>
      </a:accent1>
      <a:accent2>
        <a:srgbClr val="3987E5"/>
      </a:accent2>
      <a:accent3>
        <a:srgbClr val="D95926"/>
      </a:accent3>
      <a:accent4>
        <a:srgbClr val="199E70"/>
      </a:accent4>
      <a:accent5>
        <a:srgbClr val="9085E9"/>
      </a:accent5>
      <a:accent6>
        <a:srgbClr val="8893AB"/>
      </a:accent6>
      <a:hlink>
        <a:srgbClr val="8FB8F0"/>
      </a:hlink>
      <a:folHlink>
        <a:srgbClr val="8893AB"/>
      </a:folHlink>
    </a:clrScheme>
    <a:fontScheme name="Solar Foresight">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Tomorrow's Sun, Today's Plan (Capstone 2)</dc:title>
  <dc:subject>PptxGenJS Presentation</dc:subject>
  <dc:creator>Team Solar Foresight</dc:creator>
  <cp:lastModifiedBy>Team Solar Foresight</cp:lastModifiedBy>
  <cp:revision>1</cp:revision>
  <dcterms:created xsi:type="dcterms:W3CDTF">2026-10-29T20:08:57Z</dcterms:created>
  <dcterms:modified xsi:type="dcterms:W3CDTF">2026-10-29T20:08:57Z</dcterms:modified>
</cp:coreProperties>
</file>