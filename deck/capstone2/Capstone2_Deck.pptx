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[RAUL, slides 1 to 5] Good morning. Last time we told you the problem and the plan. Today we show the data: what we collected, what we found, and how we are getting it ready for modeling. We will start with a short reminder of the problem, because everything else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CAISO runs California's main power grid. It locks in tomorrow's plan today: bids close at 10 a.m. Pacific and the plan comes out around 1 p.m. Solar is a big part of that plan, and it depends on tomorrow's weather. When the solar forecast is wrong, somebody pays: either backup power bought at the last minute, or reserves held for nothing. Our project is a better day-ahead solar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question last time was why we are not forecasting energy use. Demand matters, but CAISO already forecasts it. What the grid operator plans around is net load: demand minus what wind and solar supply. Solar is the weather-driven part of that equation, so a better solar forecast changes how much gas, battery or import power has to be lined up. Our target variable is the hourly output of utility-scale solar in the CAISO area, in megawatts, as measured by the EIA.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sources. The EIA series is the answer key. Open-Meteo provides the weather forecasts we use as inputs. CAISO's own forecast is the benchmark and is never used for training. EIA Form 860M gives installed capacity so we can compare errors fairly over time, and the curtailment files tell us which hours were turned down. Fill in the status column from the data pulls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CAISO closes bids at 10 a.m. Pacific the day before. Any input we use has to be available by then. Weather models publish a few hours after they start running, so a forecast made one day before the target hour may arrive after the deadline for afternoon hours. Our main model therefore uses the forecast made two days before, and the one-day-before version is shown only as a clearly labeled comparison. [Hand off] Carolina will show you what the data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[CAROLINA, slides 6 to 9] Thank you, Raul. Replace each bracket with the number from the merged table. Say the period covered first, then how many usable hours we have, then how much is missing and what we did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chart, then read the two takeaways. Keep it to what the audience can see: when output starts, when it peaks, and how the seasons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we expect in this data. Replace the last column with what we found. The important point for the audience is that each problem has a rule, and the rule is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building any model we score the two reference forecasts: the simple same-as-yesterday guess and CAISO's own day-ahead forecast. This replaces the rough outside estimate from Capstone 1 with a number measured on our own data, and it lets us confirm that our target is reachable. [Hand off] Juan David will take you through how we prepare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[JUAN DAVID, slides 10 to 14] Thank you, Carolina. Five steps. Pull the sources for the same dates. Align them on one clock with one row per hour. Clean gaps and flag curtailed hours. Add features such as hour of day, season and sun angle. Then split the table in time order so the models are always tested on days they have not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in time order, never at random, because a forecast is always about the future. The earliest 80 percent of days is for training and for four rolling checks. The latest 20 percent is locked until the end and scored once. One honest limit: that last block runs from about late March to mid-October, so it has no winter, and we judge winter accuracy in the validation checks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deliberately not picked our models yet. The first two steps are scoring the reference forecasts and exploring the data. Only then do we shortlist candidates and compare them on the same time-ordered folds. The winner is chosen on three things: average miss compared with CAISO, worst-case overshoot, and how easily we can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risks. History is short, so each month appears only two to three times. The test block has no winter. The weather timing rule needs to be confirmed in the data. And recorded solar output is lower on days when plants were turned down, so we flag those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two weeks are exploration and model comparison. Then scoring and charts, and Capstone 3 on December 14. Before we start modeling, we would value your view on anything in the data or the test design we should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CK">
    <p:bg>
      <p:bgPr>
        <a:solidFill>
          <a:srgbClr val="0B1226"/>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eia.gov/opendata/" TargetMode="External"/><Relationship Id="rId2" Type="http://schemas.openxmlformats.org/officeDocument/2006/relationships/hyperlink" Target="https://open-meteo.com/en/docs/previous-runs-api" TargetMode="External"/><Relationship Id="rId3" Type="http://schemas.openxmlformats.org/officeDocument/2006/relationships/hyperlink" Target="https://www.caiso.com/market-operations/products-services" TargetMode="External"/><Relationship Id="rId4" Type="http://schemas.openxmlformats.org/officeDocument/2006/relationships/hyperlink" Target="https://oasis.caiso.com/" TargetMode="External"/><Relationship Id="rId5" Type="http://schemas.openxmlformats.org/officeDocument/2006/relationships/hyperlink" Target="https://www.caiso.com/documents/key-statistics-may-2026.pdf" TargetMode="External"/><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6766560" y="4114800"/>
            <a:ext cx="4206240" cy="4206240"/>
          </a:xfrm>
          <a:prstGeom prst="ellipse">
            <a:avLst/>
          </a:prstGeom>
          <a:solidFill>
            <a:srgbClr val="FFB703">
              <a:alpha val="15000"/>
            </a:srgbClr>
          </a:solidFill>
          <a:ln/>
        </p:spPr>
      </p:sp>
      <p:sp>
        <p:nvSpPr>
          <p:cNvPr id="4" name="Shape 1"/>
          <p:cNvSpPr/>
          <p:nvPr/>
        </p:nvSpPr>
        <p:spPr>
          <a:xfrm>
            <a:off x="7589520" y="4846320"/>
            <a:ext cx="2560320" cy="2560320"/>
          </a:xfrm>
          <a:prstGeom prst="ellipse">
            <a:avLst/>
          </a:prstGeom>
          <a:solidFill>
            <a:srgbClr val="FFB703"/>
          </a:solidFill>
          <a:ln/>
        </p:spPr>
      </p:sp>
      <p:sp>
        <p:nvSpPr>
          <p:cNvPr id="5" name="Shape 2"/>
          <p:cNvSpPr/>
          <p:nvPr/>
        </p:nvSpPr>
        <p:spPr>
          <a:xfrm>
            <a:off x="0" y="5897880"/>
            <a:ext cx="12191695" cy="960120"/>
          </a:xfrm>
          <a:prstGeom prst="rect">
            <a:avLst/>
          </a:prstGeom>
          <a:solidFill>
            <a:srgbClr val="0B1226"/>
          </a:solidFill>
          <a:ln/>
        </p:spPr>
      </p:sp>
      <p:sp>
        <p:nvSpPr>
          <p:cNvPr id="6" name="Shape 3"/>
          <p:cNvSpPr/>
          <p:nvPr/>
        </p:nvSpPr>
        <p:spPr>
          <a:xfrm>
            <a:off x="0" y="5897880"/>
            <a:ext cx="12191695" cy="0"/>
          </a:xfrm>
          <a:prstGeom prst="line">
            <a:avLst/>
          </a:prstGeom>
          <a:noFill/>
          <a:ln w="19050">
            <a:solidFill>
              <a:srgbClr val="3A2E10"/>
            </a:solidFill>
            <a:prstDash val="solid"/>
          </a:ln>
        </p:spPr>
      </p:sp>
      <p:sp>
        <p:nvSpPr>
          <p:cNvPr id="7" name="Text 4"/>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BUS 9430 · CAPSTONE 2 · DATA UNDERSTANDING AND PREPARATION</a:t>
            </a:r>
            <a:endParaRPr lang="en-US" sz="1200" dirty="0"/>
          </a:p>
        </p:txBody>
      </p:sp>
      <p:sp>
        <p:nvSpPr>
          <p:cNvPr id="8" name="Text 5"/>
          <p:cNvSpPr txBox="1"/>
          <p:nvPr/>
        </p:nvSpPr>
        <p:spPr>
          <a:xfrm>
            <a:off x="731520" y="914400"/>
            <a:ext cx="8229600" cy="1920240"/>
          </a:xfrm>
          <a:prstGeom prst="rect">
            <a:avLst/>
          </a:prstGeom>
          <a:noFill/>
          <a:ln/>
        </p:spPr>
        <p:txBody>
          <a:bodyPr wrap="square" lIns="0" tIns="0" rIns="0" bIns="0" rtlCol="0" anchor="t"/>
          <a:lstStyle/>
          <a:p>
            <a:pPr indent="0" marL="0">
              <a:buNone/>
            </a:pPr>
            <a:r>
              <a:rPr lang="en-US" sz="6000" b="1" dirty="0">
                <a:solidFill>
                  <a:srgbClr val="F1F4FB"/>
                </a:solidFill>
                <a:latin typeface="Arial" pitchFamily="34" charset="0"/>
                <a:ea typeface="Arial" pitchFamily="34" charset="-122"/>
                <a:cs typeface="Arial" pitchFamily="34" charset="-120"/>
              </a:rPr>
              <a:t>Tomorrow's </a:t>
            </a:r>
            <a:pPr indent="0" marL="0">
              <a:buNone/>
            </a:pPr>
            <a:r>
              <a:rPr lang="en-US" sz="6000" b="1" dirty="0">
                <a:solidFill>
                  <a:srgbClr val="FFB703"/>
                </a:solidFill>
                <a:latin typeface="Arial" pitchFamily="34" charset="0"/>
                <a:ea typeface="Arial" pitchFamily="34" charset="-122"/>
                <a:cs typeface="Arial" pitchFamily="34" charset="-120"/>
              </a:rPr>
              <a:t>Sun</a:t>
            </a:r>
            <a:pPr indent="0" marL="0">
              <a:buNone/>
            </a:pPr>
            <a:r>
              <a:rPr lang="en-US" sz="6000" b="1" dirty="0">
                <a:solidFill>
                  <a:srgbClr val="F1F4FB"/>
                </a:solidFill>
                <a:latin typeface="Arial" pitchFamily="34" charset="0"/>
                <a:ea typeface="Arial" pitchFamily="34" charset="-122"/>
                <a:cs typeface="Arial" pitchFamily="34" charset="-120"/>
              </a:rPr>
              <a:t>,</a:t>
            </a:r>
            <a:endParaRPr lang="en-US" sz="6000" dirty="0"/>
          </a:p>
          <a:p>
            <a:pPr indent="0" marL="0">
              <a:buNone/>
            </a:pPr>
            <a:r>
              <a:rPr lang="en-US" sz="6000" b="1" dirty="0">
                <a:solidFill>
                  <a:srgbClr val="F1F4FB"/>
                </a:solidFill>
                <a:latin typeface="Arial" pitchFamily="34" charset="0"/>
                <a:ea typeface="Arial" pitchFamily="34" charset="-122"/>
                <a:cs typeface="Arial" pitchFamily="34" charset="-120"/>
              </a:rPr>
              <a:t>Today's Plan</a:t>
            </a:r>
            <a:endParaRPr lang="en-US" sz="6000" dirty="0"/>
          </a:p>
        </p:txBody>
      </p:sp>
      <p:sp>
        <p:nvSpPr>
          <p:cNvPr id="9" name="Text 6"/>
          <p:cNvSpPr txBox="1"/>
          <p:nvPr/>
        </p:nvSpPr>
        <p:spPr>
          <a:xfrm>
            <a:off x="731520" y="2971800"/>
            <a:ext cx="8229600" cy="457200"/>
          </a:xfrm>
          <a:prstGeom prst="rect">
            <a:avLst/>
          </a:prstGeom>
          <a:noFill/>
          <a:ln/>
        </p:spPr>
        <p:txBody>
          <a:bodyPr wrap="square" lIns="0" tIns="0" rIns="0" bIns="0" rtlCol="0" anchor="ctr"/>
          <a:lstStyle/>
          <a:p>
            <a:pPr indent="0" marL="0">
              <a:buNone/>
            </a:pPr>
            <a:r>
              <a:rPr lang="en-US" sz="2400" dirty="0">
                <a:solidFill>
                  <a:srgbClr val="B9C2D6"/>
                </a:solidFill>
                <a:latin typeface="Arial" pitchFamily="34" charset="0"/>
                <a:ea typeface="Arial" pitchFamily="34" charset="-122"/>
                <a:cs typeface="Arial" pitchFamily="34" charset="-120"/>
              </a:rPr>
              <a:t>What our data shows, and how we get it ready</a:t>
            </a:r>
            <a:endParaRPr lang="en-US" sz="2400" dirty="0"/>
          </a:p>
        </p:txBody>
      </p:sp>
      <p:sp>
        <p:nvSpPr>
          <p:cNvPr id="10" name="Text 7"/>
          <p:cNvSpPr txBox="1"/>
          <p:nvPr/>
        </p:nvSpPr>
        <p:spPr>
          <a:xfrm>
            <a:off x="731520" y="3657600"/>
            <a:ext cx="7315200" cy="1188720"/>
          </a:xfrm>
          <a:prstGeom prst="rect">
            <a:avLst/>
          </a:prstGeom>
          <a:noFill/>
          <a:ln/>
        </p:spPr>
        <p:txBody>
          <a:bodyPr wrap="square" lIns="0" tIns="0" rIns="0" bIns="0" rtlCol="0" anchor="t"/>
          <a:lstStyle/>
          <a:p>
            <a:pPr indent="0" marL="0">
              <a:spcAft>
                <a:spcPts val="400"/>
              </a:spcAft>
              <a:buNone/>
            </a:pPr>
            <a:r>
              <a:rPr lang="en-US" sz="2200" b="1" dirty="0">
                <a:solidFill>
                  <a:srgbClr val="FFB703"/>
                </a:solidFill>
                <a:latin typeface="Arial" pitchFamily="34" charset="0"/>
                <a:ea typeface="Arial" pitchFamily="34" charset="-122"/>
                <a:cs typeface="Arial" pitchFamily="34" charset="-120"/>
              </a:rPr>
              <a:t>Team Solar Foresight</a:t>
            </a:r>
            <a:endParaRPr lang="en-US" sz="2200" dirty="0"/>
          </a:p>
          <a:p>
            <a:pPr indent="0" marL="0">
              <a:spcAft>
                <a:spcPts val="400"/>
              </a:spcAft>
              <a:buNone/>
            </a:pPr>
            <a:r>
              <a:rPr lang="en-US" sz="1400" b="1" dirty="0">
                <a:solidFill>
                  <a:srgbClr val="B9C2D6"/>
                </a:solidFill>
                <a:latin typeface="Arial" pitchFamily="34" charset="0"/>
                <a:ea typeface="Arial" pitchFamily="34" charset="-122"/>
                <a:cs typeface="Arial" pitchFamily="34" charset="-120"/>
              </a:rPr>
              <a:t>Team: </a:t>
            </a:r>
            <a:pPr indent="0" marL="0">
              <a:spcAft>
                <a:spcPts val="400"/>
              </a:spcAft>
              <a:buNone/>
            </a:pPr>
            <a:r>
              <a:rPr lang="en-US" sz="1400" dirty="0">
                <a:solidFill>
                  <a:srgbClr val="8893AB"/>
                </a:solidFill>
                <a:latin typeface="Arial" pitchFamily="34" charset="0"/>
                <a:ea typeface="Arial" pitchFamily="34" charset="-122"/>
                <a:cs typeface="Arial" pitchFamily="34" charset="-120"/>
              </a:rPr>
              <a:t>Carolina Lenes Arreola, Juan David Jaimes, Mohammad Mahmud, Vince Lanzillo and Raúl J. Solá Navarro</a:t>
            </a:r>
            <a:endParaRPr lang="en-US" sz="2200" dirty="0"/>
          </a:p>
          <a:p>
            <a:pPr indent="0" marL="0">
              <a:spcAft>
                <a:spcPts val="400"/>
              </a:spcAft>
              <a:buNone/>
            </a:pPr>
            <a:r>
              <a:rPr lang="en-US" sz="1400" dirty="0">
                <a:solidFill>
                  <a:srgbClr val="8893AB"/>
                </a:solidFill>
                <a:latin typeface="Arial" pitchFamily="34" charset="0"/>
                <a:ea typeface="Arial" pitchFamily="34" charset="-122"/>
                <a:cs typeface="Arial" pitchFamily="34" charset="-120"/>
              </a:rPr>
              <a:t>November 16, 2026</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BUSINESS PROBLEM</a:t>
            </a:r>
            <a:endParaRPr lang="en-US" sz="1200" dirty="0"/>
          </a:p>
        </p:txBody>
      </p:sp>
      <p:sp>
        <p:nvSpPr>
          <p:cNvPr id="4" name="Text 1"/>
          <p:cNvSpPr txBox="1"/>
          <p:nvPr/>
        </p:nvSpPr>
        <p:spPr>
          <a:xfrm>
            <a:off x="731520" y="822960"/>
            <a:ext cx="10725912" cy="10972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Solar is the part of tomorrow's plan </a:t>
            </a:r>
            <a:pPr indent="0" marL="0">
              <a:buNone/>
            </a:pPr>
            <a:r>
              <a:rPr lang="en-US" sz="3400" b="1" dirty="0">
                <a:solidFill>
                  <a:srgbClr val="FFB703"/>
                </a:solidFill>
                <a:latin typeface="Arial" pitchFamily="34" charset="0"/>
                <a:ea typeface="Arial" pitchFamily="34" charset="-122"/>
                <a:cs typeface="Arial" pitchFamily="34" charset="-120"/>
              </a:rPr>
              <a:t>that depends on the weather</a:t>
            </a:r>
            <a:endParaRPr lang="en-US" sz="3400" dirty="0"/>
          </a:p>
        </p:txBody>
      </p:sp>
      <p:sp>
        <p:nvSpPr>
          <p:cNvPr id="5" name="Shape 2"/>
          <p:cNvSpPr/>
          <p:nvPr/>
        </p:nvSpPr>
        <p:spPr>
          <a:xfrm>
            <a:off x="731520" y="2194560"/>
            <a:ext cx="3383280" cy="3291840"/>
          </a:xfrm>
          <a:prstGeom prst="roundRect">
            <a:avLst>
              <a:gd name="adj" fmla="val 3333"/>
            </a:avLst>
          </a:prstGeom>
          <a:solidFill>
            <a:srgbClr val="161E36"/>
          </a:solidFill>
          <a:ln w="12700">
            <a:solidFill>
              <a:srgbClr val="2A3350"/>
            </a:solidFill>
            <a:prstDash val="solid"/>
          </a:ln>
        </p:spPr>
      </p:sp>
      <p:sp>
        <p:nvSpPr>
          <p:cNvPr id="6" name="Text 3"/>
          <p:cNvSpPr txBox="1"/>
          <p:nvPr/>
        </p:nvSpPr>
        <p:spPr>
          <a:xfrm>
            <a:off x="960120"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CAISO DOES</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Locks in tomorrow's power plan today</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Bids close at 10 a.m. Pacific. The plan is published at about 1 p.m. It says which plants run tomorrow and how much each makes.</a:t>
            </a:r>
            <a:endParaRPr lang="en-US" sz="1100" dirty="0"/>
          </a:p>
        </p:txBody>
      </p:sp>
      <p:sp>
        <p:nvSpPr>
          <p:cNvPr id="7" name="Shape 4"/>
          <p:cNvSpPr/>
          <p:nvPr/>
        </p:nvSpPr>
        <p:spPr>
          <a:xfrm>
            <a:off x="4402836" y="2194560"/>
            <a:ext cx="3383280" cy="3291840"/>
          </a:xfrm>
          <a:prstGeom prst="roundRect">
            <a:avLst>
              <a:gd name="adj" fmla="val 3333"/>
            </a:avLst>
          </a:prstGeom>
          <a:solidFill>
            <a:srgbClr val="161E36"/>
          </a:solidFill>
          <a:ln w="12700">
            <a:solidFill>
              <a:srgbClr val="2A3350"/>
            </a:solidFill>
            <a:prstDash val="solid"/>
          </a:ln>
        </p:spPr>
      </p:sp>
      <p:sp>
        <p:nvSpPr>
          <p:cNvPr id="8" name="Text 5"/>
          <p:cNvSpPr txBox="1"/>
          <p:nvPr/>
        </p:nvSpPr>
        <p:spPr>
          <a:xfrm>
            <a:off x="4631436"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GOES WRONG</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The solar forecast misses</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Too high, and operators buy backup power at the last minute. Too low, and they hold reserves they never use.</a:t>
            </a:r>
            <a:endParaRPr lang="en-US" sz="1100" dirty="0"/>
          </a:p>
        </p:txBody>
      </p:sp>
      <p:sp>
        <p:nvSpPr>
          <p:cNvPr id="9" name="Shape 6"/>
          <p:cNvSpPr/>
          <p:nvPr/>
        </p:nvSpPr>
        <p:spPr>
          <a:xfrm>
            <a:off x="8074152" y="2194560"/>
            <a:ext cx="3383280" cy="3291840"/>
          </a:xfrm>
          <a:prstGeom prst="roundRect">
            <a:avLst>
              <a:gd name="adj" fmla="val 3333"/>
            </a:avLst>
          </a:prstGeom>
          <a:solidFill>
            <a:srgbClr val="161E36"/>
          </a:solidFill>
          <a:ln w="12700">
            <a:solidFill>
              <a:srgbClr val="2A3350"/>
            </a:solidFill>
            <a:prstDash val="solid"/>
          </a:ln>
        </p:spPr>
      </p:sp>
      <p:sp>
        <p:nvSpPr>
          <p:cNvPr id="10" name="Text 7"/>
          <p:cNvSpPr txBox="1"/>
          <p:nvPr/>
        </p:nvSpPr>
        <p:spPr>
          <a:xfrm>
            <a:off x="8302752"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WE DO</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Forecast solar output a day ahead</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Hour by hour, using only what is known at 10 a.m. We then compare ourselves with CAISO's own forecast.</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WHAT WE FORECAST</a:t>
            </a:r>
            <a:endParaRPr lang="en-US" sz="1200" dirty="0"/>
          </a:p>
        </p:txBody>
      </p:sp>
      <p:sp>
        <p:nvSpPr>
          <p:cNvPr id="4" name="Text 1"/>
          <p:cNvSpPr txBox="1"/>
          <p:nvPr/>
        </p:nvSpPr>
        <p:spPr>
          <a:xfrm>
            <a:off x="731520" y="822960"/>
            <a:ext cx="10725912" cy="10972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forecast </a:t>
            </a:r>
            <a:pPr indent="0" marL="0">
              <a:buNone/>
            </a:pPr>
            <a:r>
              <a:rPr lang="en-US" sz="3400" b="1" dirty="0">
                <a:solidFill>
                  <a:srgbClr val="FFB703"/>
                </a:solidFill>
                <a:latin typeface="Arial" pitchFamily="34" charset="0"/>
                <a:ea typeface="Arial" pitchFamily="34" charset="-122"/>
                <a:cs typeface="Arial" pitchFamily="34" charset="-120"/>
              </a:rPr>
              <a:t>solar output</a:t>
            </a:r>
            <a:pPr indent="0" marL="0">
              <a:buNone/>
            </a:pPr>
            <a:r>
              <a:rPr lang="en-US" sz="3400" b="1" dirty="0">
                <a:solidFill>
                  <a:srgbClr val="F1F4FB"/>
                </a:solidFill>
                <a:latin typeface="Arial" pitchFamily="34" charset="0"/>
                <a:ea typeface="Arial" pitchFamily="34" charset="-122"/>
                <a:cs typeface="Arial" pitchFamily="34" charset="-120"/>
              </a:rPr>
              <a:t>, not electricity demand</a:t>
            </a:r>
            <a:endParaRPr lang="en-US" sz="3400" dirty="0"/>
          </a:p>
        </p:txBody>
      </p:sp>
      <p:sp>
        <p:nvSpPr>
          <p:cNvPr id="5" name="Shape 2"/>
          <p:cNvSpPr/>
          <p:nvPr/>
        </p:nvSpPr>
        <p:spPr>
          <a:xfrm>
            <a:off x="731520" y="1920240"/>
            <a:ext cx="3200400" cy="1188720"/>
          </a:xfrm>
          <a:prstGeom prst="roundRect">
            <a:avLst>
              <a:gd name="adj" fmla="val 9231"/>
            </a:avLst>
          </a:prstGeom>
          <a:solidFill>
            <a:srgbClr val="161E36"/>
          </a:solidFill>
          <a:ln w="12700">
            <a:solidFill>
              <a:srgbClr val="2A3350"/>
            </a:solidFill>
            <a:prstDash val="solid"/>
          </a:ln>
        </p:spPr>
      </p:sp>
      <p:sp>
        <p:nvSpPr>
          <p:cNvPr id="6" name="Text 3"/>
          <p:cNvSpPr txBox="1"/>
          <p:nvPr/>
        </p:nvSpPr>
        <p:spPr>
          <a:xfrm>
            <a:off x="932688"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TOTAL DEMAND</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customers use</a:t>
            </a:r>
            <a:endParaRPr lang="en-US" sz="1100" dirty="0"/>
          </a:p>
        </p:txBody>
      </p:sp>
      <p:sp>
        <p:nvSpPr>
          <p:cNvPr id="7" name="Text 4"/>
          <p:cNvSpPr txBox="1"/>
          <p:nvPr/>
        </p:nvSpPr>
        <p:spPr>
          <a:xfrm>
            <a:off x="3931920" y="1920240"/>
            <a:ext cx="562356" cy="1188720"/>
          </a:xfrm>
          <a:prstGeom prst="rect">
            <a:avLst/>
          </a:prstGeom>
          <a:noFill/>
          <a:ln/>
        </p:spPr>
        <p:txBody>
          <a:bodyPr wrap="square" lIns="0" tIns="0" rIns="0" bIns="0" rtlCol="0" anchor="ctr"/>
          <a:lstStyle/>
          <a:p>
            <a:pPr algn="ctr" indent="0" marL="0">
              <a:buNone/>
            </a:pPr>
            <a:r>
              <a:rPr lang="en-US" sz="3600" b="1" dirty="0">
                <a:solidFill>
                  <a:srgbClr val="FFB703"/>
                </a:solidFill>
                <a:latin typeface="Arial" pitchFamily="34" charset="0"/>
                <a:ea typeface="Arial" pitchFamily="34" charset="-122"/>
                <a:cs typeface="Arial" pitchFamily="34" charset="-120"/>
              </a:rPr>
              <a:t>−</a:t>
            </a:r>
            <a:endParaRPr lang="en-US" sz="3600" dirty="0"/>
          </a:p>
        </p:txBody>
      </p:sp>
      <p:sp>
        <p:nvSpPr>
          <p:cNvPr id="8" name="Shape 5"/>
          <p:cNvSpPr/>
          <p:nvPr/>
        </p:nvSpPr>
        <p:spPr>
          <a:xfrm>
            <a:off x="4494276" y="1920240"/>
            <a:ext cx="3200400" cy="1188720"/>
          </a:xfrm>
          <a:prstGeom prst="roundRect">
            <a:avLst>
              <a:gd name="adj" fmla="val 9231"/>
            </a:avLst>
          </a:prstGeom>
          <a:solidFill>
            <a:srgbClr val="161E36"/>
          </a:solidFill>
          <a:ln w="12700">
            <a:solidFill>
              <a:srgbClr val="2A3350"/>
            </a:solidFill>
            <a:prstDash val="solid"/>
          </a:ln>
        </p:spPr>
      </p:sp>
      <p:sp>
        <p:nvSpPr>
          <p:cNvPr id="9" name="Text 6"/>
          <p:cNvSpPr txBox="1"/>
          <p:nvPr/>
        </p:nvSpPr>
        <p:spPr>
          <a:xfrm>
            <a:off x="4695444"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WIND AND SOLAR</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the weather supplies</a:t>
            </a:r>
            <a:endParaRPr lang="en-US" sz="1100" dirty="0"/>
          </a:p>
        </p:txBody>
      </p:sp>
      <p:sp>
        <p:nvSpPr>
          <p:cNvPr id="10" name="Text 7"/>
          <p:cNvSpPr txBox="1"/>
          <p:nvPr/>
        </p:nvSpPr>
        <p:spPr>
          <a:xfrm>
            <a:off x="7694676" y="1920240"/>
            <a:ext cx="562356" cy="1188720"/>
          </a:xfrm>
          <a:prstGeom prst="rect">
            <a:avLst/>
          </a:prstGeom>
          <a:noFill/>
          <a:ln/>
        </p:spPr>
        <p:txBody>
          <a:bodyPr wrap="square" lIns="0" tIns="0" rIns="0" bIns="0" rtlCol="0" anchor="ctr"/>
          <a:lstStyle/>
          <a:p>
            <a:pPr algn="ctr" indent="0" marL="0">
              <a:buNone/>
            </a:pPr>
            <a:r>
              <a:rPr lang="en-US" sz="3600" b="1" dirty="0">
                <a:solidFill>
                  <a:srgbClr val="FFB703"/>
                </a:solidFill>
                <a:latin typeface="Arial" pitchFamily="34" charset="0"/>
                <a:ea typeface="Arial" pitchFamily="34" charset="-122"/>
                <a:cs typeface="Arial" pitchFamily="34" charset="-120"/>
              </a:rPr>
              <a:t>=</a:t>
            </a:r>
            <a:endParaRPr lang="en-US" sz="3600" dirty="0"/>
          </a:p>
        </p:txBody>
      </p:sp>
      <p:sp>
        <p:nvSpPr>
          <p:cNvPr id="11" name="Shape 8"/>
          <p:cNvSpPr/>
          <p:nvPr/>
        </p:nvSpPr>
        <p:spPr>
          <a:xfrm>
            <a:off x="8257032" y="1920240"/>
            <a:ext cx="3200400" cy="1188720"/>
          </a:xfrm>
          <a:prstGeom prst="roundRect">
            <a:avLst>
              <a:gd name="adj" fmla="val 9231"/>
            </a:avLst>
          </a:prstGeom>
          <a:solidFill>
            <a:srgbClr val="2A2410"/>
          </a:solidFill>
          <a:ln w="19050">
            <a:solidFill>
              <a:srgbClr val="FFB703"/>
            </a:solidFill>
            <a:prstDash val="solid"/>
          </a:ln>
        </p:spPr>
      </p:sp>
      <p:sp>
        <p:nvSpPr>
          <p:cNvPr id="12" name="Text 9"/>
          <p:cNvSpPr txBox="1"/>
          <p:nvPr/>
        </p:nvSpPr>
        <p:spPr>
          <a:xfrm>
            <a:off x="8458200"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NET LOAD</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gas, batteries and imports must cover</a:t>
            </a:r>
            <a:endParaRPr lang="en-US" sz="1100" dirty="0"/>
          </a:p>
        </p:txBody>
      </p:sp>
      <p:sp>
        <p:nvSpPr>
          <p:cNvPr id="13" name="Shape 10"/>
          <p:cNvSpPr/>
          <p:nvPr/>
        </p:nvSpPr>
        <p:spPr>
          <a:xfrm>
            <a:off x="731520" y="3566160"/>
            <a:ext cx="5212080" cy="2468880"/>
          </a:xfrm>
          <a:prstGeom prst="roundRect">
            <a:avLst>
              <a:gd name="adj" fmla="val 4444"/>
            </a:avLst>
          </a:prstGeom>
          <a:solidFill>
            <a:srgbClr val="161E36"/>
          </a:solidFill>
          <a:ln w="12700">
            <a:solidFill>
              <a:srgbClr val="2A3350"/>
            </a:solidFill>
            <a:prstDash val="solid"/>
          </a:ln>
        </p:spPr>
      </p:sp>
      <p:sp>
        <p:nvSpPr>
          <p:cNvPr id="14" name="Text 11"/>
          <p:cNvSpPr txBox="1"/>
          <p:nvPr/>
        </p:nvSpPr>
        <p:spPr>
          <a:xfrm>
            <a:off x="960120" y="3703320"/>
            <a:ext cx="4754880" cy="219456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DEMAND</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CAISO already forecasts it</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It is a different problem, and the operator has its own tools for it.</a:t>
            </a:r>
            <a:endParaRPr lang="en-US" sz="1100" dirty="0"/>
          </a:p>
        </p:txBody>
      </p:sp>
      <p:sp>
        <p:nvSpPr>
          <p:cNvPr id="15" name="Shape 12"/>
          <p:cNvSpPr/>
          <p:nvPr/>
        </p:nvSpPr>
        <p:spPr>
          <a:xfrm>
            <a:off x="6245352" y="3566160"/>
            <a:ext cx="5212080" cy="2468880"/>
          </a:xfrm>
          <a:prstGeom prst="roundRect">
            <a:avLst>
              <a:gd name="adj" fmla="val 4444"/>
            </a:avLst>
          </a:prstGeom>
          <a:solidFill>
            <a:srgbClr val="2A2410"/>
          </a:solidFill>
          <a:ln w="19050">
            <a:solidFill>
              <a:srgbClr val="FFB703"/>
            </a:solidFill>
            <a:prstDash val="solid"/>
          </a:ln>
        </p:spPr>
      </p:sp>
      <p:sp>
        <p:nvSpPr>
          <p:cNvPr id="16" name="Text 13"/>
          <p:cNvSpPr txBox="1"/>
          <p:nvPr/>
        </p:nvSpPr>
        <p:spPr>
          <a:xfrm>
            <a:off x="6473952" y="3703320"/>
            <a:ext cx="4754880" cy="219456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OUR TARGET VARIABLE</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Hourly solar output, in megawatts (MW)</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How much power utility-scale solar plants in the CAISO area actually produce each hour, as measured by the U.S. Energy Information Administration.</a:t>
            </a:r>
            <a:endParaRPr lang="en-US" sz="1100" dirty="0"/>
          </a:p>
        </p:txBody>
      </p:sp>
      <p:sp>
        <p:nvSpPr>
          <p:cNvPr id="17" name="Text 14"/>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Net load definition: U.S. Energy Information Administration (EIA).</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DATA</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Five sources, one hourly table</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1371600"/>
                <a:gridCol w="2743200"/>
                <a:gridCol w="3931920"/>
                <a:gridCol w="267919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SOURCE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IT GIVES US</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STATUS</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Answer key</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Hourly Electric Grid Monitor</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Actual hourly solar output for the CAISO area</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Inputs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Open-Meteo Previous Runs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Weather forecasts published before the 10 a.m. bid close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Benchmark</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 OASIS, report SLD_REN_FCST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CAISO's own day-ahead solar forecast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Scale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Form 860M</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Installed solar capacity, so errors are comparable over time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months covered]</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Flags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 curtailment files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Hours when solar was turned down because the grid could not use it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[Through which month?]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6" name="Text 2"/>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Weather data by Open-Meteo.com (CC BY 4.0).</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RULE THAT KEEPS THE TEST HONEST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may only use </a:t>
            </a:r>
            <a:pPr indent="0" marL="0">
              <a:buNone/>
            </a:pPr>
            <a:r>
              <a:rPr lang="en-US" sz="3400" b="1" dirty="0">
                <a:solidFill>
                  <a:srgbClr val="FFB703"/>
                </a:solidFill>
                <a:latin typeface="Arial" pitchFamily="34" charset="0"/>
                <a:ea typeface="Arial" pitchFamily="34" charset="-122"/>
                <a:cs typeface="Arial" pitchFamily="34" charset="-120"/>
              </a:rPr>
              <a:t>what is known at 10 a.m.</a:t>
            </a:r>
            <a:endParaRPr lang="en-US" sz="3400" dirty="0"/>
          </a:p>
        </p:txBody>
      </p:sp>
      <p:sp>
        <p:nvSpPr>
          <p:cNvPr id="5" name="Shape 2"/>
          <p:cNvSpPr/>
          <p:nvPr/>
        </p:nvSpPr>
        <p:spPr>
          <a:xfrm>
            <a:off x="731520" y="2011680"/>
            <a:ext cx="5212080" cy="2286000"/>
          </a:xfrm>
          <a:prstGeom prst="roundRect">
            <a:avLst>
              <a:gd name="adj" fmla="val 4800"/>
            </a:avLst>
          </a:prstGeom>
          <a:solidFill>
            <a:srgbClr val="161E36"/>
          </a:solidFill>
          <a:ln w="19050">
            <a:solidFill>
              <a:srgbClr val="199E70"/>
            </a:solidFill>
            <a:prstDash val="solid"/>
          </a:ln>
        </p:spPr>
      </p:sp>
      <p:sp>
        <p:nvSpPr>
          <p:cNvPr id="6" name="Text 3"/>
          <p:cNvSpPr txBox="1"/>
          <p:nvPr/>
        </p:nvSpPr>
        <p:spPr>
          <a:xfrm>
            <a:off x="960120" y="2148840"/>
            <a:ext cx="4754880" cy="201168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ALLOWED (MAIN MODEL)</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Weather forecast made two days before</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Published before the 10 a.m. bid close for every hour of the next day. This is the input we plan to use.</a:t>
            </a:r>
            <a:endParaRPr lang="en-US" sz="1100" dirty="0"/>
          </a:p>
        </p:txBody>
      </p:sp>
      <p:sp>
        <p:nvSpPr>
          <p:cNvPr id="7" name="Shape 4"/>
          <p:cNvSpPr/>
          <p:nvPr/>
        </p:nvSpPr>
        <p:spPr>
          <a:xfrm>
            <a:off x="6245352" y="2011680"/>
            <a:ext cx="5212080" cy="2286000"/>
          </a:xfrm>
          <a:prstGeom prst="roundRect">
            <a:avLst>
              <a:gd name="adj" fmla="val 4800"/>
            </a:avLst>
          </a:prstGeom>
          <a:solidFill>
            <a:srgbClr val="2A2410"/>
          </a:solidFill>
          <a:ln w="19050">
            <a:solidFill>
              <a:srgbClr val="FFB703"/>
            </a:solidFill>
            <a:prstDash val="solid"/>
          </a:ln>
        </p:spPr>
      </p:sp>
      <p:sp>
        <p:nvSpPr>
          <p:cNvPr id="8" name="Text 5"/>
          <p:cNvSpPr txBox="1"/>
          <p:nvPr/>
        </p:nvSpPr>
        <p:spPr>
          <a:xfrm>
            <a:off x="6473952" y="2148840"/>
            <a:ext cx="4754880" cy="201168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COMPARISON ONLY</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Weather forecast made one day before</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For afternoon hours it is likely published after the bid close. We run it only as a labeled comparison, never as our result.</a:t>
            </a:r>
            <a:endParaRPr lang="en-US" sz="1100" dirty="0"/>
          </a:p>
        </p:txBody>
      </p:sp>
      <p:sp>
        <p:nvSpPr>
          <p:cNvPr id="9" name="Text 6"/>
          <p:cNvSpPr txBox="1"/>
          <p:nvPr/>
        </p:nvSpPr>
        <p:spPr>
          <a:xfrm>
            <a:off x="731520" y="4663440"/>
            <a:ext cx="10725912" cy="822960"/>
          </a:xfrm>
          <a:prstGeom prst="rect">
            <a:avLst/>
          </a:prstGeom>
          <a:noFill/>
          <a:ln/>
        </p:spPr>
        <p:txBody>
          <a:bodyPr wrap="square" lIns="0" tIns="0" rIns="0" bIns="0" rtlCol="0" anchor="t"/>
          <a:lstStyle/>
          <a:p>
            <a:pPr indent="0" marL="0">
              <a:buNone/>
            </a:pPr>
            <a:r>
              <a:rPr lang="en-US" sz="2200" dirty="0">
                <a:solidFill>
                  <a:srgbClr val="F1F4FB"/>
                </a:solidFill>
                <a:latin typeface="Arial" pitchFamily="34" charset="0"/>
                <a:ea typeface="Arial" pitchFamily="34" charset="-122"/>
                <a:cs typeface="Arial" pitchFamily="34" charset="-120"/>
              </a:rPr>
              <a:t>Why it matters: a forecast that peeks at later information looks better than it could be in real life.</a:t>
            </a:r>
            <a:endParaRPr lang="en-US" sz="2200" dirty="0"/>
          </a:p>
        </p:txBody>
      </p:sp>
      <p:sp>
        <p:nvSpPr>
          <p:cNvPr id="10" name="Text 7"/>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Final choice of forecast offset is confirmed in project plan Task 6.</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The data at a glance</a:t>
            </a:r>
            <a:endParaRPr lang="en-US" sz="3400" dirty="0"/>
          </a:p>
        </p:txBody>
      </p:sp>
      <p:sp>
        <p:nvSpPr>
          <p:cNvPr id="5" name="Text 2"/>
          <p:cNvSpPr txBox="1"/>
          <p:nvPr/>
        </p:nvSpPr>
        <p:spPr>
          <a:xfrm>
            <a:off x="731520" y="1600200"/>
            <a:ext cx="10725912" cy="411480"/>
          </a:xfrm>
          <a:prstGeom prst="roundRect">
            <a:avLst>
              <a:gd name="adj" fmla="val 17778"/>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300" b="1" dirty="0">
                <a:solidFill>
                  <a:srgbClr val="FFD166"/>
                </a:solidFill>
                <a:latin typeface="Arial" pitchFamily="34" charset="0"/>
                <a:ea typeface="Arial" pitchFamily="34" charset="-122"/>
                <a:cs typeface="Arial" pitchFamily="34" charset="-120"/>
              </a:rPr>
              <a:t>PLACEHOLDER: fill every box from the merged table (plan Tasks 7 to 11) before presenting</a:t>
            </a:r>
            <a:endParaRPr lang="en-US" sz="1300" dirty="0"/>
          </a:p>
        </p:txBody>
      </p:sp>
      <p:sp>
        <p:nvSpPr>
          <p:cNvPr id="6" name="Shape 3"/>
          <p:cNvSpPr/>
          <p:nvPr/>
        </p:nvSpPr>
        <p:spPr>
          <a:xfrm>
            <a:off x="731520" y="2377440"/>
            <a:ext cx="3383280" cy="2651760"/>
          </a:xfrm>
          <a:prstGeom prst="roundRect">
            <a:avLst>
              <a:gd name="adj" fmla="val 4138"/>
            </a:avLst>
          </a:prstGeom>
          <a:solidFill>
            <a:srgbClr val="161E36"/>
          </a:solidFill>
          <a:ln w="12700">
            <a:solidFill>
              <a:srgbClr val="2A3350"/>
            </a:solidFill>
            <a:prstDash val="solid"/>
          </a:ln>
        </p:spPr>
      </p:sp>
      <p:sp>
        <p:nvSpPr>
          <p:cNvPr id="7" name="Text 4"/>
          <p:cNvSpPr txBox="1"/>
          <p:nvPr/>
        </p:nvSpPr>
        <p:spPr>
          <a:xfrm>
            <a:off x="960120"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PERIOD COVERED</a:t>
            </a:r>
            <a:endParaRPr lang="en-US" sz="1100" dirty="0"/>
          </a:p>
        </p:txBody>
      </p:sp>
      <p:sp>
        <p:nvSpPr>
          <p:cNvPr id="8" name="Text 5"/>
          <p:cNvSpPr txBox="1"/>
          <p:nvPr/>
        </p:nvSpPr>
        <p:spPr>
          <a:xfrm>
            <a:off x="960120"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[Start to end]</a:t>
            </a:r>
            <a:endParaRPr lang="en-US" sz="2600" dirty="0"/>
          </a:p>
        </p:txBody>
      </p:sp>
      <p:sp>
        <p:nvSpPr>
          <p:cNvPr id="9" name="Text 6"/>
          <p:cNvSpPr txBox="1"/>
          <p:nvPr/>
        </p:nvSpPr>
        <p:spPr>
          <a:xfrm>
            <a:off x="960120"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First and last day in the merged table.</a:t>
            </a:r>
            <a:endParaRPr lang="en-US" sz="1500" dirty="0"/>
          </a:p>
        </p:txBody>
      </p:sp>
      <p:sp>
        <p:nvSpPr>
          <p:cNvPr id="10" name="Shape 7"/>
          <p:cNvSpPr/>
          <p:nvPr/>
        </p:nvSpPr>
        <p:spPr>
          <a:xfrm>
            <a:off x="4402836" y="2377440"/>
            <a:ext cx="3383280" cy="2651760"/>
          </a:xfrm>
          <a:prstGeom prst="roundRect">
            <a:avLst>
              <a:gd name="adj" fmla="val 4138"/>
            </a:avLst>
          </a:prstGeom>
          <a:solidFill>
            <a:srgbClr val="161E36"/>
          </a:solidFill>
          <a:ln w="12700">
            <a:solidFill>
              <a:srgbClr val="2A3350"/>
            </a:solidFill>
            <a:prstDash val="solid"/>
          </a:ln>
        </p:spPr>
      </p:sp>
      <p:sp>
        <p:nvSpPr>
          <p:cNvPr id="11" name="Text 8"/>
          <p:cNvSpPr txBox="1"/>
          <p:nvPr/>
        </p:nvSpPr>
        <p:spPr>
          <a:xfrm>
            <a:off x="4631436"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HOURS OF DATA</a:t>
            </a:r>
            <a:endParaRPr lang="en-US" sz="1100" dirty="0"/>
          </a:p>
        </p:txBody>
      </p:sp>
      <p:sp>
        <p:nvSpPr>
          <p:cNvPr id="12" name="Text 9"/>
          <p:cNvSpPr txBox="1"/>
          <p:nvPr/>
        </p:nvSpPr>
        <p:spPr>
          <a:xfrm>
            <a:off x="4631436"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[N]</a:t>
            </a:r>
            <a:endParaRPr lang="en-US" sz="2600" dirty="0"/>
          </a:p>
        </p:txBody>
      </p:sp>
      <p:sp>
        <p:nvSpPr>
          <p:cNvPr id="13" name="Text 10"/>
          <p:cNvSpPr txBox="1"/>
          <p:nvPr/>
        </p:nvSpPr>
        <p:spPr>
          <a:xfrm>
            <a:off x="4631436"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Daylight hours with a solar value, a weather forecast and a CAISO forecast.</a:t>
            </a:r>
            <a:endParaRPr lang="en-US" sz="1500" dirty="0"/>
          </a:p>
        </p:txBody>
      </p:sp>
      <p:sp>
        <p:nvSpPr>
          <p:cNvPr id="14" name="Shape 11"/>
          <p:cNvSpPr/>
          <p:nvPr/>
        </p:nvSpPr>
        <p:spPr>
          <a:xfrm>
            <a:off x="8074152" y="2377440"/>
            <a:ext cx="3383280" cy="2651760"/>
          </a:xfrm>
          <a:prstGeom prst="roundRect">
            <a:avLst>
              <a:gd name="adj" fmla="val 4138"/>
            </a:avLst>
          </a:prstGeom>
          <a:solidFill>
            <a:srgbClr val="161E36"/>
          </a:solidFill>
          <a:ln w="12700">
            <a:solidFill>
              <a:srgbClr val="2A3350"/>
            </a:solidFill>
            <a:prstDash val="solid"/>
          </a:ln>
        </p:spPr>
      </p:sp>
      <p:sp>
        <p:nvSpPr>
          <p:cNvPr id="15" name="Text 12"/>
          <p:cNvSpPr txBox="1"/>
          <p:nvPr/>
        </p:nvSpPr>
        <p:spPr>
          <a:xfrm>
            <a:off x="8302752"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MISSING OR ODD HOURS</a:t>
            </a:r>
            <a:endParaRPr lang="en-US" sz="1100" dirty="0"/>
          </a:p>
        </p:txBody>
      </p:sp>
      <p:sp>
        <p:nvSpPr>
          <p:cNvPr id="16" name="Text 13"/>
          <p:cNvSpPr txBox="1"/>
          <p:nvPr/>
        </p:nvSpPr>
        <p:spPr>
          <a:xfrm>
            <a:off x="8302752"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7" name="Text 14"/>
          <p:cNvSpPr txBox="1"/>
          <p:nvPr/>
        </p:nvSpPr>
        <p:spPr>
          <a:xfrm>
            <a:off x="8302752"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Gaps, repeated hours and impossible values, and how we handle them.</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What a typical solar day looks like, </a:t>
            </a:r>
            <a:pPr indent="0" marL="0">
              <a:buNone/>
            </a:pPr>
            <a:r>
              <a:rPr lang="en-US" sz="3400" b="1" dirty="0">
                <a:solidFill>
                  <a:srgbClr val="FFB703"/>
                </a:solidFill>
                <a:latin typeface="Arial" pitchFamily="34" charset="0"/>
                <a:ea typeface="Arial" pitchFamily="34" charset="-122"/>
                <a:cs typeface="Arial" pitchFamily="34" charset="-120"/>
              </a:rPr>
              <a:t>by season</a:t>
            </a:r>
            <a:endParaRPr lang="en-US" sz="3400" dirty="0"/>
          </a:p>
        </p:txBody>
      </p:sp>
      <p:sp>
        <p:nvSpPr>
          <p:cNvPr id="5" name="Text 2"/>
          <p:cNvSpPr txBox="1"/>
          <p:nvPr/>
        </p:nvSpPr>
        <p:spPr>
          <a:xfrm>
            <a:off x="731520" y="1600200"/>
            <a:ext cx="10725912" cy="2926080"/>
          </a:xfrm>
          <a:prstGeom prst="roundRect">
            <a:avLst>
              <a:gd name="adj" fmla="val 3750"/>
            </a:avLst>
          </a:prstGeom>
          <a:solidFill>
            <a:srgbClr val="2A2410">
              <a:alpha val="60000"/>
            </a:srgbClr>
          </a:solidFill>
          <a:ln w="19050">
            <a:solidFill>
              <a:srgbClr val="FFB703"/>
            </a:solidFill>
            <a:prstDash val="dash"/>
          </a:ln>
        </p:spPr>
        <p:txBody>
          <a:bodyPr wrap="square" lIns="2540" tIns="19050" rIns="19050" bIns="2540" rtlCol="0" anchor="ctr"/>
          <a:lstStyle/>
          <a:p>
            <a:pPr algn="ctr" indent="0" marL="0">
              <a:buNone/>
            </a:pPr>
            <a:r>
              <a:rPr lang="en-US" sz="1300" b="1" spc="300" kern="0" dirty="0">
                <a:solidFill>
                  <a:srgbClr val="FFD166"/>
                </a:solidFill>
                <a:latin typeface="Arial" pitchFamily="34" charset="0"/>
                <a:ea typeface="Arial" pitchFamily="34" charset="-122"/>
                <a:cs typeface="Arial" pitchFamily="34" charset="-120"/>
              </a:rPr>
              <a:t>PLACEHOLDER CHART</a:t>
            </a:r>
            <a:endParaRPr lang="en-US" sz="1300" dirty="0"/>
          </a:p>
          <a:p>
            <a:pPr algn="ctr" indent="0" marL="0">
              <a:spcBef>
                <a:spcPts val="800"/>
              </a:spcBef>
              <a:buNone/>
            </a:pPr>
            <a:r>
              <a:rPr lang="en-US" sz="1800" dirty="0">
                <a:solidFill>
                  <a:srgbClr val="B9C2D6"/>
                </a:solidFill>
                <a:latin typeface="Arial" pitchFamily="34" charset="0"/>
                <a:ea typeface="Arial" pitchFamily="34" charset="-122"/>
                <a:cs typeface="Arial" pitchFamily="34" charset="-120"/>
              </a:rPr>
              <a:t>Line chart: average solar output (MW) by hour of day, one line per season. Blue is actual EIA output. Label the lines directly.</a:t>
            </a:r>
            <a:endParaRPr lang="en-US" sz="1300" dirty="0"/>
          </a:p>
          <a:p>
            <a:pPr algn="ctr" indent="0" marL="0">
              <a:spcBef>
                <a:spcPts val="800"/>
              </a:spcBef>
              <a:buNone/>
            </a:pPr>
            <a:r>
              <a:rPr lang="en-US" sz="1200" dirty="0">
                <a:solidFill>
                  <a:srgbClr val="8893AB"/>
                </a:solidFill>
                <a:latin typeface="Arial" pitchFamily="34" charset="0"/>
                <a:ea typeface="Arial" pitchFamily="34" charset="-122"/>
                <a:cs typeface="Arial" pitchFamily="34" charset="-120"/>
              </a:rPr>
              <a:t>Source: merged hourly table, Pacific time.</a:t>
            </a:r>
            <a:endParaRPr lang="en-US" sz="1300" dirty="0"/>
          </a:p>
        </p:txBody>
      </p:sp>
      <p:sp>
        <p:nvSpPr>
          <p:cNvPr id="6" name="Shape 3"/>
          <p:cNvSpPr/>
          <p:nvPr/>
        </p:nvSpPr>
        <p:spPr>
          <a:xfrm>
            <a:off x="731520" y="4800600"/>
            <a:ext cx="5212080" cy="1234440"/>
          </a:xfrm>
          <a:prstGeom prst="roundRect">
            <a:avLst>
              <a:gd name="adj" fmla="val 8889"/>
            </a:avLst>
          </a:prstGeom>
          <a:solidFill>
            <a:srgbClr val="161E36"/>
          </a:solidFill>
          <a:ln w="12700">
            <a:solidFill>
              <a:srgbClr val="2A3350"/>
            </a:solidFill>
            <a:prstDash val="solid"/>
          </a:ln>
        </p:spPr>
      </p:sp>
      <p:sp>
        <p:nvSpPr>
          <p:cNvPr id="7" name="Text 4"/>
          <p:cNvSpPr txBox="1"/>
          <p:nvPr/>
        </p:nvSpPr>
        <p:spPr>
          <a:xfrm>
            <a:off x="960120" y="4937760"/>
            <a:ext cx="47548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WHAT TO SAY</a:t>
            </a:r>
            <a:endParaRPr lang="en-US" sz="1100" dirty="0"/>
          </a:p>
        </p:txBody>
      </p:sp>
      <p:sp>
        <p:nvSpPr>
          <p:cNvPr id="8" name="Text 5"/>
          <p:cNvSpPr txBox="1"/>
          <p:nvPr/>
        </p:nvSpPr>
        <p:spPr>
          <a:xfrm>
            <a:off x="960120" y="5303520"/>
            <a:ext cx="4754880" cy="548640"/>
          </a:xfrm>
          <a:prstGeom prst="roundRect">
            <a:avLst>
              <a:gd name="adj" fmla="val 13333"/>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800" b="1" dirty="0">
                <a:solidFill>
                  <a:srgbClr val="FFD166"/>
                </a:solidFill>
                <a:latin typeface="Arial" pitchFamily="34" charset="0"/>
                <a:ea typeface="Arial" pitchFamily="34" charset="-122"/>
                <a:cs typeface="Arial" pitchFamily="34" charset="-120"/>
              </a:rPr>
              <a:t>[One sentence on the shape]</a:t>
            </a:r>
            <a:endParaRPr lang="en-US" sz="1800" dirty="0"/>
          </a:p>
        </p:txBody>
      </p:sp>
      <p:sp>
        <p:nvSpPr>
          <p:cNvPr id="9" name="Shape 6"/>
          <p:cNvSpPr/>
          <p:nvPr/>
        </p:nvSpPr>
        <p:spPr>
          <a:xfrm>
            <a:off x="6245352" y="4800600"/>
            <a:ext cx="5212080" cy="1234440"/>
          </a:xfrm>
          <a:prstGeom prst="roundRect">
            <a:avLst>
              <a:gd name="adj" fmla="val 8889"/>
            </a:avLst>
          </a:prstGeom>
          <a:solidFill>
            <a:srgbClr val="161E36"/>
          </a:solidFill>
          <a:ln w="12700">
            <a:solidFill>
              <a:srgbClr val="2A3350"/>
            </a:solidFill>
            <a:prstDash val="solid"/>
          </a:ln>
        </p:spPr>
      </p:sp>
      <p:sp>
        <p:nvSpPr>
          <p:cNvPr id="10" name="Text 7"/>
          <p:cNvSpPr txBox="1"/>
          <p:nvPr/>
        </p:nvSpPr>
        <p:spPr>
          <a:xfrm>
            <a:off x="6473952" y="4937760"/>
            <a:ext cx="47548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WHAT IT MEANS FOR THE MODEL</a:t>
            </a:r>
            <a:endParaRPr lang="en-US" sz="1100" dirty="0"/>
          </a:p>
        </p:txBody>
      </p:sp>
      <p:sp>
        <p:nvSpPr>
          <p:cNvPr id="11" name="Text 8"/>
          <p:cNvSpPr txBox="1"/>
          <p:nvPr/>
        </p:nvSpPr>
        <p:spPr>
          <a:xfrm>
            <a:off x="6473952" y="5303520"/>
            <a:ext cx="4754880" cy="548640"/>
          </a:xfrm>
          <a:prstGeom prst="roundRect">
            <a:avLst>
              <a:gd name="adj" fmla="val 13333"/>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800" b="1" dirty="0">
                <a:solidFill>
                  <a:srgbClr val="FFD166"/>
                </a:solidFill>
                <a:latin typeface="Arial" pitchFamily="34" charset="0"/>
                <a:ea typeface="Arial" pitchFamily="34" charset="-122"/>
                <a:cs typeface="Arial" pitchFamily="34" charset="-120"/>
              </a:rPr>
              <a:t>[One sentence on seasons]</a:t>
            </a:r>
            <a:endParaRPr lang="en-US" sz="18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Four data problems, and what we do about each</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2103120"/>
                <a:gridCol w="3291840"/>
                <a:gridCol w="3474720"/>
                <a:gridCol w="185623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ISSUE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WE CHECK</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WE DO</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HOW MANY</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Clocks disagree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reports in UTC. Other sources use other clocks.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Convert everything to one clock, then check against sunrise and sunset.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Missing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Gaps and repeated hours in each source.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Fill short gaps, drop long ones, and say which.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[N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Turned-down solar</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Hours when plants made less than the sun allowed (curtailment).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Flag those hours and report results with and without them.</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[N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More panels over time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Installed capacity grows month by month.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Scale errors by installed capacity so months compare fairly.</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[Growth, MW]</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BAR TO BEAT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How good is CAISO's own forecast </a:t>
            </a:r>
            <a:pPr indent="0" marL="0">
              <a:buNone/>
            </a:pPr>
            <a:r>
              <a:rPr lang="en-US" sz="3400" b="1" dirty="0">
                <a:solidFill>
                  <a:srgbClr val="FFB703"/>
                </a:solidFill>
                <a:latin typeface="Arial" pitchFamily="34" charset="0"/>
                <a:ea typeface="Arial" pitchFamily="34" charset="-122"/>
                <a:cs typeface="Arial" pitchFamily="34" charset="-120"/>
              </a:rPr>
              <a:t>on our data?</a:t>
            </a:r>
            <a:endParaRPr lang="en-US" sz="3400" dirty="0"/>
          </a:p>
        </p:txBody>
      </p:sp>
      <p:sp>
        <p:nvSpPr>
          <p:cNvPr id="5" name="Text 2"/>
          <p:cNvSpPr txBox="1"/>
          <p:nvPr/>
        </p:nvSpPr>
        <p:spPr>
          <a:xfrm>
            <a:off x="731520" y="1600200"/>
            <a:ext cx="10725912"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300" b="1" dirty="0">
                <a:solidFill>
                  <a:srgbClr val="FFD166"/>
                </a:solidFill>
                <a:latin typeface="Arial" pitchFamily="34" charset="0"/>
                <a:ea typeface="Arial" pitchFamily="34" charset="-122"/>
                <a:cs typeface="Arial" pitchFamily="34" charset="-120"/>
              </a:rPr>
              <a:t>PLACEHOLDER: score both forecasts on the same daylight hours before presenting. Capstone 1 used a rough 4 to 5% estimate from outside sources.</a:t>
            </a:r>
            <a:endParaRPr lang="en-US" sz="1300" dirty="0"/>
          </a:p>
        </p:txBody>
      </p:sp>
      <p:sp>
        <p:nvSpPr>
          <p:cNvPr id="6" name="Shape 3"/>
          <p:cNvSpPr/>
          <p:nvPr/>
        </p:nvSpPr>
        <p:spPr>
          <a:xfrm>
            <a:off x="731520" y="2606040"/>
            <a:ext cx="3383280" cy="2651760"/>
          </a:xfrm>
          <a:prstGeom prst="roundRect">
            <a:avLst>
              <a:gd name="adj" fmla="val 4138"/>
            </a:avLst>
          </a:prstGeom>
          <a:solidFill>
            <a:srgbClr val="161E36"/>
          </a:solidFill>
          <a:ln w="12700">
            <a:solidFill>
              <a:srgbClr val="2A3350"/>
            </a:solidFill>
            <a:prstDash val="solid"/>
          </a:ln>
        </p:spPr>
      </p:sp>
      <p:sp>
        <p:nvSpPr>
          <p:cNvPr id="7" name="Text 4"/>
          <p:cNvSpPr txBox="1"/>
          <p:nvPr/>
        </p:nvSpPr>
        <p:spPr>
          <a:xfrm>
            <a:off x="960120"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SAME AS YESTERDAY</a:t>
            </a:r>
            <a:endParaRPr lang="en-US" sz="1100" dirty="0"/>
          </a:p>
        </p:txBody>
      </p:sp>
      <p:sp>
        <p:nvSpPr>
          <p:cNvPr id="8" name="Text 5"/>
          <p:cNvSpPr txBox="1"/>
          <p:nvPr/>
        </p:nvSpPr>
        <p:spPr>
          <a:xfrm>
            <a:off x="960120"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9" name="Text 6"/>
          <p:cNvSpPr txBox="1"/>
          <p:nvPr/>
        </p:nvSpPr>
        <p:spPr>
          <a:xfrm>
            <a:off x="960120"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Average miss as a share of installed solar capacity. The floor to beat.</a:t>
            </a:r>
            <a:endParaRPr lang="en-US" sz="1500" dirty="0"/>
          </a:p>
        </p:txBody>
      </p:sp>
      <p:sp>
        <p:nvSpPr>
          <p:cNvPr id="10" name="Shape 7"/>
          <p:cNvSpPr/>
          <p:nvPr/>
        </p:nvSpPr>
        <p:spPr>
          <a:xfrm>
            <a:off x="4402836" y="2606040"/>
            <a:ext cx="3383280" cy="2651760"/>
          </a:xfrm>
          <a:prstGeom prst="roundRect">
            <a:avLst>
              <a:gd name="adj" fmla="val 4138"/>
            </a:avLst>
          </a:prstGeom>
          <a:solidFill>
            <a:srgbClr val="161E36"/>
          </a:solidFill>
          <a:ln w="12700">
            <a:solidFill>
              <a:srgbClr val="2A3350"/>
            </a:solidFill>
            <a:prstDash val="solid"/>
          </a:ln>
        </p:spPr>
      </p:sp>
      <p:sp>
        <p:nvSpPr>
          <p:cNvPr id="11" name="Text 8"/>
          <p:cNvSpPr txBox="1"/>
          <p:nvPr/>
        </p:nvSpPr>
        <p:spPr>
          <a:xfrm>
            <a:off x="4631436"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CAISO'S FORECAST</a:t>
            </a:r>
            <a:endParaRPr lang="en-US" sz="1100" dirty="0"/>
          </a:p>
        </p:txBody>
      </p:sp>
      <p:sp>
        <p:nvSpPr>
          <p:cNvPr id="12" name="Text 9"/>
          <p:cNvSpPr txBox="1"/>
          <p:nvPr/>
        </p:nvSpPr>
        <p:spPr>
          <a:xfrm>
            <a:off x="4631436"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3" name="Text 10"/>
          <p:cNvSpPr txBox="1"/>
          <p:nvPr/>
        </p:nvSpPr>
        <p:spPr>
          <a:xfrm>
            <a:off x="4631436"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The benchmark. Scored on the same hours as ours.</a:t>
            </a:r>
            <a:endParaRPr lang="en-US" sz="1500" dirty="0"/>
          </a:p>
        </p:txBody>
      </p:sp>
      <p:sp>
        <p:nvSpPr>
          <p:cNvPr id="14" name="Shape 11"/>
          <p:cNvSpPr/>
          <p:nvPr/>
        </p:nvSpPr>
        <p:spPr>
          <a:xfrm>
            <a:off x="8074152" y="2606040"/>
            <a:ext cx="3383280" cy="2651760"/>
          </a:xfrm>
          <a:prstGeom prst="roundRect">
            <a:avLst>
              <a:gd name="adj" fmla="val 4138"/>
            </a:avLst>
          </a:prstGeom>
          <a:solidFill>
            <a:srgbClr val="161E36"/>
          </a:solidFill>
          <a:ln w="12700">
            <a:solidFill>
              <a:srgbClr val="2A3350"/>
            </a:solidFill>
            <a:prstDash val="solid"/>
          </a:ln>
        </p:spPr>
      </p:sp>
      <p:sp>
        <p:nvSpPr>
          <p:cNvPr id="15" name="Text 12"/>
          <p:cNvSpPr txBox="1"/>
          <p:nvPr/>
        </p:nvSpPr>
        <p:spPr>
          <a:xfrm>
            <a:off x="8302752"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OUR TARGET</a:t>
            </a:r>
            <a:endParaRPr lang="en-US" sz="1100" dirty="0"/>
          </a:p>
        </p:txBody>
      </p:sp>
      <p:sp>
        <p:nvSpPr>
          <p:cNvPr id="16" name="Text 13"/>
          <p:cNvSpPr txBox="1"/>
          <p:nvPr/>
        </p:nvSpPr>
        <p:spPr>
          <a:xfrm>
            <a:off x="8302752"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7" name="Text 14"/>
          <p:cNvSpPr txBox="1"/>
          <p:nvPr/>
        </p:nvSpPr>
        <p:spPr>
          <a:xfrm>
            <a:off x="8302752"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No more than 1.25 times CAISO's miss. Rechecked now that we have real numbers.</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PREPARATION</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From five sources to </a:t>
            </a:r>
            <a:pPr indent="0" marL="0">
              <a:buNone/>
            </a:pPr>
            <a:r>
              <a:rPr lang="en-US" sz="3400" b="1" dirty="0">
                <a:solidFill>
                  <a:srgbClr val="FFB703"/>
                </a:solidFill>
                <a:latin typeface="Arial" pitchFamily="34" charset="0"/>
                <a:ea typeface="Arial" pitchFamily="34" charset="-122"/>
                <a:cs typeface="Arial" pitchFamily="34" charset="-120"/>
              </a:rPr>
              <a:t>one table</a:t>
            </a:r>
            <a:endParaRPr lang="en-US" sz="3400" dirty="0"/>
          </a:p>
        </p:txBody>
      </p:sp>
      <p:sp>
        <p:nvSpPr>
          <p:cNvPr id="5" name="Shape 2"/>
          <p:cNvSpPr/>
          <p:nvPr/>
        </p:nvSpPr>
        <p:spPr>
          <a:xfrm>
            <a:off x="731520" y="2103120"/>
            <a:ext cx="2011680" cy="3108960"/>
          </a:xfrm>
          <a:prstGeom prst="roundRect">
            <a:avLst>
              <a:gd name="adj" fmla="val 5455"/>
            </a:avLst>
          </a:prstGeom>
          <a:solidFill>
            <a:srgbClr val="161E36"/>
          </a:solidFill>
          <a:ln w="12700">
            <a:solidFill>
              <a:srgbClr val="2A3350"/>
            </a:solidFill>
            <a:prstDash val="solid"/>
          </a:ln>
        </p:spPr>
      </p:sp>
      <p:sp>
        <p:nvSpPr>
          <p:cNvPr id="6" name="Text 3"/>
          <p:cNvSpPr txBox="1"/>
          <p:nvPr/>
        </p:nvSpPr>
        <p:spPr>
          <a:xfrm>
            <a:off x="932688"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932688"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Pull</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Download each source for the same dates.</a:t>
            </a:r>
            <a:endParaRPr lang="en-US" sz="2200" dirty="0"/>
          </a:p>
        </p:txBody>
      </p:sp>
      <p:sp>
        <p:nvSpPr>
          <p:cNvPr id="8" name="Shape 5"/>
          <p:cNvSpPr/>
          <p:nvPr/>
        </p:nvSpPr>
        <p:spPr>
          <a:xfrm>
            <a:off x="2907792" y="2103120"/>
            <a:ext cx="2011680" cy="3108960"/>
          </a:xfrm>
          <a:prstGeom prst="roundRect">
            <a:avLst>
              <a:gd name="adj" fmla="val 5455"/>
            </a:avLst>
          </a:prstGeom>
          <a:solidFill>
            <a:srgbClr val="161E36"/>
          </a:solidFill>
          <a:ln w="12700">
            <a:solidFill>
              <a:srgbClr val="2A3350"/>
            </a:solidFill>
            <a:prstDash val="solid"/>
          </a:ln>
        </p:spPr>
      </p:sp>
      <p:sp>
        <p:nvSpPr>
          <p:cNvPr id="9" name="Text 6"/>
          <p:cNvSpPr txBox="1"/>
          <p:nvPr/>
        </p:nvSpPr>
        <p:spPr>
          <a:xfrm>
            <a:off x="3108960"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3108960"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Align</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One clock, one row per hour.</a:t>
            </a:r>
            <a:endParaRPr lang="en-US" sz="2200" dirty="0"/>
          </a:p>
        </p:txBody>
      </p:sp>
      <p:sp>
        <p:nvSpPr>
          <p:cNvPr id="11" name="Shape 8"/>
          <p:cNvSpPr/>
          <p:nvPr/>
        </p:nvSpPr>
        <p:spPr>
          <a:xfrm>
            <a:off x="5084064" y="2103120"/>
            <a:ext cx="2011680" cy="3108960"/>
          </a:xfrm>
          <a:prstGeom prst="roundRect">
            <a:avLst>
              <a:gd name="adj" fmla="val 5455"/>
            </a:avLst>
          </a:prstGeom>
          <a:solidFill>
            <a:srgbClr val="161E36"/>
          </a:solidFill>
          <a:ln w="12700">
            <a:solidFill>
              <a:srgbClr val="2A3350"/>
            </a:solidFill>
            <a:prstDash val="solid"/>
          </a:ln>
        </p:spPr>
      </p:sp>
      <p:sp>
        <p:nvSpPr>
          <p:cNvPr id="12" name="Text 9"/>
          <p:cNvSpPr txBox="1"/>
          <p:nvPr/>
        </p:nvSpPr>
        <p:spPr>
          <a:xfrm>
            <a:off x="5285232"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5285232"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Clean</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Handle gaps and flag curtailed hours.</a:t>
            </a:r>
            <a:endParaRPr lang="en-US" sz="2200" dirty="0"/>
          </a:p>
        </p:txBody>
      </p:sp>
      <p:sp>
        <p:nvSpPr>
          <p:cNvPr id="14" name="Shape 11"/>
          <p:cNvSpPr/>
          <p:nvPr/>
        </p:nvSpPr>
        <p:spPr>
          <a:xfrm>
            <a:off x="7260336" y="2103120"/>
            <a:ext cx="2011680" cy="3108960"/>
          </a:xfrm>
          <a:prstGeom prst="roundRect">
            <a:avLst>
              <a:gd name="adj" fmla="val 5455"/>
            </a:avLst>
          </a:prstGeom>
          <a:solidFill>
            <a:srgbClr val="161E36"/>
          </a:solidFill>
          <a:ln w="12700">
            <a:solidFill>
              <a:srgbClr val="2A3350"/>
            </a:solidFill>
            <a:prstDash val="solid"/>
          </a:ln>
        </p:spPr>
      </p:sp>
      <p:sp>
        <p:nvSpPr>
          <p:cNvPr id="15" name="Text 12"/>
          <p:cNvSpPr txBox="1"/>
          <p:nvPr/>
        </p:nvSpPr>
        <p:spPr>
          <a:xfrm>
            <a:off x="7461504"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4</a:t>
            </a:r>
            <a:endParaRPr lang="en-US" sz="1600" dirty="0"/>
          </a:p>
        </p:txBody>
      </p:sp>
      <p:sp>
        <p:nvSpPr>
          <p:cNvPr id="16" name="Text 13"/>
          <p:cNvSpPr txBox="1"/>
          <p:nvPr/>
        </p:nvSpPr>
        <p:spPr>
          <a:xfrm>
            <a:off x="7461504"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Add features</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Hour, season, sun angle, scaled by capacity.</a:t>
            </a:r>
            <a:endParaRPr lang="en-US" sz="2200" dirty="0"/>
          </a:p>
        </p:txBody>
      </p:sp>
      <p:sp>
        <p:nvSpPr>
          <p:cNvPr id="17" name="Shape 14"/>
          <p:cNvSpPr/>
          <p:nvPr/>
        </p:nvSpPr>
        <p:spPr>
          <a:xfrm>
            <a:off x="9436608" y="2103120"/>
            <a:ext cx="2011680" cy="3108960"/>
          </a:xfrm>
          <a:prstGeom prst="roundRect">
            <a:avLst>
              <a:gd name="adj" fmla="val 5455"/>
            </a:avLst>
          </a:prstGeom>
          <a:solidFill>
            <a:srgbClr val="161E36"/>
          </a:solidFill>
          <a:ln w="12700">
            <a:solidFill>
              <a:srgbClr val="2A3350"/>
            </a:solidFill>
            <a:prstDash val="solid"/>
          </a:ln>
        </p:spPr>
      </p:sp>
      <p:sp>
        <p:nvSpPr>
          <p:cNvPr id="18" name="Text 15"/>
          <p:cNvSpPr txBox="1"/>
          <p:nvPr/>
        </p:nvSpPr>
        <p:spPr>
          <a:xfrm>
            <a:off x="9637776"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5</a:t>
            </a:r>
            <a:endParaRPr lang="en-US" sz="1600" dirty="0"/>
          </a:p>
        </p:txBody>
      </p:sp>
      <p:sp>
        <p:nvSpPr>
          <p:cNvPr id="19" name="Text 16"/>
          <p:cNvSpPr txBox="1"/>
          <p:nvPr/>
        </p:nvSpPr>
        <p:spPr>
          <a:xfrm>
            <a:off x="9637776"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Split</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Time-ordered training, validation and test sets.</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PREPARATION</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Test on days the model </a:t>
            </a:r>
            <a:pPr indent="0" marL="0">
              <a:buNone/>
            </a:pPr>
            <a:r>
              <a:rPr lang="en-US" sz="3400" b="1" dirty="0">
                <a:solidFill>
                  <a:srgbClr val="FFB703"/>
                </a:solidFill>
                <a:latin typeface="Arial" pitchFamily="34" charset="0"/>
                <a:ea typeface="Arial" pitchFamily="34" charset="-122"/>
                <a:cs typeface="Arial" pitchFamily="34" charset="-120"/>
              </a:rPr>
              <a:t>has never seen</a:t>
            </a:r>
            <a:endParaRPr lang="en-US" sz="3400" dirty="0"/>
          </a:p>
        </p:txBody>
      </p:sp>
      <p:sp>
        <p:nvSpPr>
          <p:cNvPr id="5" name="Text 2"/>
          <p:cNvSpPr txBox="1"/>
          <p:nvPr/>
        </p:nvSpPr>
        <p:spPr>
          <a:xfrm>
            <a:off x="2286000" y="1554480"/>
            <a:ext cx="1828800" cy="274320"/>
          </a:xfrm>
          <a:prstGeom prst="rect">
            <a:avLst/>
          </a:prstGeom>
          <a:noFill/>
          <a:ln/>
        </p:spPr>
        <p:txBody>
          <a:bodyPr wrap="square" lIns="0" tIns="0" rIns="0" bIns="0" rtlCol="0" anchor="ctr"/>
          <a:lstStyle/>
          <a:p>
            <a:pPr indent="0" marL="0">
              <a:buNone/>
            </a:pPr>
            <a:r>
              <a:rPr lang="en-US" sz="1100" b="1" dirty="0">
                <a:solidFill>
                  <a:srgbClr val="8893AB"/>
                </a:solidFill>
                <a:latin typeface="Arial" pitchFamily="34" charset="0"/>
                <a:ea typeface="Arial" pitchFamily="34" charset="-122"/>
                <a:cs typeface="Arial" pitchFamily="34" charset="-120"/>
              </a:rPr>
              <a:t>Jan 2024</a:t>
            </a:r>
            <a:endParaRPr lang="en-US" sz="1100" dirty="0"/>
          </a:p>
        </p:txBody>
      </p:sp>
      <p:sp>
        <p:nvSpPr>
          <p:cNvPr id="6" name="Text 3"/>
          <p:cNvSpPr txBox="1"/>
          <p:nvPr/>
        </p:nvSpPr>
        <p:spPr>
          <a:xfrm>
            <a:off x="9628632" y="1554480"/>
            <a:ext cx="1828800" cy="274320"/>
          </a:xfrm>
          <a:prstGeom prst="rect">
            <a:avLst/>
          </a:prstGeom>
          <a:noFill/>
          <a:ln/>
        </p:spPr>
        <p:txBody>
          <a:bodyPr wrap="square" lIns="0" tIns="0" rIns="0" bIns="0" rtlCol="0" anchor="ctr"/>
          <a:lstStyle/>
          <a:p>
            <a:pPr algn="r" indent="0" marL="0">
              <a:buNone/>
            </a:pPr>
            <a:r>
              <a:rPr lang="en-US" sz="1100" b="1" dirty="0">
                <a:solidFill>
                  <a:srgbClr val="8893AB"/>
                </a:solidFill>
                <a:latin typeface="Arial" pitchFamily="34" charset="0"/>
                <a:ea typeface="Arial" pitchFamily="34" charset="-122"/>
                <a:cs typeface="Arial" pitchFamily="34" charset="-120"/>
              </a:rPr>
              <a:t>Latest month</a:t>
            </a:r>
            <a:endParaRPr lang="en-US" sz="1100" dirty="0"/>
          </a:p>
        </p:txBody>
      </p:sp>
      <p:sp>
        <p:nvSpPr>
          <p:cNvPr id="7" name="Text 4"/>
          <p:cNvSpPr txBox="1"/>
          <p:nvPr/>
        </p:nvSpPr>
        <p:spPr>
          <a:xfrm>
            <a:off x="731520" y="1874520"/>
            <a:ext cx="1554480" cy="411480"/>
          </a:xfrm>
          <a:prstGeom prst="rect">
            <a:avLst/>
          </a:prstGeom>
          <a:noFill/>
          <a:ln/>
        </p:spPr>
        <p:txBody>
          <a:bodyPr wrap="square" lIns="0" tIns="0" rIns="0" bIns="0" rtlCol="0" anchor="ctr"/>
          <a:lstStyle/>
          <a:p>
            <a:pPr indent="0" marL="0">
              <a:buNone/>
            </a:pPr>
            <a:r>
              <a:rPr lang="en-US" sz="1400" b="1" dirty="0">
                <a:solidFill>
                  <a:srgbClr val="F1F4FB"/>
                </a:solidFill>
                <a:latin typeface="Arial" pitchFamily="34" charset="0"/>
                <a:ea typeface="Arial" pitchFamily="34" charset="-122"/>
                <a:cs typeface="Arial" pitchFamily="34" charset="-120"/>
              </a:rPr>
              <a:t>All the days</a:t>
            </a:r>
            <a:endParaRPr lang="en-US" sz="1400" dirty="0"/>
          </a:p>
        </p:txBody>
      </p:sp>
      <p:sp>
        <p:nvSpPr>
          <p:cNvPr id="8" name="Text 5"/>
          <p:cNvSpPr txBox="1"/>
          <p:nvPr/>
        </p:nvSpPr>
        <p:spPr>
          <a:xfrm>
            <a:off x="2286000" y="1874520"/>
            <a:ext cx="7337146" cy="411480"/>
          </a:xfrm>
          <a:prstGeom prst="roundRect">
            <a:avLst>
              <a:gd name="adj" fmla="val 11111"/>
            </a:avLst>
          </a:prstGeom>
          <a:solidFill>
            <a:srgbClr val="2A3A66"/>
          </a:solidFill>
          <a:ln/>
        </p:spPr>
        <p:txBody>
          <a:bodyPr wrap="square" lIns="0" tIns="0" rIns="0" bIns="0" rtlCol="0" anchor="ctr"/>
          <a:lstStyle/>
          <a:p>
            <a:pPr algn="ctr" indent="0" marL="0">
              <a:buNone/>
            </a:pPr>
            <a:r>
              <a:rPr lang="en-US" sz="1300" b="1" dirty="0">
                <a:solidFill>
                  <a:srgbClr val="F1F4FB"/>
                </a:solidFill>
                <a:latin typeface="Arial" pitchFamily="34" charset="0"/>
                <a:ea typeface="Arial" pitchFamily="34" charset="-122"/>
                <a:cs typeface="Arial" pitchFamily="34" charset="-120"/>
              </a:rPr>
              <a:t>Training days (earliest 80%)</a:t>
            </a:r>
            <a:endParaRPr lang="en-US" sz="1300" dirty="0"/>
          </a:p>
        </p:txBody>
      </p:sp>
      <p:sp>
        <p:nvSpPr>
          <p:cNvPr id="9" name="Text 6"/>
          <p:cNvSpPr txBox="1"/>
          <p:nvPr/>
        </p:nvSpPr>
        <p:spPr>
          <a:xfrm>
            <a:off x="9668866" y="1874520"/>
            <a:ext cx="1788566" cy="411480"/>
          </a:xfrm>
          <a:prstGeom prst="roundRect">
            <a:avLst>
              <a:gd name="adj" fmla="val 11111"/>
            </a:avLst>
          </a:prstGeom>
          <a:solidFill>
            <a:srgbClr val="FFB703"/>
          </a:solidFill>
          <a:ln/>
        </p:spPr>
        <p:txBody>
          <a:bodyPr wrap="square" lIns="0" tIns="0" rIns="0" bIns="0" rtlCol="0" anchor="ctr"/>
          <a:lstStyle/>
          <a:p>
            <a:pPr algn="ctr" indent="0" marL="0">
              <a:buNone/>
            </a:pPr>
            <a:r>
              <a:rPr lang="en-US" sz="1300" b="1" dirty="0">
                <a:solidFill>
                  <a:srgbClr val="1A1300"/>
                </a:solidFill>
                <a:latin typeface="Arial" pitchFamily="34" charset="0"/>
                <a:ea typeface="Arial" pitchFamily="34" charset="-122"/>
                <a:cs typeface="Arial" pitchFamily="34" charset="-120"/>
              </a:rPr>
              <a:t>Test (20%)</a:t>
            </a:r>
            <a:endParaRPr lang="en-US" sz="1300" dirty="0"/>
          </a:p>
        </p:txBody>
      </p:sp>
      <p:sp>
        <p:nvSpPr>
          <p:cNvPr id="10" name="Text 7"/>
          <p:cNvSpPr txBox="1"/>
          <p:nvPr/>
        </p:nvSpPr>
        <p:spPr>
          <a:xfrm>
            <a:off x="9668866" y="2331720"/>
            <a:ext cx="1788566" cy="274320"/>
          </a:xfrm>
          <a:prstGeom prst="rect">
            <a:avLst/>
          </a:prstGeom>
          <a:noFill/>
          <a:ln/>
        </p:spPr>
        <p:txBody>
          <a:bodyPr wrap="square" lIns="0" tIns="0" rIns="0" bIns="0" rtlCol="0" anchor="ctr"/>
          <a:lstStyle/>
          <a:p>
            <a:pPr algn="ctr" indent="0" marL="0">
              <a:buNone/>
            </a:pPr>
            <a:r>
              <a:rPr lang="en-US" sz="1000" b="1" dirty="0">
                <a:solidFill>
                  <a:srgbClr val="FFB703"/>
                </a:solidFill>
                <a:latin typeface="Arial" pitchFamily="34" charset="0"/>
                <a:ea typeface="Arial" pitchFamily="34" charset="-122"/>
                <a:cs typeface="Arial" pitchFamily="34" charset="-120"/>
              </a:rPr>
              <a:t>Locked until the end</a:t>
            </a:r>
            <a:endParaRPr lang="en-US" sz="1000" dirty="0"/>
          </a:p>
        </p:txBody>
      </p:sp>
      <p:sp>
        <p:nvSpPr>
          <p:cNvPr id="11" name="Text 8"/>
          <p:cNvSpPr txBox="1"/>
          <p:nvPr/>
        </p:nvSpPr>
        <p:spPr>
          <a:xfrm>
            <a:off x="2286000" y="2560320"/>
            <a:ext cx="6400800" cy="274320"/>
          </a:xfrm>
          <a:prstGeom prst="rect">
            <a:avLst/>
          </a:prstGeom>
          <a:noFill/>
          <a:ln/>
        </p:spPr>
        <p:txBody>
          <a:bodyPr wrap="square" lIns="0" tIns="0" rIns="0" bIns="0" rtlCol="0" anchor="ctr"/>
          <a:lstStyle/>
          <a:p>
            <a:pPr indent="0" marL="0">
              <a:buNone/>
            </a:pPr>
            <a:r>
              <a:rPr lang="en-US" sz="1000" b="1" spc="100" kern="0" dirty="0">
                <a:solidFill>
                  <a:srgbClr val="8893AB"/>
                </a:solidFill>
                <a:latin typeface="Arial" pitchFamily="34" charset="0"/>
                <a:ea typeface="Arial" pitchFamily="34" charset="-122"/>
                <a:cs typeface="Arial" pitchFamily="34" charset="-120"/>
              </a:rPr>
              <a:t>FOUR ROLLING CHECKS ON THE TRAINING DAYS, USED TO TUNE SETTINGS</a:t>
            </a:r>
            <a:endParaRPr lang="en-US" sz="1000" dirty="0"/>
          </a:p>
        </p:txBody>
      </p:sp>
      <p:sp>
        <p:nvSpPr>
          <p:cNvPr id="12" name="Text 9"/>
          <p:cNvSpPr txBox="1"/>
          <p:nvPr/>
        </p:nvSpPr>
        <p:spPr>
          <a:xfrm>
            <a:off x="731520" y="288036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1</a:t>
            </a:r>
            <a:endParaRPr lang="en-US" sz="1300" dirty="0"/>
          </a:p>
        </p:txBody>
      </p:sp>
      <p:sp>
        <p:nvSpPr>
          <p:cNvPr id="13" name="Text 10"/>
          <p:cNvSpPr txBox="1"/>
          <p:nvPr/>
        </p:nvSpPr>
        <p:spPr>
          <a:xfrm>
            <a:off x="2286000" y="2880360"/>
            <a:ext cx="2856246"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14" name="Text 11"/>
          <p:cNvSpPr txBox="1"/>
          <p:nvPr/>
        </p:nvSpPr>
        <p:spPr>
          <a:xfrm>
            <a:off x="5142246" y="288036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15" name="Text 12"/>
          <p:cNvSpPr txBox="1"/>
          <p:nvPr/>
        </p:nvSpPr>
        <p:spPr>
          <a:xfrm>
            <a:off x="9668866" y="288036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16" name="Text 13"/>
          <p:cNvSpPr txBox="1"/>
          <p:nvPr/>
        </p:nvSpPr>
        <p:spPr>
          <a:xfrm>
            <a:off x="731520" y="324612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2</a:t>
            </a:r>
            <a:endParaRPr lang="en-US" sz="1300" dirty="0"/>
          </a:p>
        </p:txBody>
      </p:sp>
      <p:sp>
        <p:nvSpPr>
          <p:cNvPr id="17" name="Text 14"/>
          <p:cNvSpPr txBox="1"/>
          <p:nvPr/>
        </p:nvSpPr>
        <p:spPr>
          <a:xfrm>
            <a:off x="2286000" y="3246120"/>
            <a:ext cx="3969920"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18" name="Text 15"/>
          <p:cNvSpPr txBox="1"/>
          <p:nvPr/>
        </p:nvSpPr>
        <p:spPr>
          <a:xfrm>
            <a:off x="6255920" y="324612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19" name="Text 16"/>
          <p:cNvSpPr txBox="1"/>
          <p:nvPr/>
        </p:nvSpPr>
        <p:spPr>
          <a:xfrm>
            <a:off x="9668866" y="324612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0" name="Text 17"/>
          <p:cNvSpPr txBox="1"/>
          <p:nvPr/>
        </p:nvSpPr>
        <p:spPr>
          <a:xfrm>
            <a:off x="731520" y="361188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3</a:t>
            </a:r>
            <a:endParaRPr lang="en-US" sz="1300" dirty="0"/>
          </a:p>
        </p:txBody>
      </p:sp>
      <p:sp>
        <p:nvSpPr>
          <p:cNvPr id="21" name="Text 18"/>
          <p:cNvSpPr txBox="1"/>
          <p:nvPr/>
        </p:nvSpPr>
        <p:spPr>
          <a:xfrm>
            <a:off x="2286000" y="3611880"/>
            <a:ext cx="5083594"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22" name="Text 19"/>
          <p:cNvSpPr txBox="1"/>
          <p:nvPr/>
        </p:nvSpPr>
        <p:spPr>
          <a:xfrm>
            <a:off x="7369594" y="361188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23" name="Text 20"/>
          <p:cNvSpPr txBox="1"/>
          <p:nvPr/>
        </p:nvSpPr>
        <p:spPr>
          <a:xfrm>
            <a:off x="9668866" y="361188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4" name="Text 21"/>
          <p:cNvSpPr txBox="1"/>
          <p:nvPr/>
        </p:nvSpPr>
        <p:spPr>
          <a:xfrm>
            <a:off x="731520" y="397764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4</a:t>
            </a:r>
            <a:endParaRPr lang="en-US" sz="1300" dirty="0"/>
          </a:p>
        </p:txBody>
      </p:sp>
      <p:sp>
        <p:nvSpPr>
          <p:cNvPr id="25" name="Text 22"/>
          <p:cNvSpPr txBox="1"/>
          <p:nvPr/>
        </p:nvSpPr>
        <p:spPr>
          <a:xfrm>
            <a:off x="2286000" y="3977640"/>
            <a:ext cx="6197268"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26" name="Text 23"/>
          <p:cNvSpPr txBox="1"/>
          <p:nvPr/>
        </p:nvSpPr>
        <p:spPr>
          <a:xfrm>
            <a:off x="8483268" y="397764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27" name="Text 24"/>
          <p:cNvSpPr txBox="1"/>
          <p:nvPr/>
        </p:nvSpPr>
        <p:spPr>
          <a:xfrm>
            <a:off x="9668866" y="397764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8" name="Shape 25"/>
          <p:cNvSpPr/>
          <p:nvPr/>
        </p:nvSpPr>
        <p:spPr>
          <a:xfrm>
            <a:off x="731520" y="4572000"/>
            <a:ext cx="3383280" cy="1600200"/>
          </a:xfrm>
          <a:prstGeom prst="roundRect">
            <a:avLst>
              <a:gd name="adj" fmla="val 6857"/>
            </a:avLst>
          </a:prstGeom>
          <a:solidFill>
            <a:srgbClr val="161E36"/>
          </a:solidFill>
          <a:ln w="12700">
            <a:solidFill>
              <a:srgbClr val="2A3350"/>
            </a:solidFill>
            <a:prstDash val="solid"/>
          </a:ln>
        </p:spPr>
      </p:sp>
      <p:sp>
        <p:nvSpPr>
          <p:cNvPr id="29" name="Text 26"/>
          <p:cNvSpPr txBox="1"/>
          <p:nvPr/>
        </p:nvSpPr>
        <p:spPr>
          <a:xfrm>
            <a:off x="914400"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1</a:t>
            </a:r>
            <a:endParaRPr lang="en-US" sz="1300" dirty="0"/>
          </a:p>
        </p:txBody>
      </p:sp>
      <p:sp>
        <p:nvSpPr>
          <p:cNvPr id="30" name="Text 27"/>
          <p:cNvSpPr txBox="1"/>
          <p:nvPr/>
        </p:nvSpPr>
        <p:spPr>
          <a:xfrm>
            <a:off x="914400"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Train</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The earliest 80% of days teach the models.</a:t>
            </a:r>
            <a:endParaRPr lang="en-US" sz="1800" dirty="0"/>
          </a:p>
        </p:txBody>
      </p:sp>
      <p:sp>
        <p:nvSpPr>
          <p:cNvPr id="31" name="Shape 28"/>
          <p:cNvSpPr/>
          <p:nvPr/>
        </p:nvSpPr>
        <p:spPr>
          <a:xfrm>
            <a:off x="4402836" y="4572000"/>
            <a:ext cx="3383280" cy="1600200"/>
          </a:xfrm>
          <a:prstGeom prst="roundRect">
            <a:avLst>
              <a:gd name="adj" fmla="val 6857"/>
            </a:avLst>
          </a:prstGeom>
          <a:solidFill>
            <a:srgbClr val="161E36"/>
          </a:solidFill>
          <a:ln w="12700">
            <a:solidFill>
              <a:srgbClr val="2A3350"/>
            </a:solidFill>
            <a:prstDash val="solid"/>
          </a:ln>
        </p:spPr>
      </p:sp>
      <p:sp>
        <p:nvSpPr>
          <p:cNvPr id="32" name="Text 29"/>
          <p:cNvSpPr txBox="1"/>
          <p:nvPr/>
        </p:nvSpPr>
        <p:spPr>
          <a:xfrm>
            <a:off x="4585716"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2</a:t>
            </a:r>
            <a:endParaRPr lang="en-US" sz="1300" dirty="0"/>
          </a:p>
        </p:txBody>
      </p:sp>
      <p:sp>
        <p:nvSpPr>
          <p:cNvPr id="33" name="Text 30"/>
          <p:cNvSpPr txBox="1"/>
          <p:nvPr/>
        </p:nvSpPr>
        <p:spPr>
          <a:xfrm>
            <a:off x="4585716"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Validate</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Four rolling checks of about three months each compare the models and tune them.</a:t>
            </a:r>
            <a:endParaRPr lang="en-US" sz="1800" dirty="0"/>
          </a:p>
        </p:txBody>
      </p:sp>
      <p:sp>
        <p:nvSpPr>
          <p:cNvPr id="34" name="Shape 31"/>
          <p:cNvSpPr/>
          <p:nvPr/>
        </p:nvSpPr>
        <p:spPr>
          <a:xfrm>
            <a:off x="8074152" y="4572000"/>
            <a:ext cx="3383280" cy="1600200"/>
          </a:xfrm>
          <a:prstGeom prst="roundRect">
            <a:avLst>
              <a:gd name="adj" fmla="val 6857"/>
            </a:avLst>
          </a:prstGeom>
          <a:solidFill>
            <a:srgbClr val="161E36"/>
          </a:solidFill>
          <a:ln w="12700">
            <a:solidFill>
              <a:srgbClr val="2A3350"/>
            </a:solidFill>
            <a:prstDash val="solid"/>
          </a:ln>
        </p:spPr>
      </p:sp>
      <p:sp>
        <p:nvSpPr>
          <p:cNvPr id="35" name="Text 32"/>
          <p:cNvSpPr txBox="1"/>
          <p:nvPr/>
        </p:nvSpPr>
        <p:spPr>
          <a:xfrm>
            <a:off x="8257032"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3</a:t>
            </a:r>
            <a:endParaRPr lang="en-US" sz="1300" dirty="0"/>
          </a:p>
        </p:txBody>
      </p:sp>
      <p:sp>
        <p:nvSpPr>
          <p:cNvPr id="36" name="Text 33"/>
          <p:cNvSpPr txBox="1"/>
          <p:nvPr/>
        </p:nvSpPr>
        <p:spPr>
          <a:xfrm>
            <a:off x="8257032"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Test</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The latest 20% of days, scored once at the end. It has no winter, so winter is judged in validation.</a:t>
            </a:r>
            <a:endParaRPr lang="en-US" sz="18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WHAT COMES NEXT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choose models </a:t>
            </a:r>
            <a:pPr indent="0" marL="0">
              <a:buNone/>
            </a:pPr>
            <a:r>
              <a:rPr lang="en-US" sz="3400" b="1" dirty="0">
                <a:solidFill>
                  <a:srgbClr val="FFB703"/>
                </a:solidFill>
                <a:latin typeface="Arial" pitchFamily="34" charset="0"/>
                <a:ea typeface="Arial" pitchFamily="34" charset="-122"/>
                <a:cs typeface="Arial" pitchFamily="34" charset="-120"/>
              </a:rPr>
              <a:t>after</a:t>
            </a:r>
            <a:pPr indent="0" marL="0">
              <a:buNone/>
            </a:pPr>
            <a:r>
              <a:rPr lang="en-US" sz="3400" b="1" dirty="0">
                <a:solidFill>
                  <a:srgbClr val="F1F4FB"/>
                </a:solidFill>
                <a:latin typeface="Arial" pitchFamily="34" charset="0"/>
                <a:ea typeface="Arial" pitchFamily="34" charset="-122"/>
                <a:cs typeface="Arial" pitchFamily="34" charset="-120"/>
              </a:rPr>
              <a:t> we see the data</a:t>
            </a:r>
            <a:endParaRPr lang="en-US" sz="3400" dirty="0"/>
          </a:p>
        </p:txBody>
      </p:sp>
      <p:sp>
        <p:nvSpPr>
          <p:cNvPr id="5" name="Shape 2"/>
          <p:cNvSpPr/>
          <p:nvPr/>
        </p:nvSpPr>
        <p:spPr>
          <a:xfrm>
            <a:off x="731520" y="1828800"/>
            <a:ext cx="2331720" cy="1371600"/>
          </a:xfrm>
          <a:prstGeom prst="roundRect">
            <a:avLst>
              <a:gd name="adj" fmla="val 8000"/>
            </a:avLst>
          </a:prstGeom>
          <a:solidFill>
            <a:srgbClr val="161E36"/>
          </a:solidFill>
          <a:ln w="12700">
            <a:solidFill>
              <a:srgbClr val="2A3350"/>
            </a:solidFill>
            <a:prstDash val="solid"/>
          </a:ln>
        </p:spPr>
      </p:sp>
      <p:sp>
        <p:nvSpPr>
          <p:cNvPr id="6" name="Text 3"/>
          <p:cNvSpPr txBox="1"/>
          <p:nvPr/>
        </p:nvSpPr>
        <p:spPr>
          <a:xfrm>
            <a:off x="91440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1</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Score the two reference forecasts</a:t>
            </a:r>
            <a:endParaRPr lang="en-US" sz="1050" dirty="0"/>
          </a:p>
        </p:txBody>
      </p:sp>
      <p:sp>
        <p:nvSpPr>
          <p:cNvPr id="7" name="Text 4"/>
          <p:cNvSpPr txBox="1"/>
          <p:nvPr/>
        </p:nvSpPr>
        <p:spPr>
          <a:xfrm>
            <a:off x="306324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8" name="Shape 5"/>
          <p:cNvSpPr/>
          <p:nvPr/>
        </p:nvSpPr>
        <p:spPr>
          <a:xfrm>
            <a:off x="3520440" y="1828800"/>
            <a:ext cx="2331720" cy="1371600"/>
          </a:xfrm>
          <a:prstGeom prst="roundRect">
            <a:avLst>
              <a:gd name="adj" fmla="val 8000"/>
            </a:avLst>
          </a:prstGeom>
          <a:solidFill>
            <a:srgbClr val="161E36"/>
          </a:solidFill>
          <a:ln w="12700">
            <a:solidFill>
              <a:srgbClr val="2A3350"/>
            </a:solidFill>
            <a:prstDash val="solid"/>
          </a:ln>
        </p:spPr>
      </p:sp>
      <p:sp>
        <p:nvSpPr>
          <p:cNvPr id="9" name="Text 6"/>
          <p:cNvSpPr txBox="1"/>
          <p:nvPr/>
        </p:nvSpPr>
        <p:spPr>
          <a:xfrm>
            <a:off x="370332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2</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Explore the data</a:t>
            </a:r>
            <a:endParaRPr lang="en-US" sz="1050" dirty="0"/>
          </a:p>
        </p:txBody>
      </p:sp>
      <p:sp>
        <p:nvSpPr>
          <p:cNvPr id="10" name="Text 7"/>
          <p:cNvSpPr txBox="1"/>
          <p:nvPr/>
        </p:nvSpPr>
        <p:spPr>
          <a:xfrm>
            <a:off x="585216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6309360" y="1828800"/>
            <a:ext cx="2331720" cy="1371600"/>
          </a:xfrm>
          <a:prstGeom prst="roundRect">
            <a:avLst>
              <a:gd name="adj" fmla="val 8000"/>
            </a:avLst>
          </a:prstGeom>
          <a:solidFill>
            <a:srgbClr val="161E36"/>
          </a:solidFill>
          <a:ln w="12700">
            <a:solidFill>
              <a:srgbClr val="2A3350"/>
            </a:solidFill>
            <a:prstDash val="solid"/>
          </a:ln>
        </p:spPr>
      </p:sp>
      <p:sp>
        <p:nvSpPr>
          <p:cNvPr id="12" name="Text 9"/>
          <p:cNvSpPr txBox="1"/>
          <p:nvPr/>
        </p:nvSpPr>
        <p:spPr>
          <a:xfrm>
            <a:off x="649224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3</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Shortlist candidate models</a:t>
            </a:r>
            <a:endParaRPr lang="en-US" sz="1050" dirty="0"/>
          </a:p>
        </p:txBody>
      </p:sp>
      <p:sp>
        <p:nvSpPr>
          <p:cNvPr id="13" name="Text 10"/>
          <p:cNvSpPr txBox="1"/>
          <p:nvPr/>
        </p:nvSpPr>
        <p:spPr>
          <a:xfrm>
            <a:off x="864108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14" name="Shape 11"/>
          <p:cNvSpPr/>
          <p:nvPr/>
        </p:nvSpPr>
        <p:spPr>
          <a:xfrm>
            <a:off x="9098280" y="1828800"/>
            <a:ext cx="2331720" cy="1371600"/>
          </a:xfrm>
          <a:prstGeom prst="roundRect">
            <a:avLst>
              <a:gd name="adj" fmla="val 8000"/>
            </a:avLst>
          </a:prstGeom>
          <a:solidFill>
            <a:srgbClr val="2A2410"/>
          </a:solidFill>
          <a:ln w="19050">
            <a:solidFill>
              <a:srgbClr val="FFB703"/>
            </a:solidFill>
            <a:prstDash val="solid"/>
          </a:ln>
        </p:spPr>
      </p:sp>
      <p:sp>
        <p:nvSpPr>
          <p:cNvPr id="15" name="Text 12"/>
          <p:cNvSpPr txBox="1"/>
          <p:nvPr/>
        </p:nvSpPr>
        <p:spPr>
          <a:xfrm>
            <a:off x="928116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4</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Compare on the same folds</a:t>
            </a:r>
            <a:endParaRPr lang="en-US" sz="1050" dirty="0"/>
          </a:p>
        </p:txBody>
      </p:sp>
      <p:sp>
        <p:nvSpPr>
          <p:cNvPr id="16" name="Shape 13"/>
          <p:cNvSpPr/>
          <p:nvPr/>
        </p:nvSpPr>
        <p:spPr>
          <a:xfrm>
            <a:off x="731520" y="3657600"/>
            <a:ext cx="3383280" cy="1737360"/>
          </a:xfrm>
          <a:prstGeom prst="roundRect">
            <a:avLst>
              <a:gd name="adj" fmla="val 6316"/>
            </a:avLst>
          </a:prstGeom>
          <a:solidFill>
            <a:srgbClr val="161E36"/>
          </a:solidFill>
          <a:ln w="12700">
            <a:solidFill>
              <a:srgbClr val="2A3350"/>
            </a:solidFill>
            <a:prstDash val="solid"/>
          </a:ln>
        </p:spPr>
      </p:sp>
      <p:sp>
        <p:nvSpPr>
          <p:cNvPr id="17" name="Text 14"/>
          <p:cNvSpPr txBox="1"/>
          <p:nvPr/>
        </p:nvSpPr>
        <p:spPr>
          <a:xfrm>
            <a:off x="960120"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18" name="Text 15"/>
          <p:cNvSpPr txBox="1"/>
          <p:nvPr/>
        </p:nvSpPr>
        <p:spPr>
          <a:xfrm>
            <a:off x="960120"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Average miss compared with CAISO</a:t>
            </a:r>
            <a:endParaRPr lang="en-US" sz="2000" dirty="0"/>
          </a:p>
        </p:txBody>
      </p:sp>
      <p:sp>
        <p:nvSpPr>
          <p:cNvPr id="19" name="Shape 16"/>
          <p:cNvSpPr/>
          <p:nvPr/>
        </p:nvSpPr>
        <p:spPr>
          <a:xfrm>
            <a:off x="4402836" y="3657600"/>
            <a:ext cx="3383280" cy="1737360"/>
          </a:xfrm>
          <a:prstGeom prst="roundRect">
            <a:avLst>
              <a:gd name="adj" fmla="val 6316"/>
            </a:avLst>
          </a:prstGeom>
          <a:solidFill>
            <a:srgbClr val="161E36"/>
          </a:solidFill>
          <a:ln w="12700">
            <a:solidFill>
              <a:srgbClr val="2A3350"/>
            </a:solidFill>
            <a:prstDash val="solid"/>
          </a:ln>
        </p:spPr>
      </p:sp>
      <p:sp>
        <p:nvSpPr>
          <p:cNvPr id="20" name="Text 17"/>
          <p:cNvSpPr txBox="1"/>
          <p:nvPr/>
        </p:nvSpPr>
        <p:spPr>
          <a:xfrm>
            <a:off x="4631436"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21" name="Text 18"/>
          <p:cNvSpPr txBox="1"/>
          <p:nvPr/>
        </p:nvSpPr>
        <p:spPr>
          <a:xfrm>
            <a:off x="4631436"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Worst-case overshoot, which drives backup power</a:t>
            </a:r>
            <a:endParaRPr lang="en-US" sz="2000" dirty="0"/>
          </a:p>
        </p:txBody>
      </p:sp>
      <p:sp>
        <p:nvSpPr>
          <p:cNvPr id="22" name="Shape 19"/>
          <p:cNvSpPr/>
          <p:nvPr/>
        </p:nvSpPr>
        <p:spPr>
          <a:xfrm>
            <a:off x="8074152" y="3657600"/>
            <a:ext cx="3383280" cy="1737360"/>
          </a:xfrm>
          <a:prstGeom prst="roundRect">
            <a:avLst>
              <a:gd name="adj" fmla="val 6316"/>
            </a:avLst>
          </a:prstGeom>
          <a:solidFill>
            <a:srgbClr val="161E36"/>
          </a:solidFill>
          <a:ln w="12700">
            <a:solidFill>
              <a:srgbClr val="2A3350"/>
            </a:solidFill>
            <a:prstDash val="solid"/>
          </a:ln>
        </p:spPr>
      </p:sp>
      <p:sp>
        <p:nvSpPr>
          <p:cNvPr id="23" name="Text 20"/>
          <p:cNvSpPr txBox="1"/>
          <p:nvPr/>
        </p:nvSpPr>
        <p:spPr>
          <a:xfrm>
            <a:off x="8302752"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24" name="Text 21"/>
          <p:cNvSpPr txBox="1"/>
          <p:nvPr/>
        </p:nvSpPr>
        <p:spPr>
          <a:xfrm>
            <a:off x="8302752"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How easily we can explain it</a:t>
            </a:r>
            <a:endParaRPr lang="en-US" sz="20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RISKS AND OPEN DECISIONS</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Four things we are </a:t>
            </a:r>
            <a:pPr indent="0" marL="0">
              <a:buNone/>
            </a:pPr>
            <a:r>
              <a:rPr lang="en-US" sz="3400" b="1" dirty="0">
                <a:solidFill>
                  <a:srgbClr val="FFB703"/>
                </a:solidFill>
                <a:latin typeface="Arial" pitchFamily="34" charset="0"/>
                <a:ea typeface="Arial" pitchFamily="34" charset="-122"/>
                <a:cs typeface="Arial" pitchFamily="34" charset="-120"/>
              </a:rPr>
              <a:t>watching</a:t>
            </a:r>
            <a:endParaRPr lang="en-US" sz="3400" dirty="0"/>
          </a:p>
        </p:txBody>
      </p:sp>
      <p:sp>
        <p:nvSpPr>
          <p:cNvPr id="5" name="Shape 2"/>
          <p:cNvSpPr/>
          <p:nvPr/>
        </p:nvSpPr>
        <p:spPr>
          <a:xfrm>
            <a:off x="731520" y="1691640"/>
            <a:ext cx="5212080" cy="1965960"/>
          </a:xfrm>
          <a:prstGeom prst="roundRect">
            <a:avLst>
              <a:gd name="adj" fmla="val 5581"/>
            </a:avLst>
          </a:prstGeom>
          <a:solidFill>
            <a:srgbClr val="161E36"/>
          </a:solidFill>
          <a:ln w="12700">
            <a:solidFill>
              <a:srgbClr val="2A3350"/>
            </a:solidFill>
            <a:prstDash val="solid"/>
          </a:ln>
        </p:spPr>
      </p:sp>
      <p:sp>
        <p:nvSpPr>
          <p:cNvPr id="6" name="Text 3"/>
          <p:cNvSpPr txBox="1"/>
          <p:nvPr/>
        </p:nvSpPr>
        <p:spPr>
          <a:xfrm>
            <a:off x="960120" y="182880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SHORT HISTORY</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About two and three-quarter years</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Each calendar month appears only two to three times, so we report error by month.</a:t>
            </a:r>
            <a:endParaRPr lang="en-US" sz="1100" dirty="0"/>
          </a:p>
        </p:txBody>
      </p:sp>
      <p:sp>
        <p:nvSpPr>
          <p:cNvPr id="7" name="Shape 4"/>
          <p:cNvSpPr/>
          <p:nvPr/>
        </p:nvSpPr>
        <p:spPr>
          <a:xfrm>
            <a:off x="6245352" y="1691640"/>
            <a:ext cx="5212080" cy="1965960"/>
          </a:xfrm>
          <a:prstGeom prst="roundRect">
            <a:avLst>
              <a:gd name="adj" fmla="val 5581"/>
            </a:avLst>
          </a:prstGeom>
          <a:solidFill>
            <a:srgbClr val="161E36"/>
          </a:solidFill>
          <a:ln w="12700">
            <a:solidFill>
              <a:srgbClr val="2A3350"/>
            </a:solidFill>
            <a:prstDash val="solid"/>
          </a:ln>
        </p:spPr>
      </p:sp>
      <p:sp>
        <p:nvSpPr>
          <p:cNvPr id="8" name="Text 5"/>
          <p:cNvSpPr txBox="1"/>
          <p:nvPr/>
        </p:nvSpPr>
        <p:spPr>
          <a:xfrm>
            <a:off x="6473952" y="182880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NO WINTER IN THE TEST</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Test block runs late March to mid-October</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We check winter in the last validation check and say so plainly.</a:t>
            </a:r>
            <a:endParaRPr lang="en-US" sz="1100" dirty="0"/>
          </a:p>
        </p:txBody>
      </p:sp>
      <p:sp>
        <p:nvSpPr>
          <p:cNvPr id="9" name="Shape 6"/>
          <p:cNvSpPr/>
          <p:nvPr/>
        </p:nvSpPr>
        <p:spPr>
          <a:xfrm>
            <a:off x="731520" y="3931920"/>
            <a:ext cx="5212080" cy="1965960"/>
          </a:xfrm>
          <a:prstGeom prst="roundRect">
            <a:avLst>
              <a:gd name="adj" fmla="val 5581"/>
            </a:avLst>
          </a:prstGeom>
          <a:solidFill>
            <a:srgbClr val="161E36"/>
          </a:solidFill>
          <a:ln w="12700">
            <a:solidFill>
              <a:srgbClr val="2A3350"/>
            </a:solidFill>
            <a:prstDash val="solid"/>
          </a:ln>
        </p:spPr>
      </p:sp>
      <p:sp>
        <p:nvSpPr>
          <p:cNvPr id="10" name="Text 7"/>
          <p:cNvSpPr txBox="1"/>
          <p:nvPr/>
        </p:nvSpPr>
        <p:spPr>
          <a:xfrm>
            <a:off x="960120" y="406908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WEATHER TIMING</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Which forecast is available at 10 a.m.</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Main model uses the forecast made two days before. The one-day version is a labeled comparison.</a:t>
            </a:r>
            <a:endParaRPr lang="en-US" sz="1100" dirty="0"/>
          </a:p>
        </p:txBody>
      </p:sp>
      <p:sp>
        <p:nvSpPr>
          <p:cNvPr id="11" name="Shape 8"/>
          <p:cNvSpPr/>
          <p:nvPr/>
        </p:nvSpPr>
        <p:spPr>
          <a:xfrm>
            <a:off x="6245352" y="3931920"/>
            <a:ext cx="5212080" cy="1965960"/>
          </a:xfrm>
          <a:prstGeom prst="roundRect">
            <a:avLst>
              <a:gd name="adj" fmla="val 5581"/>
            </a:avLst>
          </a:prstGeom>
          <a:solidFill>
            <a:srgbClr val="161E36"/>
          </a:solidFill>
          <a:ln w="12700">
            <a:solidFill>
              <a:srgbClr val="2A3350"/>
            </a:solidFill>
            <a:prstDash val="solid"/>
          </a:ln>
        </p:spPr>
      </p:sp>
      <p:sp>
        <p:nvSpPr>
          <p:cNvPr id="12" name="Text 9"/>
          <p:cNvSpPr txBox="1"/>
          <p:nvPr/>
        </p:nvSpPr>
        <p:spPr>
          <a:xfrm>
            <a:off x="6473952" y="406908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TURNED-DOWN SOLAR</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Output is recorded after curtailment</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We flag those hours and report results with and without them.</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NEXT STEPS</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From a clean table to </a:t>
            </a:r>
            <a:pPr indent="0" marL="0">
              <a:buNone/>
            </a:pPr>
            <a:r>
              <a:rPr lang="en-US" sz="3400" b="1" dirty="0">
                <a:solidFill>
                  <a:srgbClr val="FFB703"/>
                </a:solidFill>
                <a:latin typeface="Arial" pitchFamily="34" charset="0"/>
                <a:ea typeface="Arial" pitchFamily="34" charset="-122"/>
                <a:cs typeface="Arial" pitchFamily="34" charset="-120"/>
              </a:rPr>
              <a:t>results</a:t>
            </a:r>
            <a:endParaRPr lang="en-US" sz="3400" dirty="0"/>
          </a:p>
        </p:txBody>
      </p:sp>
      <p:sp>
        <p:nvSpPr>
          <p:cNvPr id="5" name="Text 2"/>
          <p:cNvSpPr txBox="1"/>
          <p:nvPr/>
        </p:nvSpPr>
        <p:spPr>
          <a:xfrm>
            <a:off x="73152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Nov 17–27</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Explore the data and compare candidate models.</a:t>
            </a:r>
            <a:endParaRPr lang="en-US" sz="3600" dirty="0"/>
          </a:p>
        </p:txBody>
      </p:sp>
      <p:sp>
        <p:nvSpPr>
          <p:cNvPr id="6" name="Text 3"/>
          <p:cNvSpPr txBox="1"/>
          <p:nvPr/>
        </p:nvSpPr>
        <p:spPr>
          <a:xfrm>
            <a:off x="434340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Nov 30–Dec 8</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Score the models against CAISO and build the charts.</a:t>
            </a:r>
            <a:endParaRPr lang="en-US" sz="3600" dirty="0"/>
          </a:p>
        </p:txBody>
      </p:sp>
      <p:sp>
        <p:nvSpPr>
          <p:cNvPr id="7" name="Text 4"/>
          <p:cNvSpPr txBox="1"/>
          <p:nvPr/>
        </p:nvSpPr>
        <p:spPr>
          <a:xfrm>
            <a:off x="795528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Dec 14</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Capstone 3: models and results.</a:t>
            </a:r>
            <a:endParaRPr lang="en-US" sz="3600" dirty="0"/>
          </a:p>
        </p:txBody>
      </p:sp>
      <p:sp>
        <p:nvSpPr>
          <p:cNvPr id="8" name="Text 5"/>
          <p:cNvSpPr txBox="1"/>
          <p:nvPr/>
        </p:nvSpPr>
        <p:spPr>
          <a:xfrm>
            <a:off x="731520" y="4297680"/>
            <a:ext cx="10725912" cy="914400"/>
          </a:xfrm>
          <a:prstGeom prst="rect">
            <a:avLst/>
          </a:prstGeom>
          <a:noFill/>
          <a:ln/>
        </p:spPr>
        <p:txBody>
          <a:bodyPr wrap="square" lIns="0" tIns="0" rIns="0" bIns="0" rtlCol="0" anchor="t"/>
          <a:lstStyle/>
          <a:p>
            <a:pPr indent="0" marL="0">
              <a:buNone/>
            </a:pPr>
            <a:r>
              <a:rPr lang="en-US" sz="2200" b="1" dirty="0">
                <a:solidFill>
                  <a:srgbClr val="FFB703"/>
                </a:solidFill>
                <a:latin typeface="Arial" pitchFamily="34" charset="0"/>
                <a:ea typeface="Arial" pitchFamily="34" charset="-122"/>
                <a:cs typeface="Arial" pitchFamily="34" charset="-120"/>
              </a:rPr>
              <a:t>Your input: </a:t>
            </a:r>
            <a:pPr indent="0" marL="0">
              <a:buNone/>
            </a:pPr>
            <a:r>
              <a:rPr lang="en-US" sz="2200" dirty="0">
                <a:solidFill>
                  <a:srgbClr val="F1F4FB"/>
                </a:solidFill>
                <a:latin typeface="Arial" pitchFamily="34" charset="0"/>
                <a:ea typeface="Arial" pitchFamily="34" charset="-122"/>
                <a:cs typeface="Arial" pitchFamily="34" charset="-120"/>
              </a:rPr>
              <a:t>Is there anything in the data or the test design you would want us to check before we build models?</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APPENDIX A</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Draft data dictionary</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2743200"/>
                <a:gridCol w="4206240"/>
                <a:gridCol w="1463040"/>
                <a:gridCol w="231343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COLUMN</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MEANING</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UNIT</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SOURCE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hour_pacific</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Hour of the target day, Pacific time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timestamp</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All sources, aligned</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solar_mw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Actual utility-scale solar output (target variable)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EIA</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caiso_fcst_mw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day-ahead solar forecast (benchmark only)</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OASIS</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capacity_mw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Installed solar capacity in that month</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EIA Form 860M</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cloud_cover, radiation, temperature</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Weather forecast inputs published before the bid close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 W/m², °C</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Open-Meteo</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curtailed_flag</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1 if solar was turned down that hour</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0 or 1</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curtailment files</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6" name="Text 2"/>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Draft: confirm column names and units once the merged table exists.</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APPENDIX B</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Sources</a:t>
            </a:r>
            <a:endParaRPr lang="en-US" sz="3400" dirty="0"/>
          </a:p>
        </p:txBody>
      </p:sp>
      <p:sp>
        <p:nvSpPr>
          <p:cNvPr id="5" name="Text 2"/>
          <p:cNvSpPr txBox="1"/>
          <p:nvPr/>
        </p:nvSpPr>
        <p:spPr>
          <a:xfrm>
            <a:off x="731520" y="1645920"/>
            <a:ext cx="10725912" cy="4114800"/>
          </a:xfrm>
          <a:prstGeom prst="rect">
            <a:avLst/>
          </a:prstGeom>
          <a:noFill/>
          <a:ln/>
        </p:spPr>
        <p:txBody>
          <a:bodyPr wrap="square" lIns="0" tIns="0" rIns="0" bIns="0" rtlCol="0" anchor="t"/>
          <a:lstStyle/>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U.S. EIA</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Hourly Electric Grid Monitor and API; net load definition: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eia.gov/opendata</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Open-Meteo</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Previous Runs API, CC BY 4.0: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open-meteo.com/en/docs/previous-runs-api</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day-ahead market (bids close 10 a.m. Pacific, results about 1 p.m.):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caiso.com/market-operations/products-services</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 OASIS</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day-ahead solar forecast, report SLD_REN_FCST: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oasis.caiso.com</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 Key Statistics, May 2026</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caiso.com/documents/key-statistics-may-2026.pdf</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olar Foresight">
  <a:themeElements>
    <a:clrScheme name="Solar Foresight">
      <a:dk1>
        <a:srgbClr val="0B1226"/>
      </a:dk1>
      <a:lt1>
        <a:srgbClr val="F1F4FB"/>
      </a:lt1>
      <a:dk2>
        <a:srgbClr val="161E36"/>
      </a:dk2>
      <a:lt2>
        <a:srgbClr val="B9C2D6"/>
      </a:lt2>
      <a:accent1>
        <a:srgbClr val="FFB703"/>
      </a:accent1>
      <a:accent2>
        <a:srgbClr val="3987E5"/>
      </a:accent2>
      <a:accent3>
        <a:srgbClr val="D95926"/>
      </a:accent3>
      <a:accent4>
        <a:srgbClr val="199E70"/>
      </a:accent4>
      <a:accent5>
        <a:srgbClr val="9085E9"/>
      </a:accent5>
      <a:accent6>
        <a:srgbClr val="8893AB"/>
      </a:accent6>
      <a:hlink>
        <a:srgbClr val="8FB8F0"/>
      </a:hlink>
      <a:folHlink>
        <a:srgbClr val="8893AB"/>
      </a:folHlink>
    </a:clrScheme>
    <a:fontScheme name="Solar Foresight">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Tomorrow's Sun, Today's Plan (Capstone 2)</dc:title>
  <dc:subject>PptxGenJS Presentation</dc:subject>
  <dc:creator>Team Solar Foresight</dc:creator>
  <cp:lastModifiedBy>Team Solar Foresight</cp:lastModifiedBy>
  <cp:revision>1</cp:revision>
  <dcterms:created xsi:type="dcterms:W3CDTF">2026-10-24T18:39:28Z</dcterms:created>
  <dcterms:modified xsi:type="dcterms:W3CDTF">2026-10-24T18:39:28Z</dcterms:modified>
</cp:coreProperties>
</file>