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Winter</c:v>
                </c:pt>
              </c:strCache>
            </c:strRef>
          </c:tx>
          <c:spPr>
            <a:solidFill>
              <a:srgbClr val="3987E5"/>
            </a:solidFill>
            <a:ln w="4445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Sheet1!$B$2:$B$25</c:f>
              <c:numCache>
                <c:formatCode>General</c:formatCode>
                <c:ptCount val="24"/>
                <c:pt idx="0">
                  <c:v>0</c:v>
                </c:pt>
                <c:pt idx="1">
                  <c:v>0</c:v>
                </c:pt>
                <c:pt idx="2">
                  <c:v>0</c:v>
                </c:pt>
                <c:pt idx="3">
                  <c:v>0</c:v>
                </c:pt>
                <c:pt idx="4">
                  <c:v>0</c:v>
                </c:pt>
                <c:pt idx="5">
                  <c:v>15</c:v>
                </c:pt>
                <c:pt idx="6">
                  <c:v>1507</c:v>
                </c:pt>
                <c:pt idx="7">
                  <c:v>5720</c:v>
                </c:pt>
                <c:pt idx="8">
                  <c:v>9834</c:v>
                </c:pt>
                <c:pt idx="9">
                  <c:v>11449</c:v>
                </c:pt>
                <c:pt idx="10">
                  <c:v>11841</c:v>
                </c:pt>
                <c:pt idx="11">
                  <c:v>11878</c:v>
                </c:pt>
                <c:pt idx="12">
                  <c:v>11790</c:v>
                </c:pt>
                <c:pt idx="13">
                  <c:v>11243</c:v>
                </c:pt>
                <c:pt idx="14">
                  <c:v>9348</c:v>
                </c:pt>
                <c:pt idx="15">
                  <c:v>5190</c:v>
                </c:pt>
                <c:pt idx="16">
                  <c:v>1339</c:v>
                </c:pt>
                <c:pt idx="17">
                  <c:v>54</c:v>
                </c:pt>
                <c:pt idx="18">
                  <c:v>0</c:v>
                </c:pt>
                <c:pt idx="19">
                  <c:v>0</c:v>
                </c:pt>
                <c:pt idx="20">
                  <c:v>0</c:v>
                </c:pt>
                <c:pt idx="21">
                  <c:v>0</c:v>
                </c:pt>
                <c:pt idx="22">
                  <c:v>0</c:v>
                </c:pt>
                <c:pt idx="23">
                  <c:v>0</c:v>
                </c:pt>
              </c:numCache>
            </c:numRef>
          </c:val>
          <c:smooth val="0"/>
        </c:ser>
        <c:ser>
          <c:idx val="1"/>
          <c:order val="1"/>
          <c:tx>
            <c:strRef>
              <c:f>Sheet1!$C$1</c:f>
              <c:strCache>
                <c:ptCount val="1"/>
                <c:pt idx="0">
                  <c:v>Spring</c:v>
                </c:pt>
              </c:strCache>
            </c:strRef>
          </c:tx>
          <c:spPr>
            <a:solidFill>
              <a:srgbClr val="199E70"/>
            </a:solidFill>
            <a:ln w="44450" cap="flat">
              <a:solidFill>
                <a:srgbClr val="199E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99E70"/>
              </a:solidFill>
              <a:ln w="9525" cap="flat">
                <a:solidFill>
                  <a:srgbClr val="199E70"/>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Sheet1!$C$2:$C$25</c:f>
              <c:numCache>
                <c:formatCode>General</c:formatCode>
                <c:ptCount val="24"/>
                <c:pt idx="0">
                  <c:v>0</c:v>
                </c:pt>
                <c:pt idx="1">
                  <c:v>0</c:v>
                </c:pt>
                <c:pt idx="2">
                  <c:v>0</c:v>
                </c:pt>
                <c:pt idx="3">
                  <c:v>0</c:v>
                </c:pt>
                <c:pt idx="4">
                  <c:v>0</c:v>
                </c:pt>
                <c:pt idx="5">
                  <c:v>482</c:v>
                </c:pt>
                <c:pt idx="6">
                  <c:v>3260</c:v>
                </c:pt>
                <c:pt idx="7">
                  <c:v>8531</c:v>
                </c:pt>
                <c:pt idx="8">
                  <c:v>12382</c:v>
                </c:pt>
                <c:pt idx="9">
                  <c:v>13667</c:v>
                </c:pt>
                <c:pt idx="10">
                  <c:v>14092</c:v>
                </c:pt>
                <c:pt idx="11">
                  <c:v>14288</c:v>
                </c:pt>
                <c:pt idx="12">
                  <c:v>14172</c:v>
                </c:pt>
                <c:pt idx="13">
                  <c:v>13879</c:v>
                </c:pt>
                <c:pt idx="14">
                  <c:v>13332</c:v>
                </c:pt>
                <c:pt idx="15">
                  <c:v>12612</c:v>
                </c:pt>
                <c:pt idx="16">
                  <c:v>11250</c:v>
                </c:pt>
                <c:pt idx="17">
                  <c:v>7945</c:v>
                </c:pt>
                <c:pt idx="18">
                  <c:v>2937</c:v>
                </c:pt>
                <c:pt idx="19">
                  <c:v>276</c:v>
                </c:pt>
                <c:pt idx="20">
                  <c:v>1</c:v>
                </c:pt>
                <c:pt idx="21">
                  <c:v>0</c:v>
                </c:pt>
                <c:pt idx="22">
                  <c:v>0</c:v>
                </c:pt>
                <c:pt idx="23">
                  <c:v>0</c:v>
                </c:pt>
              </c:numCache>
            </c:numRef>
          </c:val>
          <c:smooth val="0"/>
        </c:ser>
        <c:ser>
          <c:idx val="2"/>
          <c:order val="2"/>
          <c:tx>
            <c:strRef>
              <c:f>Sheet1!$D$1</c:f>
              <c:strCache>
                <c:ptCount val="1"/>
                <c:pt idx="0">
                  <c:v>Summer</c:v>
                </c:pt>
              </c:strCache>
            </c:strRef>
          </c:tx>
          <c:spPr>
            <a:solidFill>
              <a:srgbClr val="D95926"/>
            </a:solidFill>
            <a:ln w="4445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Sheet1!$D$2:$D$25</c:f>
              <c:numCache>
                <c:formatCode>General</c:formatCode>
                <c:ptCount val="24"/>
                <c:pt idx="0">
                  <c:v>0</c:v>
                </c:pt>
                <c:pt idx="1">
                  <c:v>0</c:v>
                </c:pt>
                <c:pt idx="2">
                  <c:v>0</c:v>
                </c:pt>
                <c:pt idx="3">
                  <c:v>0</c:v>
                </c:pt>
                <c:pt idx="4">
                  <c:v>0</c:v>
                </c:pt>
                <c:pt idx="5">
                  <c:v>827</c:v>
                </c:pt>
                <c:pt idx="6">
                  <c:v>4743</c:v>
                </c:pt>
                <c:pt idx="7">
                  <c:v>10940</c:v>
                </c:pt>
                <c:pt idx="8">
                  <c:v>14829</c:v>
                </c:pt>
                <c:pt idx="9">
                  <c:v>16403</c:v>
                </c:pt>
                <c:pt idx="10">
                  <c:v>17141</c:v>
                </c:pt>
                <c:pt idx="11">
                  <c:v>17414</c:v>
                </c:pt>
                <c:pt idx="12">
                  <c:v>17448</c:v>
                </c:pt>
                <c:pt idx="13">
                  <c:v>17188</c:v>
                </c:pt>
                <c:pt idx="14">
                  <c:v>16677</c:v>
                </c:pt>
                <c:pt idx="15">
                  <c:v>15991</c:v>
                </c:pt>
                <c:pt idx="16">
                  <c:v>14702</c:v>
                </c:pt>
                <c:pt idx="17">
                  <c:v>11450</c:v>
                </c:pt>
                <c:pt idx="18">
                  <c:v>5512</c:v>
                </c:pt>
                <c:pt idx="19">
                  <c:v>949</c:v>
                </c:pt>
                <c:pt idx="20">
                  <c:v>0</c:v>
                </c:pt>
                <c:pt idx="21">
                  <c:v>0</c:v>
                </c:pt>
                <c:pt idx="22">
                  <c:v>0</c:v>
                </c:pt>
                <c:pt idx="23">
                  <c:v>0</c:v>
                </c:pt>
              </c:numCache>
            </c:numRef>
          </c:val>
          <c:smooth val="0"/>
        </c:ser>
        <c:ser>
          <c:idx val="3"/>
          <c:order val="3"/>
          <c:tx>
            <c:strRef>
              <c:f>Sheet1!$E$1</c:f>
              <c:strCache>
                <c:ptCount val="1"/>
                <c:pt idx="0">
                  <c:v>Fall</c:v>
                </c:pt>
              </c:strCache>
            </c:strRef>
          </c:tx>
          <c:spPr>
            <a:solidFill>
              <a:srgbClr val="9085E9"/>
            </a:solidFill>
            <a:ln w="44450" cap="flat">
              <a:solidFill>
                <a:srgbClr val="908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085E9"/>
              </a:solidFill>
              <a:ln w="9525" cap="flat">
                <a:solidFill>
                  <a:srgbClr val="9085E9"/>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Sheet1!$E$2:$E$25</c:f>
              <c:numCache>
                <c:formatCode>General</c:formatCode>
                <c:ptCount val="24"/>
                <c:pt idx="0">
                  <c:v>0</c:v>
                </c:pt>
                <c:pt idx="1">
                  <c:v>0</c:v>
                </c:pt>
                <c:pt idx="2">
                  <c:v>0</c:v>
                </c:pt>
                <c:pt idx="3">
                  <c:v>0</c:v>
                </c:pt>
                <c:pt idx="4">
                  <c:v>0</c:v>
                </c:pt>
                <c:pt idx="5">
                  <c:v>0</c:v>
                </c:pt>
                <c:pt idx="6">
                  <c:v>1111</c:v>
                </c:pt>
                <c:pt idx="7">
                  <c:v>5851</c:v>
                </c:pt>
                <c:pt idx="8">
                  <c:v>11780</c:v>
                </c:pt>
                <c:pt idx="9">
                  <c:v>14129</c:v>
                </c:pt>
                <c:pt idx="10">
                  <c:v>14768</c:v>
                </c:pt>
                <c:pt idx="11">
                  <c:v>14912</c:v>
                </c:pt>
                <c:pt idx="12">
                  <c:v>14798</c:v>
                </c:pt>
                <c:pt idx="13">
                  <c:v>14492</c:v>
                </c:pt>
                <c:pt idx="14">
                  <c:v>13852</c:v>
                </c:pt>
                <c:pt idx="15">
                  <c:v>12136</c:v>
                </c:pt>
                <c:pt idx="16">
                  <c:v>8463</c:v>
                </c:pt>
                <c:pt idx="17">
                  <c:v>3596</c:v>
                </c:pt>
                <c:pt idx="18">
                  <c:v>488</c:v>
                </c:pt>
                <c:pt idx="19">
                  <c:v>0</c:v>
                </c:pt>
                <c:pt idx="20">
                  <c:v>0</c:v>
                </c:pt>
                <c:pt idx="21">
                  <c:v>0</c:v>
                </c:pt>
                <c:pt idx="22">
                  <c:v>0</c:v>
                </c:pt>
                <c:pt idx="23">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9C2D6"/>
                </a:solidFill>
                <a:latin typeface="Arial"/>
              </a:defRPr>
            </a:pPr>
            <a:endParaRPr lang="en-US"/>
          </a:p>
        </c:txPr>
        <c:crossAx val="2094734552"/>
        <c:crosses val="autoZero"/>
        <c:auto val="1"/>
        <c:lblAlgn val="ctr"/>
        <c:noMultiLvlLbl val="1"/>
      </c:catAx>
      <c:valAx>
        <c:axId val="2094734552"/>
        <c:scaling>
          <c:orientation val="minMax"/>
          <c:max val="20000"/>
          <c:min val="0"/>
        </c:scaling>
        <c:delete val="0"/>
        <c:axPos val="l"/>
        <c:majorGridlines>
          <c:spPr>
            <a:ln w="9525" cap="flat">
              <a:solidFill>
                <a:srgbClr val="1D2A4D"/>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B9C2D6"/>
                </a:solidFill>
                <a:latin typeface="Arial"/>
              </a:defRPr>
            </a:pPr>
            <a:endParaRPr lang="en-US"/>
          </a:p>
        </c:txPr>
        <c:crossAx val="2094734554"/>
        <c:crosses val="autoZero"/>
        <c:crossBetween val="between"/>
        <c:majorUnit val="5000"/>
      </c:valAx>
      <c:spPr>
        <a:noFill/>
        <a:ln>
          <a:noFill/>
        </a:ln>
        <a:effectLst/>
      </c:spPr>
    </c:plotArea>
    <c:legend>
      <c:legendPos val="t"/>
      <c:overlay val="0"/>
      <c:txPr>
        <a:bodyPr/>
        <a:lstStyle/>
        <a:p>
          <a:pPr>
            <a:defRPr sz="1400">
              <a:solidFill>
                <a:srgbClr val="F1F4FB"/>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[RAUL, slides 1 to 3. Finish by 0:15] Good morning. We're Team Solar Foresight. Last time we told you the problem and the plan. Today is about the data: what we have, what it shows, and how we get it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0:55] CAISO runs California's main grid and locks in tomorrow's plan today: bids close at 10 a.m. and the plan is out by 1 p.m. [click] Solar depends on tomorrow's weather, so when the forecast misses, someone pays: backup power bought at the last minute, or reserves held for nothing. [click] We forecast one thing: hourly solar output a day ahead, in megawatts, using only what is known at 10 a.m. We do not forecast demand, because CAISO already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1:55] Our data comes from five public sources. EIA gives the answer key: actual solar output. Open-Meteo gives weather forecasts made before the 10 a.m. deadline. CAISO gives its own forecast, which is our benchmark. And two smaller files tell us how much solar is installed, and how much was turned down. [click] Together they make one table: 954 days and 22,896 hourly rows. Fewer than one hour in a hundred has a gap, and every gap is documented. [click] On privacy and delivery: privacy risk is low, because this is public, system-wide data with no personal information. The delivery risks are practical: the free weather service is non-commercial and capped per day, so we saved every raw file in our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[CAROLINA. Finish by 3:10] Here is what the data shows. [click] Solar follows a very regular daily shape: up at 6, peak at noon, done by 8. Summer's midday peak is about 47 percent higher than winter's. [click] Weather matters: on clear days solar delivers about 68 percent of installed capacity at midday, on very cloudy days about 41 percent. [click] And two things change over time. Installed solar grew 24 percent, so we scale every error by capacity. And in spring, up to one in four possible megawatt-hours is turned down, so we flag those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DAVID. Finish by 4:20] Now, how we get the data ready. Four steps. [click] Put every source on one clock. [click] Fix gaps: fill short ones, drop long ones. [click] Flag the hours when solar was turned down and report results with and without them. [click] Scale errors by installed capacity so a month in 2024 compares fairly with a month in 2026. [click] Then we split the days in time order. The models learn from the earliest 80 percent. The latest 191 days stay locked until the end. One honest limit: that block has no winter, so we judge winter in the validation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DAVID. Finish by 5:30] Last, the bar to beat. We scored the reference forecasts on our own data. [click] Same as yesterday misses by 4.9 percent of installed capacity. CAISO's published forecast misses by 5.7 percent, because it runs about 830 megawatts too high. Add back the solar that was turned down and CAISO's miss is 3.7 percent. [click] Our target is no more than 1.25 times CAISO's miss, which is 4.6 to about 7 percent depending on which number counts. We will fix that before modeling and report both. [click] Our watch list is short history, no winter in the test, and weather timing. Next we compare models, with results on December 14. We would welcome your view on anything we should check before we build them.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CK">
    <p:bg>
      <p:bgPr>
        <a:solidFill>
          <a:srgbClr val="0B122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12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766560" y="4114800"/>
            <a:ext cx="4206240" cy="4206240"/>
          </a:xfrm>
          <a:prstGeom prst="ellipse">
            <a:avLst/>
          </a:prstGeom>
          <a:solidFill>
            <a:srgbClr val="FFB703">
              <a:alpha val="15000"/>
            </a:srgbClr>
          </a:solidFill>
          <a:ln/>
        </p:spPr>
      </p:sp>
      <p:sp>
        <p:nvSpPr>
          <p:cNvPr id="4" name="Shape 1"/>
          <p:cNvSpPr/>
          <p:nvPr/>
        </p:nvSpPr>
        <p:spPr>
          <a:xfrm>
            <a:off x="7589520" y="4846320"/>
            <a:ext cx="2560320" cy="2560320"/>
          </a:xfrm>
          <a:prstGeom prst="ellipse">
            <a:avLst/>
          </a:prstGeom>
          <a:solidFill>
            <a:srgbClr val="FFB703"/>
          </a:solidFill>
          <a:ln/>
        </p:spPr>
      </p:sp>
      <p:sp>
        <p:nvSpPr>
          <p:cNvPr id="5" name="Shape 2"/>
          <p:cNvSpPr/>
          <p:nvPr/>
        </p:nvSpPr>
        <p:spPr>
          <a:xfrm>
            <a:off x="0" y="5897880"/>
            <a:ext cx="12191695" cy="960120"/>
          </a:xfrm>
          <a:prstGeom prst="rect">
            <a:avLst/>
          </a:prstGeom>
          <a:solidFill>
            <a:srgbClr val="0B1226"/>
          </a:solidFill>
          <a:ln/>
        </p:spPr>
      </p:sp>
      <p:sp>
        <p:nvSpPr>
          <p:cNvPr id="6" name="Text 3"/>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BUS 9430 · CAPSTONE 2 · DATA UNDERSTANDING AND PREPARATION</a:t>
            </a:r>
            <a:endParaRPr lang="en-US" sz="1200" dirty="0"/>
          </a:p>
        </p:txBody>
      </p:sp>
      <p:sp>
        <p:nvSpPr>
          <p:cNvPr id="7" name="Text 4"/>
          <p:cNvSpPr txBox="1"/>
          <p:nvPr/>
        </p:nvSpPr>
        <p:spPr>
          <a:xfrm>
            <a:off x="731520" y="914400"/>
            <a:ext cx="8229600" cy="1920240"/>
          </a:xfrm>
          <a:prstGeom prst="rect">
            <a:avLst/>
          </a:prstGeom>
          <a:noFill/>
          <a:ln/>
        </p:spPr>
        <p:txBody>
          <a:bodyPr wrap="square" lIns="0" tIns="0" rIns="0" bIns="0" rtlCol="0" anchor="t"/>
          <a:lstStyle/>
          <a:p>
            <a:pPr indent="0" marL="0">
              <a:buNone/>
            </a:pPr>
            <a:r>
              <a:rPr lang="en-US" sz="6000" b="1" dirty="0">
                <a:solidFill>
                  <a:srgbClr val="F1F4FB"/>
                </a:solidFill>
                <a:latin typeface="Arial" pitchFamily="34" charset="0"/>
                <a:ea typeface="Arial" pitchFamily="34" charset="-122"/>
                <a:cs typeface="Arial" pitchFamily="34" charset="-120"/>
              </a:rPr>
              <a:t>Tomorrow's </a:t>
            </a:r>
            <a:pPr indent="0" marL="0">
              <a:buNone/>
            </a:pPr>
            <a:r>
              <a:rPr lang="en-US" sz="6000" b="1" dirty="0">
                <a:solidFill>
                  <a:srgbClr val="FFB703"/>
                </a:solidFill>
                <a:latin typeface="Arial" pitchFamily="34" charset="0"/>
                <a:ea typeface="Arial" pitchFamily="34" charset="-122"/>
                <a:cs typeface="Arial" pitchFamily="34" charset="-120"/>
              </a:rPr>
              <a:t>Sun</a:t>
            </a:r>
            <a:pPr indent="0" marL="0">
              <a:buNone/>
            </a:pPr>
            <a:r>
              <a:rPr lang="en-US" sz="6000" b="1" dirty="0">
                <a:solidFill>
                  <a:srgbClr val="F1F4FB"/>
                </a:solidFill>
                <a:latin typeface="Arial" pitchFamily="34" charset="0"/>
                <a:ea typeface="Arial" pitchFamily="34" charset="-122"/>
                <a:cs typeface="Arial" pitchFamily="34" charset="-120"/>
              </a:rPr>
              <a:t>,</a:t>
            </a:r>
            <a:endParaRPr lang="en-US" sz="6000" dirty="0"/>
          </a:p>
          <a:p>
            <a:pPr indent="0" marL="0">
              <a:buNone/>
            </a:pPr>
            <a:r>
              <a:rPr lang="en-US" sz="6000" b="1" dirty="0">
                <a:solidFill>
                  <a:srgbClr val="F1F4FB"/>
                </a:solidFill>
                <a:latin typeface="Arial" pitchFamily="34" charset="0"/>
                <a:ea typeface="Arial" pitchFamily="34" charset="-122"/>
                <a:cs typeface="Arial" pitchFamily="34" charset="-120"/>
              </a:rPr>
              <a:t>Today's Plan</a:t>
            </a:r>
            <a:endParaRPr lang="en-US" sz="6000" dirty="0"/>
          </a:p>
        </p:txBody>
      </p:sp>
      <p:sp>
        <p:nvSpPr>
          <p:cNvPr id="8" name="Text 5"/>
          <p:cNvSpPr txBox="1"/>
          <p:nvPr/>
        </p:nvSpPr>
        <p:spPr>
          <a:xfrm>
            <a:off x="731520" y="2971800"/>
            <a:ext cx="8229600" cy="457200"/>
          </a:xfrm>
          <a:prstGeom prst="rect">
            <a:avLst/>
          </a:prstGeom>
          <a:noFill/>
          <a:ln/>
        </p:spPr>
        <p:txBody>
          <a:bodyPr wrap="square" lIns="0" tIns="0" rIns="0" bIns="0" rtlCol="0" anchor="ctr"/>
          <a:lstStyle/>
          <a:p>
            <a:pPr indent="0" marL="0">
              <a:buNone/>
            </a:pPr>
            <a:r>
              <a:rPr lang="en-US" sz="2400" dirty="0">
                <a:solidFill>
                  <a:srgbClr val="B9C2D6"/>
                </a:solidFill>
                <a:latin typeface="Arial" pitchFamily="34" charset="0"/>
                <a:ea typeface="Arial" pitchFamily="34" charset="-122"/>
                <a:cs typeface="Arial" pitchFamily="34" charset="-120"/>
              </a:rPr>
              <a:t>What our data shows, and how we get it ready</a:t>
            </a:r>
            <a:endParaRPr lang="en-US" sz="2400" dirty="0"/>
          </a:p>
        </p:txBody>
      </p:sp>
      <p:sp>
        <p:nvSpPr>
          <p:cNvPr id="9" name="Text 6"/>
          <p:cNvSpPr txBox="1"/>
          <p:nvPr/>
        </p:nvSpPr>
        <p:spPr>
          <a:xfrm>
            <a:off x="731520" y="3657600"/>
            <a:ext cx="7315200" cy="1188720"/>
          </a:xfrm>
          <a:prstGeom prst="rect">
            <a:avLst/>
          </a:prstGeom>
          <a:noFill/>
          <a:ln/>
        </p:spPr>
        <p:txBody>
          <a:bodyPr wrap="square" lIns="0" tIns="0" rIns="0" bIns="0" rtlCol="0" anchor="t"/>
          <a:lstStyle/>
          <a:p>
            <a:pPr indent="0" marL="0">
              <a:spcAft>
                <a:spcPts val="400"/>
              </a:spcAft>
              <a:buNone/>
            </a:pPr>
            <a:r>
              <a:rPr lang="en-US" sz="2200" b="1" dirty="0">
                <a:solidFill>
                  <a:srgbClr val="FFB703"/>
                </a:solidFill>
                <a:latin typeface="Arial" pitchFamily="34" charset="0"/>
                <a:ea typeface="Arial" pitchFamily="34" charset="-122"/>
                <a:cs typeface="Arial" pitchFamily="34" charset="-120"/>
              </a:rPr>
              <a:t>Team Solar Foresight</a:t>
            </a:r>
            <a:endParaRPr lang="en-US" sz="2200" dirty="0"/>
          </a:p>
          <a:p>
            <a:pPr indent="0" marL="0">
              <a:spcAft>
                <a:spcPts val="400"/>
              </a:spcAft>
              <a:buNone/>
            </a:pPr>
            <a:r>
              <a:rPr lang="en-US" sz="1400" b="1" dirty="0">
                <a:solidFill>
                  <a:srgbClr val="B9C2D6"/>
                </a:solidFill>
                <a:latin typeface="Arial" pitchFamily="34" charset="0"/>
                <a:ea typeface="Arial" pitchFamily="34" charset="-122"/>
                <a:cs typeface="Arial" pitchFamily="34" charset="-120"/>
              </a:rPr>
              <a:t>Team: </a:t>
            </a:r>
            <a:pPr indent="0" marL="0">
              <a:spcAft>
                <a:spcPts val="400"/>
              </a:spcAft>
              <a:buNone/>
            </a:pPr>
            <a:r>
              <a:rPr lang="en-US" sz="1400" dirty="0">
                <a:solidFill>
                  <a:srgbClr val="8893AB"/>
                </a:solidFill>
                <a:latin typeface="Arial" pitchFamily="34" charset="0"/>
                <a:ea typeface="Arial" pitchFamily="34" charset="-122"/>
                <a:cs typeface="Arial" pitchFamily="34" charset="-120"/>
              </a:rPr>
              <a:t>Carolina Lenes Arreola, Juan David Jaimes, Mohammad Mahmud, Vince Lanzillo and Raúl J. Solá Navarro</a:t>
            </a:r>
            <a:endParaRPr lang="en-US" sz="2200" dirty="0"/>
          </a:p>
          <a:p>
            <a:pPr indent="0" marL="0">
              <a:spcAft>
                <a:spcPts val="400"/>
              </a:spcAft>
              <a:buNone/>
            </a:pPr>
            <a:r>
              <a:rPr lang="en-US" sz="1400" dirty="0">
                <a:solidFill>
                  <a:srgbClr val="8893AB"/>
                </a:solidFill>
                <a:latin typeface="Arial" pitchFamily="34" charset="0"/>
                <a:ea typeface="Arial" pitchFamily="34" charset="-122"/>
                <a:cs typeface="Arial" pitchFamily="34" charset="-120"/>
              </a:rPr>
              <a:t>November 16,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THE BUSINESS PROBLEM</a:t>
            </a:r>
            <a:endParaRPr lang="en-US" sz="1200" dirty="0"/>
          </a:p>
        </p:txBody>
      </p:sp>
      <p:sp>
        <p:nvSpPr>
          <p:cNvPr id="4" name="Text 1"/>
          <p:cNvSpPr txBox="1"/>
          <p:nvPr/>
        </p:nvSpPr>
        <p:spPr>
          <a:xfrm>
            <a:off x="731520" y="822960"/>
            <a:ext cx="10725912" cy="10972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Solar is the part of tomorrow's plan </a:t>
            </a:r>
            <a:pPr indent="0" marL="0">
              <a:buNone/>
            </a:pPr>
            <a:r>
              <a:rPr lang="en-US" sz="3200" b="1" dirty="0">
                <a:solidFill>
                  <a:srgbClr val="FFB703"/>
                </a:solidFill>
                <a:latin typeface="Arial" pitchFamily="34" charset="0"/>
                <a:ea typeface="Arial" pitchFamily="34" charset="-122"/>
                <a:cs typeface="Arial" pitchFamily="34" charset="-120"/>
              </a:rPr>
              <a:t>that depends on the weather</a:t>
            </a:r>
            <a:endParaRPr lang="en-US" sz="3200" dirty="0"/>
          </a:p>
        </p:txBody>
      </p:sp>
      <p:sp>
        <p:nvSpPr>
          <p:cNvPr id="5" name="Shape 2"/>
          <p:cNvSpPr/>
          <p:nvPr/>
        </p:nvSpPr>
        <p:spPr>
          <a:xfrm>
            <a:off x="731520" y="2011680"/>
            <a:ext cx="3383280" cy="3749040"/>
          </a:xfrm>
          <a:prstGeom prst="roundRect">
            <a:avLst>
              <a:gd name="adj" fmla="val 3243"/>
            </a:avLst>
          </a:prstGeom>
          <a:solidFill>
            <a:srgbClr val="161E36"/>
          </a:solidFill>
          <a:ln w="12700">
            <a:solidFill>
              <a:srgbClr val="2A3350"/>
            </a:solidFill>
            <a:prstDash val="solid"/>
          </a:ln>
        </p:spPr>
      </p:sp>
      <p:sp>
        <p:nvSpPr>
          <p:cNvPr id="6" name="Text 3"/>
          <p:cNvSpPr txBox="1"/>
          <p:nvPr/>
        </p:nvSpPr>
        <p:spPr>
          <a:xfrm>
            <a:off x="960120" y="2148840"/>
            <a:ext cx="2926080" cy="3474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CAISO DOES</a:t>
            </a:r>
            <a:endParaRPr lang="en-US" sz="1100" dirty="0"/>
          </a:p>
          <a:p>
            <a:pPr indent="0" marL="0">
              <a:spcBef>
                <a:spcPts val="400"/>
              </a:spcBef>
              <a:buNone/>
            </a:pPr>
            <a:r>
              <a:rPr lang="en-US" sz="2600" b="1" dirty="0">
                <a:solidFill>
                  <a:srgbClr val="F1F4FB"/>
                </a:solidFill>
                <a:latin typeface="Arial" pitchFamily="34" charset="0"/>
                <a:ea typeface="Arial" pitchFamily="34" charset="-122"/>
                <a:cs typeface="Arial" pitchFamily="34" charset="-120"/>
              </a:rPr>
              <a:t>Locks in tomorrow's plan today</a:t>
            </a:r>
            <a:endParaRPr lang="en-US" sz="1100" dirty="0"/>
          </a:p>
          <a:p>
            <a:pPr indent="0" marL="0">
              <a:spcBef>
                <a:spcPts val="600"/>
              </a:spcBef>
              <a:buNone/>
            </a:pPr>
            <a:r>
              <a:rPr lang="en-US" sz="1900" dirty="0">
                <a:solidFill>
                  <a:srgbClr val="B9C2D6"/>
                </a:solidFill>
                <a:latin typeface="Arial" pitchFamily="34" charset="0"/>
                <a:ea typeface="Arial" pitchFamily="34" charset="-122"/>
                <a:cs typeface="Arial" pitchFamily="34" charset="-120"/>
              </a:rPr>
              <a:t>Bids close at 10 a.m. Pacific. The plan is out by 1 p.m.</a:t>
            </a:r>
            <a:endParaRPr lang="en-US" sz="1100" dirty="0"/>
          </a:p>
        </p:txBody>
      </p:sp>
      <p:sp>
        <p:nvSpPr>
          <p:cNvPr id="7" name="Shape 4"/>
          <p:cNvSpPr/>
          <p:nvPr/>
        </p:nvSpPr>
        <p:spPr>
          <a:xfrm>
            <a:off x="4402836" y="2011680"/>
            <a:ext cx="3383280" cy="3749040"/>
          </a:xfrm>
          <a:prstGeom prst="roundRect">
            <a:avLst>
              <a:gd name="adj" fmla="val 3243"/>
            </a:avLst>
          </a:prstGeom>
          <a:solidFill>
            <a:srgbClr val="161E36"/>
          </a:solidFill>
          <a:ln w="12700">
            <a:solidFill>
              <a:srgbClr val="2A3350"/>
            </a:solidFill>
            <a:prstDash val="solid"/>
          </a:ln>
        </p:spPr>
      </p:sp>
      <p:sp>
        <p:nvSpPr>
          <p:cNvPr id="8" name="Text 5"/>
          <p:cNvSpPr txBox="1"/>
          <p:nvPr/>
        </p:nvSpPr>
        <p:spPr>
          <a:xfrm>
            <a:off x="4631436" y="2148840"/>
            <a:ext cx="2926080" cy="3474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GOES WRONG</a:t>
            </a:r>
            <a:endParaRPr lang="en-US" sz="1100" dirty="0"/>
          </a:p>
          <a:p>
            <a:pPr indent="0" marL="0">
              <a:spcBef>
                <a:spcPts val="400"/>
              </a:spcBef>
              <a:buNone/>
            </a:pPr>
            <a:r>
              <a:rPr lang="en-US" sz="2600" b="1" dirty="0">
                <a:solidFill>
                  <a:srgbClr val="F1F4FB"/>
                </a:solidFill>
                <a:latin typeface="Arial" pitchFamily="34" charset="0"/>
                <a:ea typeface="Arial" pitchFamily="34" charset="-122"/>
                <a:cs typeface="Arial" pitchFamily="34" charset="-120"/>
              </a:rPr>
              <a:t>The solar forecast misses</a:t>
            </a:r>
            <a:endParaRPr lang="en-US" sz="1100" dirty="0"/>
          </a:p>
          <a:p>
            <a:pPr indent="0" marL="0">
              <a:spcBef>
                <a:spcPts val="600"/>
              </a:spcBef>
              <a:buNone/>
            </a:pPr>
            <a:r>
              <a:rPr lang="en-US" sz="1900" dirty="0">
                <a:solidFill>
                  <a:srgbClr val="B9C2D6"/>
                </a:solidFill>
                <a:latin typeface="Arial" pitchFamily="34" charset="0"/>
                <a:ea typeface="Arial" pitchFamily="34" charset="-122"/>
                <a:cs typeface="Arial" pitchFamily="34" charset="-120"/>
              </a:rPr>
              <a:t>Too high: backup power bought at the last minute. Too low: reserves held for nothing.</a:t>
            </a:r>
            <a:endParaRPr lang="en-US" sz="1100" dirty="0"/>
          </a:p>
        </p:txBody>
      </p:sp>
      <p:sp>
        <p:nvSpPr>
          <p:cNvPr id="9" name="Shape 6"/>
          <p:cNvSpPr/>
          <p:nvPr/>
        </p:nvSpPr>
        <p:spPr>
          <a:xfrm>
            <a:off x="8074152" y="2011680"/>
            <a:ext cx="3383280" cy="3749040"/>
          </a:xfrm>
          <a:prstGeom prst="roundRect">
            <a:avLst>
              <a:gd name="adj" fmla="val 3243"/>
            </a:avLst>
          </a:prstGeom>
          <a:solidFill>
            <a:srgbClr val="2A2410"/>
          </a:solidFill>
          <a:ln w="19050">
            <a:solidFill>
              <a:srgbClr val="FFB703"/>
            </a:solidFill>
            <a:prstDash val="solid"/>
          </a:ln>
        </p:spPr>
      </p:sp>
      <p:sp>
        <p:nvSpPr>
          <p:cNvPr id="10" name="Text 7"/>
          <p:cNvSpPr txBox="1"/>
          <p:nvPr/>
        </p:nvSpPr>
        <p:spPr>
          <a:xfrm>
            <a:off x="8302752" y="2148840"/>
            <a:ext cx="2926080" cy="3474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WE FORECAST</a:t>
            </a:r>
            <a:endParaRPr lang="en-US" sz="1100" dirty="0"/>
          </a:p>
          <a:p>
            <a:pPr indent="0" marL="0">
              <a:spcBef>
                <a:spcPts val="400"/>
              </a:spcBef>
              <a:buNone/>
            </a:pPr>
            <a:r>
              <a:rPr lang="en-US" sz="2600" b="1" dirty="0">
                <a:solidFill>
                  <a:srgbClr val="F1F4FB"/>
                </a:solidFill>
                <a:latin typeface="Arial" pitchFamily="34" charset="0"/>
                <a:ea typeface="Arial" pitchFamily="34" charset="-122"/>
                <a:cs typeface="Arial" pitchFamily="34" charset="-120"/>
              </a:rPr>
              <a:t>Hourly solar output, a day ahead</a:t>
            </a:r>
            <a:endParaRPr lang="en-US" sz="1100" dirty="0"/>
          </a:p>
          <a:p>
            <a:pPr indent="0" marL="0">
              <a:spcBef>
                <a:spcPts val="600"/>
              </a:spcBef>
              <a:buNone/>
            </a:pPr>
            <a:r>
              <a:rPr lang="en-US" sz="1900" dirty="0">
                <a:solidFill>
                  <a:srgbClr val="B9C2D6"/>
                </a:solidFill>
                <a:latin typeface="Arial" pitchFamily="34" charset="0"/>
                <a:ea typeface="Arial" pitchFamily="34" charset="-122"/>
                <a:cs typeface="Arial" pitchFamily="34" charset="-120"/>
              </a:rPr>
              <a:t>In megawatts (MW), using only what is known at 10 a.m. Not demand: CAISO already forecasts that.</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THE DATA</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Five public sources, </a:t>
            </a:r>
            <a:pPr indent="0" marL="0">
              <a:buNone/>
            </a:pPr>
            <a:r>
              <a:rPr lang="en-US" sz="3200" b="1" dirty="0">
                <a:solidFill>
                  <a:srgbClr val="FFB703"/>
                </a:solidFill>
                <a:latin typeface="Arial" pitchFamily="34" charset="0"/>
                <a:ea typeface="Arial" pitchFamily="34" charset="-122"/>
                <a:cs typeface="Arial" pitchFamily="34" charset="-120"/>
              </a:rPr>
              <a:t>one hourly table</a:t>
            </a:r>
            <a:endParaRPr lang="en-US" sz="3200" dirty="0"/>
          </a:p>
        </p:txBody>
      </p:sp>
      <p:sp>
        <p:nvSpPr>
          <p:cNvPr id="5" name="Shape 2"/>
          <p:cNvSpPr/>
          <p:nvPr/>
        </p:nvSpPr>
        <p:spPr>
          <a:xfrm>
            <a:off x="731520" y="1554480"/>
            <a:ext cx="2011680" cy="1463040"/>
          </a:xfrm>
          <a:prstGeom prst="roundRect">
            <a:avLst>
              <a:gd name="adj" fmla="val 7500"/>
            </a:avLst>
          </a:prstGeom>
          <a:solidFill>
            <a:srgbClr val="161E36"/>
          </a:solidFill>
          <a:ln w="12700">
            <a:solidFill>
              <a:srgbClr val="2A3350"/>
            </a:solidFill>
            <a:prstDash val="solid"/>
          </a:ln>
        </p:spPr>
      </p:sp>
      <p:sp>
        <p:nvSpPr>
          <p:cNvPr id="6" name="Text 3"/>
          <p:cNvSpPr txBox="1"/>
          <p:nvPr/>
        </p:nvSpPr>
        <p:spPr>
          <a:xfrm>
            <a:off x="960120" y="1691640"/>
            <a:ext cx="1554480" cy="1188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ANSWER KEY</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EIA</a:t>
            </a:r>
            <a:endParaRPr lang="en-US" sz="1100" dirty="0"/>
          </a:p>
          <a:p>
            <a:pPr indent="0" marL="0">
              <a:spcBef>
                <a:spcPts val="600"/>
              </a:spcBef>
              <a:buNone/>
            </a:pPr>
            <a:r>
              <a:rPr lang="en-US" sz="1300" dirty="0">
                <a:solidFill>
                  <a:srgbClr val="B9C2D6"/>
                </a:solidFill>
                <a:latin typeface="Arial" pitchFamily="34" charset="0"/>
                <a:ea typeface="Arial" pitchFamily="34" charset="-122"/>
                <a:cs typeface="Arial" pitchFamily="34" charset="-120"/>
              </a:rPr>
              <a:t>Actual solar output, hour by hour</a:t>
            </a:r>
            <a:endParaRPr lang="en-US" sz="1100" dirty="0"/>
          </a:p>
        </p:txBody>
      </p:sp>
      <p:sp>
        <p:nvSpPr>
          <p:cNvPr id="7" name="Shape 4"/>
          <p:cNvSpPr/>
          <p:nvPr/>
        </p:nvSpPr>
        <p:spPr>
          <a:xfrm>
            <a:off x="2907792" y="1554480"/>
            <a:ext cx="2011680" cy="1463040"/>
          </a:xfrm>
          <a:prstGeom prst="roundRect">
            <a:avLst>
              <a:gd name="adj" fmla="val 7500"/>
            </a:avLst>
          </a:prstGeom>
          <a:solidFill>
            <a:srgbClr val="161E36"/>
          </a:solidFill>
          <a:ln w="12700">
            <a:solidFill>
              <a:srgbClr val="2A3350"/>
            </a:solidFill>
            <a:prstDash val="solid"/>
          </a:ln>
        </p:spPr>
      </p:sp>
      <p:sp>
        <p:nvSpPr>
          <p:cNvPr id="8" name="Text 5"/>
          <p:cNvSpPr txBox="1"/>
          <p:nvPr/>
        </p:nvSpPr>
        <p:spPr>
          <a:xfrm>
            <a:off x="3136392" y="1691640"/>
            <a:ext cx="1554480" cy="1188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INPUTS</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Open-Meteo</a:t>
            </a:r>
            <a:endParaRPr lang="en-US" sz="1100" dirty="0"/>
          </a:p>
          <a:p>
            <a:pPr indent="0" marL="0">
              <a:spcBef>
                <a:spcPts val="600"/>
              </a:spcBef>
              <a:buNone/>
            </a:pPr>
            <a:r>
              <a:rPr lang="en-US" sz="1300" dirty="0">
                <a:solidFill>
                  <a:srgbClr val="B9C2D6"/>
                </a:solidFill>
                <a:latin typeface="Arial" pitchFamily="34" charset="0"/>
                <a:ea typeface="Arial" pitchFamily="34" charset="-122"/>
                <a:cs typeface="Arial" pitchFamily="34" charset="-120"/>
              </a:rPr>
              <a:t>Weather forecasts made before 10 a.m.</a:t>
            </a:r>
            <a:endParaRPr lang="en-US" sz="1100" dirty="0"/>
          </a:p>
        </p:txBody>
      </p:sp>
      <p:sp>
        <p:nvSpPr>
          <p:cNvPr id="9" name="Shape 6"/>
          <p:cNvSpPr/>
          <p:nvPr/>
        </p:nvSpPr>
        <p:spPr>
          <a:xfrm>
            <a:off x="5084064" y="1554480"/>
            <a:ext cx="2011680" cy="1463040"/>
          </a:xfrm>
          <a:prstGeom prst="roundRect">
            <a:avLst>
              <a:gd name="adj" fmla="val 7500"/>
            </a:avLst>
          </a:prstGeom>
          <a:solidFill>
            <a:srgbClr val="161E36"/>
          </a:solidFill>
          <a:ln w="12700">
            <a:solidFill>
              <a:srgbClr val="2A3350"/>
            </a:solidFill>
            <a:prstDash val="solid"/>
          </a:ln>
        </p:spPr>
      </p:sp>
      <p:sp>
        <p:nvSpPr>
          <p:cNvPr id="10" name="Text 7"/>
          <p:cNvSpPr txBox="1"/>
          <p:nvPr/>
        </p:nvSpPr>
        <p:spPr>
          <a:xfrm>
            <a:off x="5312664" y="1691640"/>
            <a:ext cx="1554480" cy="1188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BENCHMARK</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CAISO</a:t>
            </a:r>
            <a:endParaRPr lang="en-US" sz="1100" dirty="0"/>
          </a:p>
          <a:p>
            <a:pPr indent="0" marL="0">
              <a:spcBef>
                <a:spcPts val="600"/>
              </a:spcBef>
              <a:buNone/>
            </a:pPr>
            <a:r>
              <a:rPr lang="en-US" sz="1300" dirty="0">
                <a:solidFill>
                  <a:srgbClr val="B9C2D6"/>
                </a:solidFill>
                <a:latin typeface="Arial" pitchFamily="34" charset="0"/>
                <a:ea typeface="Arial" pitchFamily="34" charset="-122"/>
                <a:cs typeface="Arial" pitchFamily="34" charset="-120"/>
              </a:rPr>
              <a:t>Its own day-ahead solar forecast</a:t>
            </a:r>
            <a:endParaRPr lang="en-US" sz="1100" dirty="0"/>
          </a:p>
        </p:txBody>
      </p:sp>
      <p:sp>
        <p:nvSpPr>
          <p:cNvPr id="11" name="Shape 8"/>
          <p:cNvSpPr/>
          <p:nvPr/>
        </p:nvSpPr>
        <p:spPr>
          <a:xfrm>
            <a:off x="7260336" y="1554480"/>
            <a:ext cx="2011680" cy="1463040"/>
          </a:xfrm>
          <a:prstGeom prst="roundRect">
            <a:avLst>
              <a:gd name="adj" fmla="val 7500"/>
            </a:avLst>
          </a:prstGeom>
          <a:solidFill>
            <a:srgbClr val="161E36"/>
          </a:solidFill>
          <a:ln w="12700">
            <a:solidFill>
              <a:srgbClr val="2A3350"/>
            </a:solidFill>
            <a:prstDash val="solid"/>
          </a:ln>
        </p:spPr>
      </p:sp>
      <p:sp>
        <p:nvSpPr>
          <p:cNvPr id="12" name="Text 9"/>
          <p:cNvSpPr txBox="1"/>
          <p:nvPr/>
        </p:nvSpPr>
        <p:spPr>
          <a:xfrm>
            <a:off x="7488936" y="1691640"/>
            <a:ext cx="1554480" cy="1188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SCALE</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EIA Form 860M</a:t>
            </a:r>
            <a:endParaRPr lang="en-US" sz="1100" dirty="0"/>
          </a:p>
          <a:p>
            <a:pPr indent="0" marL="0">
              <a:spcBef>
                <a:spcPts val="600"/>
              </a:spcBef>
              <a:buNone/>
            </a:pPr>
            <a:r>
              <a:rPr lang="en-US" sz="1300" dirty="0">
                <a:solidFill>
                  <a:srgbClr val="B9C2D6"/>
                </a:solidFill>
                <a:latin typeface="Arial" pitchFamily="34" charset="0"/>
                <a:ea typeface="Arial" pitchFamily="34" charset="-122"/>
                <a:cs typeface="Arial" pitchFamily="34" charset="-120"/>
              </a:rPr>
              <a:t>Installed solar capacity</a:t>
            </a:r>
            <a:endParaRPr lang="en-US" sz="1100" dirty="0"/>
          </a:p>
        </p:txBody>
      </p:sp>
      <p:sp>
        <p:nvSpPr>
          <p:cNvPr id="13" name="Shape 10"/>
          <p:cNvSpPr/>
          <p:nvPr/>
        </p:nvSpPr>
        <p:spPr>
          <a:xfrm>
            <a:off x="9436608" y="1554480"/>
            <a:ext cx="2011680" cy="1463040"/>
          </a:xfrm>
          <a:prstGeom prst="roundRect">
            <a:avLst>
              <a:gd name="adj" fmla="val 7500"/>
            </a:avLst>
          </a:prstGeom>
          <a:solidFill>
            <a:srgbClr val="161E36"/>
          </a:solidFill>
          <a:ln w="12700">
            <a:solidFill>
              <a:srgbClr val="2A3350"/>
            </a:solidFill>
            <a:prstDash val="solid"/>
          </a:ln>
        </p:spPr>
      </p:sp>
      <p:sp>
        <p:nvSpPr>
          <p:cNvPr id="14" name="Text 11"/>
          <p:cNvSpPr txBox="1"/>
          <p:nvPr/>
        </p:nvSpPr>
        <p:spPr>
          <a:xfrm>
            <a:off x="9665208" y="1691640"/>
            <a:ext cx="1554480" cy="1188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FLAGS</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CAISO curtailment</a:t>
            </a:r>
            <a:endParaRPr lang="en-US" sz="1100" dirty="0"/>
          </a:p>
          <a:p>
            <a:pPr indent="0" marL="0">
              <a:spcBef>
                <a:spcPts val="600"/>
              </a:spcBef>
              <a:buNone/>
            </a:pPr>
            <a:r>
              <a:rPr lang="en-US" sz="1300" dirty="0">
                <a:solidFill>
                  <a:srgbClr val="B9C2D6"/>
                </a:solidFill>
                <a:latin typeface="Arial" pitchFamily="34" charset="0"/>
                <a:ea typeface="Arial" pitchFamily="34" charset="-122"/>
                <a:cs typeface="Arial" pitchFamily="34" charset="-120"/>
              </a:rPr>
              <a:t>Solar that was turned down</a:t>
            </a:r>
            <a:endParaRPr lang="en-US" sz="1100" dirty="0"/>
          </a:p>
        </p:txBody>
      </p:sp>
      <p:sp>
        <p:nvSpPr>
          <p:cNvPr id="15" name="Shape 12"/>
          <p:cNvSpPr/>
          <p:nvPr/>
        </p:nvSpPr>
        <p:spPr>
          <a:xfrm>
            <a:off x="731520" y="3200400"/>
            <a:ext cx="3383280" cy="1737360"/>
          </a:xfrm>
          <a:prstGeom prst="roundRect">
            <a:avLst>
              <a:gd name="adj" fmla="val 6316"/>
            </a:avLst>
          </a:prstGeom>
          <a:solidFill>
            <a:srgbClr val="161E36"/>
          </a:solidFill>
          <a:ln w="12700">
            <a:solidFill>
              <a:srgbClr val="2A3350"/>
            </a:solidFill>
            <a:prstDash val="solid"/>
          </a:ln>
        </p:spPr>
      </p:sp>
      <p:sp>
        <p:nvSpPr>
          <p:cNvPr id="16" name="Text 13"/>
          <p:cNvSpPr txBox="1"/>
          <p:nvPr/>
        </p:nvSpPr>
        <p:spPr>
          <a:xfrm>
            <a:off x="960120" y="33649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PERIOD</a:t>
            </a:r>
            <a:endParaRPr lang="en-US" sz="1100" dirty="0"/>
          </a:p>
        </p:txBody>
      </p:sp>
      <p:sp>
        <p:nvSpPr>
          <p:cNvPr id="17" name="Text 14"/>
          <p:cNvSpPr txBox="1"/>
          <p:nvPr/>
        </p:nvSpPr>
        <p:spPr>
          <a:xfrm>
            <a:off x="960120" y="3703320"/>
            <a:ext cx="2926080" cy="731520"/>
          </a:xfrm>
          <a:prstGeom prst="rect">
            <a:avLst/>
          </a:prstGeom>
          <a:noFill/>
          <a:ln/>
        </p:spPr>
        <p:txBody>
          <a:bodyPr wrap="square" lIns="0" tIns="0" rIns="0" bIns="0" rtlCol="0" anchor="ctr">
            <a:normAutofit/>
          </a:bodyPr>
          <a:lstStyle/>
          <a:p>
            <a:pPr indent="0" marL="0">
              <a:buNone/>
            </a:pPr>
            <a:r>
              <a:rPr lang="en-US" sz="2400" b="1" dirty="0">
                <a:solidFill>
                  <a:srgbClr val="FFB703"/>
                </a:solidFill>
                <a:latin typeface="Arial" pitchFamily="34" charset="0"/>
                <a:ea typeface="Arial" pitchFamily="34" charset="-122"/>
                <a:cs typeface="Arial" pitchFamily="34" charset="-120"/>
              </a:rPr>
              <a:t>Mar 2024 to Oct 2026</a:t>
            </a:r>
            <a:endParaRPr lang="en-US" sz="2400" dirty="0"/>
          </a:p>
        </p:txBody>
      </p:sp>
      <p:sp>
        <p:nvSpPr>
          <p:cNvPr id="18" name="Text 15"/>
          <p:cNvSpPr txBox="1"/>
          <p:nvPr/>
        </p:nvSpPr>
        <p:spPr>
          <a:xfrm>
            <a:off x="960120" y="4526280"/>
            <a:ext cx="2926080" cy="274320"/>
          </a:xfrm>
          <a:prstGeom prst="rect">
            <a:avLst/>
          </a:prstGeom>
          <a:noFill/>
          <a:ln/>
        </p:spPr>
        <p:txBody>
          <a:bodyPr wrap="square" lIns="0" tIns="0" rIns="0" bIns="0" rtlCol="0" anchor="t"/>
          <a:lstStyle/>
          <a:p>
            <a:pPr indent="0" marL="0">
              <a:buNone/>
            </a:pPr>
            <a:r>
              <a:rPr lang="en-US" sz="1600" dirty="0">
                <a:solidFill>
                  <a:srgbClr val="B9C2D6"/>
                </a:solidFill>
                <a:latin typeface="Arial" pitchFamily="34" charset="0"/>
                <a:ea typeface="Arial" pitchFamily="34" charset="-122"/>
                <a:cs typeface="Arial" pitchFamily="34" charset="-120"/>
              </a:rPr>
              <a:t>954 days</a:t>
            </a:r>
            <a:endParaRPr lang="en-US" sz="1600" dirty="0"/>
          </a:p>
        </p:txBody>
      </p:sp>
      <p:sp>
        <p:nvSpPr>
          <p:cNvPr id="19" name="Shape 16"/>
          <p:cNvSpPr/>
          <p:nvPr/>
        </p:nvSpPr>
        <p:spPr>
          <a:xfrm>
            <a:off x="4402836" y="3200400"/>
            <a:ext cx="3383280" cy="1737360"/>
          </a:xfrm>
          <a:prstGeom prst="roundRect">
            <a:avLst>
              <a:gd name="adj" fmla="val 6316"/>
            </a:avLst>
          </a:prstGeom>
          <a:solidFill>
            <a:srgbClr val="161E36"/>
          </a:solidFill>
          <a:ln w="12700">
            <a:solidFill>
              <a:srgbClr val="2A3350"/>
            </a:solidFill>
            <a:prstDash val="solid"/>
          </a:ln>
        </p:spPr>
      </p:sp>
      <p:sp>
        <p:nvSpPr>
          <p:cNvPr id="20" name="Text 17"/>
          <p:cNvSpPr txBox="1"/>
          <p:nvPr/>
        </p:nvSpPr>
        <p:spPr>
          <a:xfrm>
            <a:off x="4631436" y="33649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HOURLY ROWS</a:t>
            </a:r>
            <a:endParaRPr lang="en-US" sz="1100" dirty="0"/>
          </a:p>
        </p:txBody>
      </p:sp>
      <p:sp>
        <p:nvSpPr>
          <p:cNvPr id="21" name="Text 18"/>
          <p:cNvSpPr txBox="1"/>
          <p:nvPr/>
        </p:nvSpPr>
        <p:spPr>
          <a:xfrm>
            <a:off x="4631436" y="3703320"/>
            <a:ext cx="2926080" cy="731520"/>
          </a:xfrm>
          <a:prstGeom prst="rect">
            <a:avLst/>
          </a:prstGeom>
          <a:noFill/>
          <a:ln/>
        </p:spPr>
        <p:txBody>
          <a:bodyPr wrap="square" lIns="0" tIns="0" rIns="0" bIns="0" rtlCol="0" anchor="ctr">
            <a:normAutofit/>
          </a:bodyPr>
          <a:lstStyle/>
          <a:p>
            <a:pPr indent="0" marL="0">
              <a:buNone/>
            </a:pPr>
            <a:r>
              <a:rPr lang="en-US" sz="4400" b="1" dirty="0">
                <a:solidFill>
                  <a:srgbClr val="FFB703"/>
                </a:solidFill>
                <a:latin typeface="Arial" pitchFamily="34" charset="0"/>
                <a:ea typeface="Arial" pitchFamily="34" charset="-122"/>
                <a:cs typeface="Arial" pitchFamily="34" charset="-120"/>
              </a:rPr>
              <a:t>22,896</a:t>
            </a:r>
            <a:endParaRPr lang="en-US" sz="4400" dirty="0"/>
          </a:p>
        </p:txBody>
      </p:sp>
      <p:sp>
        <p:nvSpPr>
          <p:cNvPr id="22" name="Text 19"/>
          <p:cNvSpPr txBox="1"/>
          <p:nvPr/>
        </p:nvSpPr>
        <p:spPr>
          <a:xfrm>
            <a:off x="4631436" y="4526280"/>
            <a:ext cx="2926080" cy="274320"/>
          </a:xfrm>
          <a:prstGeom prst="rect">
            <a:avLst/>
          </a:prstGeom>
          <a:noFill/>
          <a:ln/>
        </p:spPr>
        <p:txBody>
          <a:bodyPr wrap="square" lIns="0" tIns="0" rIns="0" bIns="0" rtlCol="0" anchor="t"/>
          <a:lstStyle/>
          <a:p>
            <a:pPr indent="0" marL="0">
              <a:buNone/>
            </a:pPr>
            <a:r>
              <a:rPr lang="en-US" sz="1600" dirty="0">
                <a:solidFill>
                  <a:srgbClr val="B9C2D6"/>
                </a:solidFill>
                <a:latin typeface="Arial" pitchFamily="34" charset="0"/>
                <a:ea typeface="Arial" pitchFamily="34" charset="-122"/>
                <a:cs typeface="Arial" pitchFamily="34" charset="-120"/>
              </a:rPr>
              <a:t>11,733 in daylight</a:t>
            </a:r>
            <a:endParaRPr lang="en-US" sz="1600" dirty="0"/>
          </a:p>
        </p:txBody>
      </p:sp>
      <p:sp>
        <p:nvSpPr>
          <p:cNvPr id="23" name="Shape 20"/>
          <p:cNvSpPr/>
          <p:nvPr/>
        </p:nvSpPr>
        <p:spPr>
          <a:xfrm>
            <a:off x="8074152" y="3200400"/>
            <a:ext cx="3383280" cy="1737360"/>
          </a:xfrm>
          <a:prstGeom prst="roundRect">
            <a:avLst>
              <a:gd name="adj" fmla="val 6316"/>
            </a:avLst>
          </a:prstGeom>
          <a:solidFill>
            <a:srgbClr val="161E36"/>
          </a:solidFill>
          <a:ln w="12700">
            <a:solidFill>
              <a:srgbClr val="2A3350"/>
            </a:solidFill>
            <a:prstDash val="solid"/>
          </a:ln>
        </p:spPr>
      </p:sp>
      <p:sp>
        <p:nvSpPr>
          <p:cNvPr id="24" name="Text 21"/>
          <p:cNvSpPr txBox="1"/>
          <p:nvPr/>
        </p:nvSpPr>
        <p:spPr>
          <a:xfrm>
            <a:off x="8302752" y="33649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HOURS WITH A GAP</a:t>
            </a:r>
            <a:endParaRPr lang="en-US" sz="1100" dirty="0"/>
          </a:p>
        </p:txBody>
      </p:sp>
      <p:sp>
        <p:nvSpPr>
          <p:cNvPr id="25" name="Text 22"/>
          <p:cNvSpPr txBox="1"/>
          <p:nvPr/>
        </p:nvSpPr>
        <p:spPr>
          <a:xfrm>
            <a:off x="8302752" y="3703320"/>
            <a:ext cx="2926080" cy="731520"/>
          </a:xfrm>
          <a:prstGeom prst="rect">
            <a:avLst/>
          </a:prstGeom>
          <a:noFill/>
          <a:ln/>
        </p:spPr>
        <p:txBody>
          <a:bodyPr wrap="square" lIns="0" tIns="0" rIns="0" bIns="0" rtlCol="0" anchor="ctr">
            <a:normAutofit/>
          </a:bodyPr>
          <a:lstStyle/>
          <a:p>
            <a:pPr indent="0" marL="0">
              <a:buNone/>
            </a:pPr>
            <a:r>
              <a:rPr lang="en-US" sz="4400" b="1" dirty="0">
                <a:solidFill>
                  <a:srgbClr val="FFB703"/>
                </a:solidFill>
                <a:latin typeface="Arial" pitchFamily="34" charset="0"/>
                <a:ea typeface="Arial" pitchFamily="34" charset="-122"/>
                <a:cs typeface="Arial" pitchFamily="34" charset="-120"/>
              </a:rPr>
              <a:t>&lt; 1%</a:t>
            </a:r>
            <a:endParaRPr lang="en-US" sz="4400" dirty="0"/>
          </a:p>
        </p:txBody>
      </p:sp>
      <p:sp>
        <p:nvSpPr>
          <p:cNvPr id="26" name="Text 23"/>
          <p:cNvSpPr txBox="1"/>
          <p:nvPr/>
        </p:nvSpPr>
        <p:spPr>
          <a:xfrm>
            <a:off x="8302752" y="4526280"/>
            <a:ext cx="2926080" cy="274320"/>
          </a:xfrm>
          <a:prstGeom prst="rect">
            <a:avLst/>
          </a:prstGeom>
          <a:noFill/>
          <a:ln/>
        </p:spPr>
        <p:txBody>
          <a:bodyPr wrap="square" lIns="0" tIns="0" rIns="0" bIns="0" rtlCol="0" anchor="t"/>
          <a:lstStyle/>
          <a:p>
            <a:pPr indent="0" marL="0">
              <a:buNone/>
            </a:pPr>
            <a:r>
              <a:rPr lang="en-US" sz="1600" dirty="0">
                <a:solidFill>
                  <a:srgbClr val="B9C2D6"/>
                </a:solidFill>
                <a:latin typeface="Arial" pitchFamily="34" charset="0"/>
                <a:ea typeface="Arial" pitchFamily="34" charset="-122"/>
                <a:cs typeface="Arial" pitchFamily="34" charset="-120"/>
              </a:rPr>
              <a:t>225 hours, all documented</a:t>
            </a:r>
            <a:endParaRPr lang="en-US" sz="1600" dirty="0"/>
          </a:p>
        </p:txBody>
      </p:sp>
      <p:sp>
        <p:nvSpPr>
          <p:cNvPr id="27" name="Text 24"/>
          <p:cNvSpPr txBox="1"/>
          <p:nvPr/>
        </p:nvSpPr>
        <p:spPr>
          <a:xfrm>
            <a:off x="731520" y="5120640"/>
            <a:ext cx="10725912" cy="822960"/>
          </a:xfrm>
          <a:prstGeom prst="rect">
            <a:avLst/>
          </a:prstGeom>
          <a:noFill/>
          <a:ln/>
        </p:spPr>
        <p:txBody>
          <a:bodyPr wrap="square" lIns="0" tIns="0" rIns="0" bIns="0" rtlCol="0" anchor="t"/>
          <a:lstStyle/>
          <a:p>
            <a:pPr indent="0" marL="0">
              <a:buNone/>
            </a:pPr>
            <a:r>
              <a:rPr lang="en-US" sz="1600" b="1" dirty="0">
                <a:solidFill>
                  <a:srgbClr val="F1F4FB"/>
                </a:solidFill>
                <a:latin typeface="Arial" pitchFamily="34" charset="0"/>
                <a:ea typeface="Arial" pitchFamily="34" charset="-122"/>
                <a:cs typeface="Arial" pitchFamily="34" charset="-120"/>
              </a:rPr>
              <a:t>Privacy: </a:t>
            </a:r>
            <a:pPr indent="0" marL="0">
              <a:buNone/>
            </a:pPr>
            <a:r>
              <a:rPr lang="en-US" sz="1600" dirty="0">
                <a:solidFill>
                  <a:srgbClr val="B9C2D6"/>
                </a:solidFill>
                <a:latin typeface="Arial" pitchFamily="34" charset="0"/>
                <a:ea typeface="Arial" pitchFamily="34" charset="-122"/>
                <a:cs typeface="Arial" pitchFamily="34" charset="-120"/>
              </a:rPr>
              <a:t>low. Public, system-wide data, no personal information. </a:t>
            </a:r>
            <a:pPr indent="0" marL="0">
              <a:buNone/>
            </a:pPr>
            <a:r>
              <a:rPr lang="en-US" sz="1600" b="1" dirty="0">
                <a:solidFill>
                  <a:srgbClr val="F1F4FB"/>
                </a:solidFill>
                <a:latin typeface="Arial" pitchFamily="34" charset="0"/>
                <a:ea typeface="Arial" pitchFamily="34" charset="-122"/>
                <a:cs typeface="Arial" pitchFamily="34" charset="-120"/>
              </a:rPr>
              <a:t>Delivery: </a:t>
            </a:r>
            <a:pPr indent="0" marL="0">
              <a:buNone/>
            </a:pPr>
            <a:r>
              <a:rPr lang="en-US" sz="1600" dirty="0">
                <a:solidFill>
                  <a:srgbClr val="B9C2D6"/>
                </a:solidFill>
                <a:latin typeface="Arial" pitchFamily="34" charset="0"/>
                <a:ea typeface="Arial" pitchFamily="34" charset="-122"/>
                <a:cs typeface="Arial" pitchFamily="34" charset="-120"/>
              </a:rPr>
              <a:t>raw files saved in our repository; the weather service's free tier is non-commercial and capped per day.</a:t>
            </a:r>
            <a:endParaRPr lang="en-US" sz="1600" dirty="0"/>
          </a:p>
        </p:txBody>
      </p:sp>
      <p:sp>
        <p:nvSpPr>
          <p:cNvPr id="28" name="Text 25"/>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Weather data by Open-Meteo.com (CC BY 4.0).</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WHAT THE DATA SHOWS</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A regular daily shape, </a:t>
            </a:r>
            <a:pPr indent="0" marL="0">
              <a:buNone/>
            </a:pPr>
            <a:r>
              <a:rPr lang="en-US" sz="3200" b="1" dirty="0">
                <a:solidFill>
                  <a:srgbClr val="FFB703"/>
                </a:solidFill>
                <a:latin typeface="Arial" pitchFamily="34" charset="0"/>
                <a:ea typeface="Arial" pitchFamily="34" charset="-122"/>
                <a:cs typeface="Arial" pitchFamily="34" charset="-120"/>
              </a:rPr>
              <a:t>driven by season and weather</a:t>
            </a:r>
            <a:endParaRPr lang="en-US" sz="3200" dirty="0"/>
          </a:p>
        </p:txBody>
      </p:sp>
      <p:sp>
        <p:nvSpPr>
          <p:cNvPr id="5" name="Text 2"/>
          <p:cNvSpPr txBox="1"/>
          <p:nvPr/>
        </p:nvSpPr>
        <p:spPr>
          <a:xfrm>
            <a:off x="731520" y="1463040"/>
            <a:ext cx="6675120" cy="274320"/>
          </a:xfrm>
          <a:prstGeom prst="rect">
            <a:avLst/>
          </a:prstGeom>
          <a:noFill/>
          <a:ln/>
        </p:spPr>
        <p:txBody>
          <a:bodyPr wrap="square" lIns="0" tIns="0" rIns="0" bIns="0" rtlCol="0" anchor="ctr"/>
          <a:lstStyle/>
          <a:p>
            <a:pPr indent="0" marL="0">
              <a:buNone/>
            </a:pPr>
            <a:r>
              <a:rPr lang="en-US" sz="1200" b="1" dirty="0">
                <a:solidFill>
                  <a:srgbClr val="8893AB"/>
                </a:solidFill>
                <a:latin typeface="Arial" pitchFamily="34" charset="0"/>
                <a:ea typeface="Arial" pitchFamily="34" charset="-122"/>
                <a:cs typeface="Arial" pitchFamily="34" charset="-120"/>
              </a:rPr>
              <a:t>Average solar output (MW), by hour of the day, Pacific time</a:t>
            </a:r>
            <a:endParaRPr lang="en-US" sz="1200" dirty="0"/>
          </a:p>
        </p:txBody>
      </p:sp>
      <p:graphicFrame>
        <p:nvGraphicFramePr>
          <p:cNvPr id="6" name="Chart 0" descr=""/>
          <p:cNvGraphicFramePr/>
          <p:nvPr/>
        </p:nvGraphicFramePr>
        <p:xfrm>
          <a:off x="640080" y="1737360"/>
          <a:ext cx="6766560" cy="43891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772400" y="1737360"/>
            <a:ext cx="45720" cy="1280160"/>
          </a:xfrm>
          <a:prstGeom prst="rect">
            <a:avLst/>
          </a:prstGeom>
          <a:solidFill>
            <a:srgbClr val="FFB703"/>
          </a:solidFill>
          <a:ln/>
        </p:spPr>
      </p:sp>
      <p:sp>
        <p:nvSpPr>
          <p:cNvPr id="8" name="Text 4"/>
          <p:cNvSpPr txBox="1"/>
          <p:nvPr/>
        </p:nvSpPr>
        <p:spPr>
          <a:xfrm>
            <a:off x="7955280" y="1737360"/>
            <a:ext cx="3520440" cy="1280160"/>
          </a:xfrm>
          <a:prstGeom prst="rect">
            <a:avLst/>
          </a:prstGeom>
          <a:noFill/>
          <a:ln/>
        </p:spPr>
        <p:txBody>
          <a:bodyPr wrap="square" lIns="0" tIns="0" rIns="0" bIns="0" rtlCol="0" anchor="t"/>
          <a:lstStyle/>
          <a:p>
            <a:pPr indent="0" marL="0">
              <a:buNone/>
            </a:pPr>
            <a:r>
              <a:rPr lang="en-US" sz="3400" b="1" dirty="0">
                <a:solidFill>
                  <a:srgbClr val="FFB703"/>
                </a:solidFill>
                <a:latin typeface="Arial" pitchFamily="34" charset="0"/>
                <a:ea typeface="Arial" pitchFamily="34" charset="-122"/>
                <a:cs typeface="Arial" pitchFamily="34" charset="-120"/>
              </a:rPr>
              <a:t>+47%</a:t>
            </a:r>
            <a:endParaRPr lang="en-US" sz="3400" dirty="0"/>
          </a:p>
          <a:p>
            <a:pPr indent="0" marL="0">
              <a:spcBef>
                <a:spcPts val="200"/>
              </a:spcBef>
              <a:buNone/>
            </a:pPr>
            <a:r>
              <a:rPr lang="en-US" sz="1500" dirty="0">
                <a:solidFill>
                  <a:srgbClr val="B9C2D6"/>
                </a:solidFill>
                <a:latin typeface="Arial" pitchFamily="34" charset="0"/>
                <a:ea typeface="Arial" pitchFamily="34" charset="-122"/>
                <a:cs typeface="Arial" pitchFamily="34" charset="-120"/>
              </a:rPr>
              <a:t>Summer midday peak versus winter.</a:t>
            </a:r>
            <a:endParaRPr lang="en-US" sz="3400" dirty="0"/>
          </a:p>
        </p:txBody>
      </p:sp>
      <p:sp>
        <p:nvSpPr>
          <p:cNvPr id="9" name="Shape 5"/>
          <p:cNvSpPr/>
          <p:nvPr/>
        </p:nvSpPr>
        <p:spPr>
          <a:xfrm>
            <a:off x="7772400" y="3246120"/>
            <a:ext cx="45720" cy="1371600"/>
          </a:xfrm>
          <a:prstGeom prst="rect">
            <a:avLst/>
          </a:prstGeom>
          <a:solidFill>
            <a:srgbClr val="FFB703"/>
          </a:solidFill>
          <a:ln/>
        </p:spPr>
      </p:sp>
      <p:sp>
        <p:nvSpPr>
          <p:cNvPr id="10" name="Text 6"/>
          <p:cNvSpPr txBox="1"/>
          <p:nvPr/>
        </p:nvSpPr>
        <p:spPr>
          <a:xfrm>
            <a:off x="7955280" y="3246120"/>
            <a:ext cx="3520440" cy="1371600"/>
          </a:xfrm>
          <a:prstGeom prst="rect">
            <a:avLst/>
          </a:prstGeom>
          <a:noFill/>
          <a:ln/>
        </p:spPr>
        <p:txBody>
          <a:bodyPr wrap="square" lIns="0" tIns="0" rIns="0" bIns="0" rtlCol="0" anchor="t"/>
          <a:lstStyle/>
          <a:p>
            <a:pPr indent="0" marL="0">
              <a:buNone/>
            </a:pPr>
            <a:r>
              <a:rPr lang="en-US" sz="3400" b="1" dirty="0">
                <a:solidFill>
                  <a:srgbClr val="FFB703"/>
                </a:solidFill>
                <a:latin typeface="Arial" pitchFamily="34" charset="0"/>
                <a:ea typeface="Arial" pitchFamily="34" charset="-122"/>
                <a:cs typeface="Arial" pitchFamily="34" charset="-120"/>
              </a:rPr>
              <a:t>68% vs 41%</a:t>
            </a:r>
            <a:endParaRPr lang="en-US" sz="3400" dirty="0"/>
          </a:p>
          <a:p>
            <a:pPr indent="0" marL="0">
              <a:spcBef>
                <a:spcPts val="200"/>
              </a:spcBef>
              <a:buNone/>
            </a:pPr>
            <a:r>
              <a:rPr lang="en-US" sz="1500" dirty="0">
                <a:solidFill>
                  <a:srgbClr val="B9C2D6"/>
                </a:solidFill>
                <a:latin typeface="Arial" pitchFamily="34" charset="0"/>
                <a:ea typeface="Arial" pitchFamily="34" charset="-122"/>
                <a:cs typeface="Arial" pitchFamily="34" charset="-120"/>
              </a:rPr>
              <a:t>Midday output on clear versus very cloudy forecast days, as a share of capacity.</a:t>
            </a:r>
            <a:endParaRPr lang="en-US" sz="3400" dirty="0"/>
          </a:p>
        </p:txBody>
      </p:sp>
      <p:sp>
        <p:nvSpPr>
          <p:cNvPr id="11" name="Shape 7"/>
          <p:cNvSpPr/>
          <p:nvPr/>
        </p:nvSpPr>
        <p:spPr>
          <a:xfrm>
            <a:off x="7772400" y="4846320"/>
            <a:ext cx="45720" cy="1371600"/>
          </a:xfrm>
          <a:prstGeom prst="rect">
            <a:avLst/>
          </a:prstGeom>
          <a:solidFill>
            <a:srgbClr val="FFB703"/>
          </a:solidFill>
          <a:ln/>
        </p:spPr>
      </p:sp>
      <p:sp>
        <p:nvSpPr>
          <p:cNvPr id="12" name="Text 8"/>
          <p:cNvSpPr txBox="1"/>
          <p:nvPr/>
        </p:nvSpPr>
        <p:spPr>
          <a:xfrm>
            <a:off x="7955280" y="4846320"/>
            <a:ext cx="3520440" cy="1371600"/>
          </a:xfrm>
          <a:prstGeom prst="rect">
            <a:avLst/>
          </a:prstGeom>
          <a:noFill/>
          <a:ln/>
        </p:spPr>
        <p:txBody>
          <a:bodyPr wrap="square" lIns="0" tIns="0" rIns="0" bIns="0" rtlCol="0" anchor="t"/>
          <a:lstStyle/>
          <a:p>
            <a:pPr indent="0" marL="0">
              <a:buNone/>
            </a:pPr>
            <a:r>
              <a:rPr lang="en-US" sz="3400" b="1" dirty="0">
                <a:solidFill>
                  <a:srgbClr val="FFB703"/>
                </a:solidFill>
                <a:latin typeface="Arial" pitchFamily="34" charset="0"/>
                <a:ea typeface="Arial" pitchFamily="34" charset="-122"/>
                <a:cs typeface="Arial" pitchFamily="34" charset="-120"/>
              </a:rPr>
              <a:t>+24%</a:t>
            </a:r>
            <a:endParaRPr lang="en-US" sz="3400" dirty="0"/>
          </a:p>
          <a:p>
            <a:pPr indent="0" marL="0">
              <a:spcBef>
                <a:spcPts val="200"/>
              </a:spcBef>
              <a:buNone/>
            </a:pPr>
            <a:r>
              <a:rPr lang="en-US" sz="1500" dirty="0">
                <a:solidFill>
                  <a:srgbClr val="B9C2D6"/>
                </a:solidFill>
                <a:latin typeface="Arial" pitchFamily="34" charset="0"/>
                <a:ea typeface="Arial" pitchFamily="34" charset="-122"/>
                <a:cs typeface="Arial" pitchFamily="34" charset="-120"/>
              </a:rPr>
              <a:t>Installed solar since March 2024, and up to 1 in 4 possible MWh turned down in spring.</a:t>
            </a:r>
            <a:endParaRPr lang="en-US" sz="3400" dirty="0"/>
          </a:p>
        </p:txBody>
      </p:sp>
      <p:sp>
        <p:nvSpPr>
          <p:cNvPr id="13" name="Text 9"/>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Average solar output by hour, March 2024 to April 2026, Pacific time. Sources: EIA, Open-Meteo, CAISO.</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GETTING IT READY</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From raw data to </a:t>
            </a:r>
            <a:pPr indent="0" marL="0">
              <a:buNone/>
            </a:pPr>
            <a:r>
              <a:rPr lang="en-US" sz="3200" b="1" dirty="0">
                <a:solidFill>
                  <a:srgbClr val="FFB703"/>
                </a:solidFill>
                <a:latin typeface="Arial" pitchFamily="34" charset="0"/>
                <a:ea typeface="Arial" pitchFamily="34" charset="-122"/>
                <a:cs typeface="Arial" pitchFamily="34" charset="-120"/>
              </a:rPr>
              <a:t>a fair test</a:t>
            </a:r>
            <a:endParaRPr lang="en-US" sz="3200" dirty="0"/>
          </a:p>
        </p:txBody>
      </p:sp>
      <p:sp>
        <p:nvSpPr>
          <p:cNvPr id="5" name="Shape 2"/>
          <p:cNvSpPr/>
          <p:nvPr/>
        </p:nvSpPr>
        <p:spPr>
          <a:xfrm>
            <a:off x="731520" y="1600200"/>
            <a:ext cx="2560320" cy="1965960"/>
          </a:xfrm>
          <a:prstGeom prst="roundRect">
            <a:avLst>
              <a:gd name="adj" fmla="val 5581"/>
            </a:avLst>
          </a:prstGeom>
          <a:solidFill>
            <a:srgbClr val="161E36"/>
          </a:solidFill>
          <a:ln w="12700">
            <a:solidFill>
              <a:srgbClr val="2A3350"/>
            </a:solidFill>
            <a:prstDash val="solid"/>
          </a:ln>
        </p:spPr>
      </p:sp>
      <p:sp>
        <p:nvSpPr>
          <p:cNvPr id="6" name="Text 3"/>
          <p:cNvSpPr txBox="1"/>
          <p:nvPr/>
        </p:nvSpPr>
        <p:spPr>
          <a:xfrm>
            <a:off x="932688" y="180136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932688" y="2377440"/>
            <a:ext cx="2157984" cy="1051560"/>
          </a:xfrm>
          <a:prstGeom prst="rect">
            <a:avLst/>
          </a:prstGeom>
          <a:noFill/>
          <a:ln/>
        </p:spPr>
        <p:txBody>
          <a:bodyPr wrap="square" lIns="0" tIns="0" rIns="0" bIns="0" rtlCol="0" anchor="t"/>
          <a:lstStyle/>
          <a:p>
            <a:pPr indent="0" marL="0">
              <a:buNone/>
            </a:pPr>
            <a:r>
              <a:rPr lang="en-US" sz="1900" b="1" dirty="0">
                <a:solidFill>
                  <a:srgbClr val="F1F4FB"/>
                </a:solidFill>
                <a:latin typeface="Arial" pitchFamily="34" charset="0"/>
                <a:ea typeface="Arial" pitchFamily="34" charset="-122"/>
                <a:cs typeface="Arial" pitchFamily="34" charset="-120"/>
              </a:rPr>
              <a:t>One clock</a:t>
            </a:r>
            <a:endParaRPr lang="en-US" sz="1900" dirty="0"/>
          </a:p>
          <a:p>
            <a:pPr indent="0" marL="0">
              <a:spcBef>
                <a:spcPts val="800"/>
              </a:spcBef>
              <a:buNone/>
            </a:pPr>
            <a:r>
              <a:rPr lang="en-US" sz="1400" dirty="0">
                <a:solidFill>
                  <a:srgbClr val="B9C2D6"/>
                </a:solidFill>
                <a:latin typeface="Arial" pitchFamily="34" charset="0"/>
                <a:ea typeface="Arial" pitchFamily="34" charset="-122"/>
                <a:cs typeface="Arial" pitchFamily="34" charset="-120"/>
              </a:rPr>
              <a:t>Every source on the same hour.</a:t>
            </a:r>
            <a:endParaRPr lang="en-US" sz="1900" dirty="0"/>
          </a:p>
        </p:txBody>
      </p:sp>
      <p:sp>
        <p:nvSpPr>
          <p:cNvPr id="8" name="Shape 5"/>
          <p:cNvSpPr/>
          <p:nvPr/>
        </p:nvSpPr>
        <p:spPr>
          <a:xfrm>
            <a:off x="3453689" y="1600200"/>
            <a:ext cx="2560320" cy="1965960"/>
          </a:xfrm>
          <a:prstGeom prst="roundRect">
            <a:avLst>
              <a:gd name="adj" fmla="val 5581"/>
            </a:avLst>
          </a:prstGeom>
          <a:solidFill>
            <a:srgbClr val="161E36"/>
          </a:solidFill>
          <a:ln w="12700">
            <a:solidFill>
              <a:srgbClr val="2A3350"/>
            </a:solidFill>
            <a:prstDash val="solid"/>
          </a:ln>
        </p:spPr>
      </p:sp>
      <p:sp>
        <p:nvSpPr>
          <p:cNvPr id="9" name="Text 6"/>
          <p:cNvSpPr txBox="1"/>
          <p:nvPr/>
        </p:nvSpPr>
        <p:spPr>
          <a:xfrm>
            <a:off x="3654857" y="180136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2</a:t>
            </a:r>
            <a:endParaRPr lang="en-US" sz="1600" dirty="0"/>
          </a:p>
        </p:txBody>
      </p:sp>
      <p:sp>
        <p:nvSpPr>
          <p:cNvPr id="10" name="Text 7"/>
          <p:cNvSpPr txBox="1"/>
          <p:nvPr/>
        </p:nvSpPr>
        <p:spPr>
          <a:xfrm>
            <a:off x="3654857" y="2377440"/>
            <a:ext cx="2157984" cy="1051560"/>
          </a:xfrm>
          <a:prstGeom prst="rect">
            <a:avLst/>
          </a:prstGeom>
          <a:noFill/>
          <a:ln/>
        </p:spPr>
        <p:txBody>
          <a:bodyPr wrap="square" lIns="0" tIns="0" rIns="0" bIns="0" rtlCol="0" anchor="t"/>
          <a:lstStyle/>
          <a:p>
            <a:pPr indent="0" marL="0">
              <a:buNone/>
            </a:pPr>
            <a:r>
              <a:rPr lang="en-US" sz="1900" b="1" dirty="0">
                <a:solidFill>
                  <a:srgbClr val="F1F4FB"/>
                </a:solidFill>
                <a:latin typeface="Arial" pitchFamily="34" charset="0"/>
                <a:ea typeface="Arial" pitchFamily="34" charset="-122"/>
                <a:cs typeface="Arial" pitchFamily="34" charset="-120"/>
              </a:rPr>
              <a:t>Fix gaps</a:t>
            </a:r>
            <a:endParaRPr lang="en-US" sz="1900" dirty="0"/>
          </a:p>
          <a:p>
            <a:pPr indent="0" marL="0">
              <a:spcBef>
                <a:spcPts val="800"/>
              </a:spcBef>
              <a:buNone/>
            </a:pPr>
            <a:r>
              <a:rPr lang="en-US" sz="1400" dirty="0">
                <a:solidFill>
                  <a:srgbClr val="B9C2D6"/>
                </a:solidFill>
                <a:latin typeface="Arial" pitchFamily="34" charset="0"/>
                <a:ea typeface="Arial" pitchFamily="34" charset="-122"/>
                <a:cs typeface="Arial" pitchFamily="34" charset="-120"/>
              </a:rPr>
              <a:t>Fill short ones, drop long ones.</a:t>
            </a:r>
            <a:endParaRPr lang="en-US" sz="1900" dirty="0"/>
          </a:p>
        </p:txBody>
      </p:sp>
      <p:sp>
        <p:nvSpPr>
          <p:cNvPr id="11" name="Shape 8"/>
          <p:cNvSpPr/>
          <p:nvPr/>
        </p:nvSpPr>
        <p:spPr>
          <a:xfrm>
            <a:off x="6175858" y="1600200"/>
            <a:ext cx="2560320" cy="1965960"/>
          </a:xfrm>
          <a:prstGeom prst="roundRect">
            <a:avLst>
              <a:gd name="adj" fmla="val 5581"/>
            </a:avLst>
          </a:prstGeom>
          <a:solidFill>
            <a:srgbClr val="161E36"/>
          </a:solidFill>
          <a:ln w="12700">
            <a:solidFill>
              <a:srgbClr val="2A3350"/>
            </a:solidFill>
            <a:prstDash val="solid"/>
          </a:ln>
        </p:spPr>
      </p:sp>
      <p:sp>
        <p:nvSpPr>
          <p:cNvPr id="12" name="Text 9"/>
          <p:cNvSpPr txBox="1"/>
          <p:nvPr/>
        </p:nvSpPr>
        <p:spPr>
          <a:xfrm>
            <a:off x="6377026" y="180136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3</a:t>
            </a:r>
            <a:endParaRPr lang="en-US" sz="1600" dirty="0"/>
          </a:p>
        </p:txBody>
      </p:sp>
      <p:sp>
        <p:nvSpPr>
          <p:cNvPr id="13" name="Text 10"/>
          <p:cNvSpPr txBox="1"/>
          <p:nvPr/>
        </p:nvSpPr>
        <p:spPr>
          <a:xfrm>
            <a:off x="6377026" y="2377440"/>
            <a:ext cx="2157984" cy="1051560"/>
          </a:xfrm>
          <a:prstGeom prst="rect">
            <a:avLst/>
          </a:prstGeom>
          <a:noFill/>
          <a:ln/>
        </p:spPr>
        <p:txBody>
          <a:bodyPr wrap="square" lIns="0" tIns="0" rIns="0" bIns="0" rtlCol="0" anchor="t"/>
          <a:lstStyle/>
          <a:p>
            <a:pPr indent="0" marL="0">
              <a:buNone/>
            </a:pPr>
            <a:r>
              <a:rPr lang="en-US" sz="1900" b="1" dirty="0">
                <a:solidFill>
                  <a:srgbClr val="F1F4FB"/>
                </a:solidFill>
                <a:latin typeface="Arial" pitchFamily="34" charset="0"/>
                <a:ea typeface="Arial" pitchFamily="34" charset="-122"/>
                <a:cs typeface="Arial" pitchFamily="34" charset="-120"/>
              </a:rPr>
              <a:t>Flag turned-down solar</a:t>
            </a:r>
            <a:endParaRPr lang="en-US" sz="1900" dirty="0"/>
          </a:p>
          <a:p>
            <a:pPr indent="0" marL="0">
              <a:spcBef>
                <a:spcPts val="800"/>
              </a:spcBef>
              <a:buNone/>
            </a:pPr>
            <a:r>
              <a:rPr lang="en-US" sz="1400" dirty="0">
                <a:solidFill>
                  <a:srgbClr val="B9C2D6"/>
                </a:solidFill>
                <a:latin typeface="Arial" pitchFamily="34" charset="0"/>
                <a:ea typeface="Arial" pitchFamily="34" charset="-122"/>
                <a:cs typeface="Arial" pitchFamily="34" charset="-120"/>
              </a:rPr>
              <a:t>Report with and without.</a:t>
            </a:r>
            <a:endParaRPr lang="en-US" sz="1900" dirty="0"/>
          </a:p>
        </p:txBody>
      </p:sp>
      <p:sp>
        <p:nvSpPr>
          <p:cNvPr id="14" name="Shape 11"/>
          <p:cNvSpPr/>
          <p:nvPr/>
        </p:nvSpPr>
        <p:spPr>
          <a:xfrm>
            <a:off x="8898026" y="1600200"/>
            <a:ext cx="2560320" cy="1965960"/>
          </a:xfrm>
          <a:prstGeom prst="roundRect">
            <a:avLst>
              <a:gd name="adj" fmla="val 5581"/>
            </a:avLst>
          </a:prstGeom>
          <a:solidFill>
            <a:srgbClr val="161E36"/>
          </a:solidFill>
          <a:ln w="12700">
            <a:solidFill>
              <a:srgbClr val="2A3350"/>
            </a:solidFill>
            <a:prstDash val="solid"/>
          </a:ln>
        </p:spPr>
      </p:sp>
      <p:sp>
        <p:nvSpPr>
          <p:cNvPr id="15" name="Text 12"/>
          <p:cNvSpPr txBox="1"/>
          <p:nvPr/>
        </p:nvSpPr>
        <p:spPr>
          <a:xfrm>
            <a:off x="9099194" y="180136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4</a:t>
            </a:r>
            <a:endParaRPr lang="en-US" sz="1600" dirty="0"/>
          </a:p>
        </p:txBody>
      </p:sp>
      <p:sp>
        <p:nvSpPr>
          <p:cNvPr id="16" name="Text 13"/>
          <p:cNvSpPr txBox="1"/>
          <p:nvPr/>
        </p:nvSpPr>
        <p:spPr>
          <a:xfrm>
            <a:off x="9099194" y="2377440"/>
            <a:ext cx="2157984" cy="1051560"/>
          </a:xfrm>
          <a:prstGeom prst="rect">
            <a:avLst/>
          </a:prstGeom>
          <a:noFill/>
          <a:ln/>
        </p:spPr>
        <p:txBody>
          <a:bodyPr wrap="square" lIns="0" tIns="0" rIns="0" bIns="0" rtlCol="0" anchor="t"/>
          <a:lstStyle/>
          <a:p>
            <a:pPr indent="0" marL="0">
              <a:buNone/>
            </a:pPr>
            <a:r>
              <a:rPr lang="en-US" sz="1900" b="1" dirty="0">
                <a:solidFill>
                  <a:srgbClr val="F1F4FB"/>
                </a:solidFill>
                <a:latin typeface="Arial" pitchFamily="34" charset="0"/>
                <a:ea typeface="Arial" pitchFamily="34" charset="-122"/>
                <a:cs typeface="Arial" pitchFamily="34" charset="-120"/>
              </a:rPr>
              <a:t>Scale by capacity</a:t>
            </a:r>
            <a:endParaRPr lang="en-US" sz="1900" dirty="0"/>
          </a:p>
          <a:p>
            <a:pPr indent="0" marL="0">
              <a:spcBef>
                <a:spcPts val="800"/>
              </a:spcBef>
              <a:buNone/>
            </a:pPr>
            <a:r>
              <a:rPr lang="en-US" sz="1400" dirty="0">
                <a:solidFill>
                  <a:srgbClr val="B9C2D6"/>
                </a:solidFill>
                <a:latin typeface="Arial" pitchFamily="34" charset="0"/>
                <a:ea typeface="Arial" pitchFamily="34" charset="-122"/>
                <a:cs typeface="Arial" pitchFamily="34" charset="-120"/>
              </a:rPr>
              <a:t>So months compare fairly.</a:t>
            </a:r>
            <a:endParaRPr lang="en-US" sz="1900" dirty="0"/>
          </a:p>
        </p:txBody>
      </p:sp>
      <p:sp>
        <p:nvSpPr>
          <p:cNvPr id="17" name="Text 14"/>
          <p:cNvSpPr txBox="1"/>
          <p:nvPr/>
        </p:nvSpPr>
        <p:spPr>
          <a:xfrm>
            <a:off x="2286000" y="3749040"/>
            <a:ext cx="1828800" cy="274320"/>
          </a:xfrm>
          <a:prstGeom prst="rect">
            <a:avLst/>
          </a:prstGeom>
          <a:noFill/>
          <a:ln/>
        </p:spPr>
        <p:txBody>
          <a:bodyPr wrap="square" lIns="0" tIns="0" rIns="0" bIns="0" rtlCol="0" anchor="ctr"/>
          <a:lstStyle/>
          <a:p>
            <a:pPr indent="0" marL="0">
              <a:buNone/>
            </a:pPr>
            <a:r>
              <a:rPr lang="en-US" sz="1100" b="1" dirty="0">
                <a:solidFill>
                  <a:srgbClr val="8893AB"/>
                </a:solidFill>
                <a:latin typeface="Arial" pitchFamily="34" charset="0"/>
                <a:ea typeface="Arial" pitchFamily="34" charset="-122"/>
                <a:cs typeface="Arial" pitchFamily="34" charset="-120"/>
              </a:rPr>
              <a:t>Mar 2024</a:t>
            </a:r>
            <a:endParaRPr lang="en-US" sz="1100" dirty="0"/>
          </a:p>
        </p:txBody>
      </p:sp>
      <p:sp>
        <p:nvSpPr>
          <p:cNvPr id="18" name="Text 15"/>
          <p:cNvSpPr txBox="1"/>
          <p:nvPr/>
        </p:nvSpPr>
        <p:spPr>
          <a:xfrm>
            <a:off x="9628632" y="3749040"/>
            <a:ext cx="1828800" cy="274320"/>
          </a:xfrm>
          <a:prstGeom prst="rect">
            <a:avLst/>
          </a:prstGeom>
          <a:noFill/>
          <a:ln/>
        </p:spPr>
        <p:txBody>
          <a:bodyPr wrap="square" lIns="0" tIns="0" rIns="0" bIns="0" rtlCol="0" anchor="ctr"/>
          <a:lstStyle/>
          <a:p>
            <a:pPr algn="r" indent="0" marL="0">
              <a:buNone/>
            </a:pPr>
            <a:r>
              <a:rPr lang="en-US" sz="1100" b="1" dirty="0">
                <a:solidFill>
                  <a:srgbClr val="8893AB"/>
                </a:solidFill>
                <a:latin typeface="Arial" pitchFamily="34" charset="0"/>
                <a:ea typeface="Arial" pitchFamily="34" charset="-122"/>
                <a:cs typeface="Arial" pitchFamily="34" charset="-120"/>
              </a:rPr>
              <a:t>Oct 2026</a:t>
            </a:r>
            <a:endParaRPr lang="en-US" sz="1100" dirty="0"/>
          </a:p>
        </p:txBody>
      </p:sp>
      <p:sp>
        <p:nvSpPr>
          <p:cNvPr id="19" name="Text 16"/>
          <p:cNvSpPr txBox="1"/>
          <p:nvPr/>
        </p:nvSpPr>
        <p:spPr>
          <a:xfrm>
            <a:off x="731520" y="4069080"/>
            <a:ext cx="1554480" cy="411480"/>
          </a:xfrm>
          <a:prstGeom prst="rect">
            <a:avLst/>
          </a:prstGeom>
          <a:noFill/>
          <a:ln/>
        </p:spPr>
        <p:txBody>
          <a:bodyPr wrap="square" lIns="0" tIns="0" rIns="0" bIns="0" rtlCol="0" anchor="ctr"/>
          <a:lstStyle/>
          <a:p>
            <a:pPr indent="0" marL="0">
              <a:buNone/>
            </a:pPr>
            <a:r>
              <a:rPr lang="en-US" sz="1400" b="1" dirty="0">
                <a:solidFill>
                  <a:srgbClr val="F1F4FB"/>
                </a:solidFill>
                <a:latin typeface="Arial" pitchFamily="34" charset="0"/>
                <a:ea typeface="Arial" pitchFamily="34" charset="-122"/>
                <a:cs typeface="Arial" pitchFamily="34" charset="-120"/>
              </a:rPr>
              <a:t>All the days</a:t>
            </a:r>
            <a:endParaRPr lang="en-US" sz="1400" dirty="0"/>
          </a:p>
        </p:txBody>
      </p:sp>
      <p:sp>
        <p:nvSpPr>
          <p:cNvPr id="20" name="Text 17"/>
          <p:cNvSpPr txBox="1"/>
          <p:nvPr/>
        </p:nvSpPr>
        <p:spPr>
          <a:xfrm>
            <a:off x="2286000" y="4069080"/>
            <a:ext cx="7337146" cy="411480"/>
          </a:xfrm>
          <a:prstGeom prst="roundRect">
            <a:avLst>
              <a:gd name="adj" fmla="val 11111"/>
            </a:avLst>
          </a:prstGeom>
          <a:solidFill>
            <a:srgbClr val="2A3A66"/>
          </a:solidFill>
          <a:ln/>
        </p:spPr>
        <p:txBody>
          <a:bodyPr wrap="square" lIns="0" tIns="0" rIns="0" bIns="0" rtlCol="0" anchor="ctr"/>
          <a:lstStyle/>
          <a:p>
            <a:pPr algn="ctr" indent="0" marL="0">
              <a:buNone/>
            </a:pPr>
            <a:r>
              <a:rPr lang="en-US" sz="1300" b="1" dirty="0">
                <a:solidFill>
                  <a:srgbClr val="F1F4FB"/>
                </a:solidFill>
                <a:latin typeface="Arial" pitchFamily="34" charset="0"/>
                <a:ea typeface="Arial" pitchFamily="34" charset="-122"/>
                <a:cs typeface="Arial" pitchFamily="34" charset="-120"/>
              </a:rPr>
              <a:t>Training days (earliest 80%, 763 days)</a:t>
            </a:r>
            <a:endParaRPr lang="en-US" sz="1300" dirty="0"/>
          </a:p>
        </p:txBody>
      </p:sp>
      <p:sp>
        <p:nvSpPr>
          <p:cNvPr id="21" name="Text 18"/>
          <p:cNvSpPr txBox="1"/>
          <p:nvPr/>
        </p:nvSpPr>
        <p:spPr>
          <a:xfrm>
            <a:off x="9668866" y="4069080"/>
            <a:ext cx="1788566" cy="411480"/>
          </a:xfrm>
          <a:prstGeom prst="roundRect">
            <a:avLst>
              <a:gd name="adj" fmla="val 11111"/>
            </a:avLst>
          </a:prstGeom>
          <a:solidFill>
            <a:srgbClr val="FFB703"/>
          </a:solidFill>
          <a:ln/>
        </p:spPr>
        <p:txBody>
          <a:bodyPr wrap="square" lIns="0" tIns="0" rIns="0" bIns="0" rtlCol="0" anchor="ctr"/>
          <a:lstStyle/>
          <a:p>
            <a:pPr algn="ctr" indent="0" marL="0">
              <a:buNone/>
            </a:pPr>
            <a:r>
              <a:rPr lang="en-US" sz="1300" b="1" dirty="0">
                <a:solidFill>
                  <a:srgbClr val="1A1300"/>
                </a:solidFill>
                <a:latin typeface="Arial" pitchFamily="34" charset="0"/>
                <a:ea typeface="Arial" pitchFamily="34" charset="-122"/>
                <a:cs typeface="Arial" pitchFamily="34" charset="-120"/>
              </a:rPr>
              <a:t>Test (191 days)</a:t>
            </a:r>
            <a:endParaRPr lang="en-US" sz="1300" dirty="0"/>
          </a:p>
        </p:txBody>
      </p:sp>
      <p:sp>
        <p:nvSpPr>
          <p:cNvPr id="22" name="Text 19"/>
          <p:cNvSpPr txBox="1"/>
          <p:nvPr/>
        </p:nvSpPr>
        <p:spPr>
          <a:xfrm>
            <a:off x="9668866" y="4526280"/>
            <a:ext cx="1788566" cy="274320"/>
          </a:xfrm>
          <a:prstGeom prst="rect">
            <a:avLst/>
          </a:prstGeom>
          <a:noFill/>
          <a:ln/>
        </p:spPr>
        <p:txBody>
          <a:bodyPr wrap="square" lIns="0" tIns="0" rIns="0" bIns="0" rtlCol="0" anchor="ctr"/>
          <a:lstStyle/>
          <a:p>
            <a:pPr algn="ctr" indent="0" marL="0">
              <a:buNone/>
            </a:pPr>
            <a:r>
              <a:rPr lang="en-US" sz="1000" b="1" dirty="0">
                <a:solidFill>
                  <a:srgbClr val="FFB703"/>
                </a:solidFill>
                <a:latin typeface="Arial" pitchFamily="34" charset="0"/>
                <a:ea typeface="Arial" pitchFamily="34" charset="-122"/>
                <a:cs typeface="Arial" pitchFamily="34" charset="-120"/>
              </a:rPr>
              <a:t>Locked until the end</a:t>
            </a:r>
            <a:endParaRPr lang="en-US" sz="1000" dirty="0"/>
          </a:p>
        </p:txBody>
      </p:sp>
      <p:sp>
        <p:nvSpPr>
          <p:cNvPr id="23" name="Text 20"/>
          <p:cNvSpPr txBox="1"/>
          <p:nvPr/>
        </p:nvSpPr>
        <p:spPr>
          <a:xfrm>
            <a:off x="731520" y="5257800"/>
            <a:ext cx="10725912" cy="822960"/>
          </a:xfrm>
          <a:prstGeom prst="rect">
            <a:avLst/>
          </a:prstGeom>
          <a:noFill/>
          <a:ln/>
        </p:spPr>
        <p:txBody>
          <a:bodyPr wrap="square" lIns="0" tIns="0" rIns="0" bIns="0" rtlCol="0" anchor="t"/>
          <a:lstStyle/>
          <a:p>
            <a:pPr indent="0" marL="0">
              <a:buNone/>
            </a:pPr>
            <a:r>
              <a:rPr lang="en-US" sz="1900" dirty="0">
                <a:solidFill>
                  <a:srgbClr val="F1F4FB"/>
                </a:solidFill>
                <a:latin typeface="Arial" pitchFamily="34" charset="0"/>
                <a:ea typeface="Arial" pitchFamily="34" charset="-122"/>
                <a:cs typeface="Arial" pitchFamily="34" charset="-120"/>
              </a:rPr>
              <a:t>The test is the latest 191 days (April 10 to October 17, 2026). It stays locked until the end and has no winter, so we judge winter in validation.</a:t>
            </a:r>
            <a:endParaRPr lang="en-US" sz="19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THE BAR TO BEAT</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Our scorecard starts </a:t>
            </a:r>
            <a:pPr indent="0" marL="0">
              <a:buNone/>
            </a:pPr>
            <a:r>
              <a:rPr lang="en-US" sz="3200" b="1" dirty="0">
                <a:solidFill>
                  <a:srgbClr val="FFB703"/>
                </a:solidFill>
                <a:latin typeface="Arial" pitchFamily="34" charset="0"/>
                <a:ea typeface="Arial" pitchFamily="34" charset="-122"/>
                <a:cs typeface="Arial" pitchFamily="34" charset="-120"/>
              </a:rPr>
              <a:t>with CAISO</a:t>
            </a:r>
            <a:endParaRPr lang="en-US" sz="3200" dirty="0"/>
          </a:p>
        </p:txBody>
      </p:sp>
      <p:sp>
        <p:nvSpPr>
          <p:cNvPr id="5" name="Shape 2"/>
          <p:cNvSpPr/>
          <p:nvPr/>
        </p:nvSpPr>
        <p:spPr>
          <a:xfrm>
            <a:off x="731520" y="1600200"/>
            <a:ext cx="3383280" cy="2377440"/>
          </a:xfrm>
          <a:prstGeom prst="roundRect">
            <a:avLst>
              <a:gd name="adj" fmla="val 4615"/>
            </a:avLst>
          </a:prstGeom>
          <a:solidFill>
            <a:srgbClr val="161E36"/>
          </a:solidFill>
          <a:ln w="12700">
            <a:solidFill>
              <a:srgbClr val="2A3350"/>
            </a:solidFill>
            <a:prstDash val="solid"/>
          </a:ln>
        </p:spPr>
      </p:sp>
      <p:sp>
        <p:nvSpPr>
          <p:cNvPr id="6" name="Text 3"/>
          <p:cNvSpPr txBox="1"/>
          <p:nvPr/>
        </p:nvSpPr>
        <p:spPr>
          <a:xfrm>
            <a:off x="960120" y="17647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SAME AS YESTERDAY</a:t>
            </a:r>
            <a:endParaRPr lang="en-US" sz="1100" dirty="0"/>
          </a:p>
        </p:txBody>
      </p:sp>
      <p:sp>
        <p:nvSpPr>
          <p:cNvPr id="7" name="Text 4"/>
          <p:cNvSpPr txBox="1"/>
          <p:nvPr/>
        </p:nvSpPr>
        <p:spPr>
          <a:xfrm>
            <a:off x="960120" y="210312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4.9%</a:t>
            </a:r>
            <a:endParaRPr lang="en-US" sz="5400" dirty="0"/>
          </a:p>
        </p:txBody>
      </p:sp>
      <p:sp>
        <p:nvSpPr>
          <p:cNvPr id="8" name="Text 5"/>
          <p:cNvSpPr txBox="1"/>
          <p:nvPr/>
        </p:nvSpPr>
        <p:spPr>
          <a:xfrm>
            <a:off x="960120" y="3108960"/>
            <a:ext cx="2926080" cy="731520"/>
          </a:xfrm>
          <a:prstGeom prst="rect">
            <a:avLst/>
          </a:prstGeom>
          <a:noFill/>
          <a:ln/>
        </p:spPr>
        <p:txBody>
          <a:bodyPr wrap="square" lIns="0" tIns="0" rIns="0" bIns="0" rtlCol="0" anchor="t"/>
          <a:lstStyle/>
          <a:p>
            <a:pPr indent="0" marL="0">
              <a:buNone/>
            </a:pPr>
            <a:r>
              <a:rPr lang="en-US" sz="1600" dirty="0">
                <a:solidFill>
                  <a:srgbClr val="B9C2D6"/>
                </a:solidFill>
                <a:latin typeface="Arial" pitchFamily="34" charset="0"/>
                <a:ea typeface="Arial" pitchFamily="34" charset="-122"/>
                <a:cs typeface="Arial" pitchFamily="34" charset="-120"/>
              </a:rPr>
              <a:t>Average miss, as a share of capacity. The floor to beat.</a:t>
            </a:r>
            <a:endParaRPr lang="en-US" sz="1600" dirty="0"/>
          </a:p>
        </p:txBody>
      </p:sp>
      <p:sp>
        <p:nvSpPr>
          <p:cNvPr id="9" name="Shape 6"/>
          <p:cNvSpPr/>
          <p:nvPr/>
        </p:nvSpPr>
        <p:spPr>
          <a:xfrm>
            <a:off x="4402836" y="1600200"/>
            <a:ext cx="3383280" cy="2377440"/>
          </a:xfrm>
          <a:prstGeom prst="roundRect">
            <a:avLst>
              <a:gd name="adj" fmla="val 4615"/>
            </a:avLst>
          </a:prstGeom>
          <a:solidFill>
            <a:srgbClr val="161E36"/>
          </a:solidFill>
          <a:ln w="12700">
            <a:solidFill>
              <a:srgbClr val="2A3350"/>
            </a:solidFill>
            <a:prstDash val="solid"/>
          </a:ln>
        </p:spPr>
      </p:sp>
      <p:sp>
        <p:nvSpPr>
          <p:cNvPr id="10" name="Text 7"/>
          <p:cNvSpPr txBox="1"/>
          <p:nvPr/>
        </p:nvSpPr>
        <p:spPr>
          <a:xfrm>
            <a:off x="4631436" y="17647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CAISO, AS PUBLISHED</a:t>
            </a:r>
            <a:endParaRPr lang="en-US" sz="1100" dirty="0"/>
          </a:p>
        </p:txBody>
      </p:sp>
      <p:sp>
        <p:nvSpPr>
          <p:cNvPr id="11" name="Text 8"/>
          <p:cNvSpPr txBox="1"/>
          <p:nvPr/>
        </p:nvSpPr>
        <p:spPr>
          <a:xfrm>
            <a:off x="4631436" y="210312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5.7%</a:t>
            </a:r>
            <a:endParaRPr lang="en-US" sz="5400" dirty="0"/>
          </a:p>
        </p:txBody>
      </p:sp>
      <p:sp>
        <p:nvSpPr>
          <p:cNvPr id="12" name="Text 9"/>
          <p:cNvSpPr txBox="1"/>
          <p:nvPr/>
        </p:nvSpPr>
        <p:spPr>
          <a:xfrm>
            <a:off x="4631436" y="3108960"/>
            <a:ext cx="2926080" cy="731520"/>
          </a:xfrm>
          <a:prstGeom prst="rect">
            <a:avLst/>
          </a:prstGeom>
          <a:noFill/>
          <a:ln/>
        </p:spPr>
        <p:txBody>
          <a:bodyPr wrap="square" lIns="0" tIns="0" rIns="0" bIns="0" rtlCol="0" anchor="t"/>
          <a:lstStyle/>
          <a:p>
            <a:pPr indent="0" marL="0">
              <a:buNone/>
            </a:pPr>
            <a:r>
              <a:rPr lang="en-US" sz="1600" dirty="0">
                <a:solidFill>
                  <a:srgbClr val="B9C2D6"/>
                </a:solidFill>
                <a:latin typeface="Arial" pitchFamily="34" charset="0"/>
                <a:ea typeface="Arial" pitchFamily="34" charset="-122"/>
                <a:cs typeface="Arial" pitchFamily="34" charset="-120"/>
              </a:rPr>
              <a:t>About 830 MW too high on average.</a:t>
            </a:r>
            <a:endParaRPr lang="en-US" sz="1600" dirty="0"/>
          </a:p>
        </p:txBody>
      </p:sp>
      <p:sp>
        <p:nvSpPr>
          <p:cNvPr id="13" name="Shape 10"/>
          <p:cNvSpPr/>
          <p:nvPr/>
        </p:nvSpPr>
        <p:spPr>
          <a:xfrm>
            <a:off x="8074152" y="1600200"/>
            <a:ext cx="3383280" cy="2377440"/>
          </a:xfrm>
          <a:prstGeom prst="roundRect">
            <a:avLst>
              <a:gd name="adj" fmla="val 4615"/>
            </a:avLst>
          </a:prstGeom>
          <a:solidFill>
            <a:srgbClr val="161E36"/>
          </a:solidFill>
          <a:ln w="12700">
            <a:solidFill>
              <a:srgbClr val="2A3350"/>
            </a:solidFill>
            <a:prstDash val="solid"/>
          </a:ln>
        </p:spPr>
      </p:sp>
      <p:sp>
        <p:nvSpPr>
          <p:cNvPr id="14" name="Text 11"/>
          <p:cNvSpPr txBox="1"/>
          <p:nvPr/>
        </p:nvSpPr>
        <p:spPr>
          <a:xfrm>
            <a:off x="8302752" y="17647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CAISO, ADJUSTED</a:t>
            </a:r>
            <a:endParaRPr lang="en-US" sz="1100" dirty="0"/>
          </a:p>
        </p:txBody>
      </p:sp>
      <p:sp>
        <p:nvSpPr>
          <p:cNvPr id="15" name="Text 12"/>
          <p:cNvSpPr txBox="1"/>
          <p:nvPr/>
        </p:nvSpPr>
        <p:spPr>
          <a:xfrm>
            <a:off x="8302752" y="210312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3.7%</a:t>
            </a:r>
            <a:endParaRPr lang="en-US" sz="5400" dirty="0"/>
          </a:p>
        </p:txBody>
      </p:sp>
      <p:sp>
        <p:nvSpPr>
          <p:cNvPr id="16" name="Text 13"/>
          <p:cNvSpPr txBox="1"/>
          <p:nvPr/>
        </p:nvSpPr>
        <p:spPr>
          <a:xfrm>
            <a:off x="8302752" y="3108960"/>
            <a:ext cx="2926080" cy="731520"/>
          </a:xfrm>
          <a:prstGeom prst="rect">
            <a:avLst/>
          </a:prstGeom>
          <a:noFill/>
          <a:ln/>
        </p:spPr>
        <p:txBody>
          <a:bodyPr wrap="square" lIns="0" tIns="0" rIns="0" bIns="0" rtlCol="0" anchor="t"/>
          <a:lstStyle/>
          <a:p>
            <a:pPr indent="0" marL="0">
              <a:buNone/>
            </a:pPr>
            <a:r>
              <a:rPr lang="en-US" sz="1600" dirty="0">
                <a:solidFill>
                  <a:srgbClr val="B9C2D6"/>
                </a:solidFill>
                <a:latin typeface="Arial" pitchFamily="34" charset="0"/>
                <a:ea typeface="Arial" pitchFamily="34" charset="-122"/>
                <a:cs typeface="Arial" pitchFamily="34" charset="-120"/>
              </a:rPr>
              <a:t>With turned-down solar added back. The fairest picture of CAISO's skill.</a:t>
            </a:r>
            <a:endParaRPr lang="en-US" sz="1600" dirty="0"/>
          </a:p>
        </p:txBody>
      </p:sp>
      <p:sp>
        <p:nvSpPr>
          <p:cNvPr id="17" name="Shape 14"/>
          <p:cNvSpPr/>
          <p:nvPr/>
        </p:nvSpPr>
        <p:spPr>
          <a:xfrm>
            <a:off x="731520" y="4160520"/>
            <a:ext cx="10725912" cy="1051560"/>
          </a:xfrm>
          <a:prstGeom prst="roundRect">
            <a:avLst>
              <a:gd name="adj" fmla="val 10435"/>
            </a:avLst>
          </a:prstGeom>
          <a:solidFill>
            <a:srgbClr val="2A2410"/>
          </a:solidFill>
          <a:ln w="19050">
            <a:solidFill>
              <a:srgbClr val="FFB703"/>
            </a:solidFill>
            <a:prstDash val="solid"/>
          </a:ln>
        </p:spPr>
      </p:sp>
      <p:sp>
        <p:nvSpPr>
          <p:cNvPr id="18" name="Text 15"/>
          <p:cNvSpPr txBox="1"/>
          <p:nvPr/>
        </p:nvSpPr>
        <p:spPr>
          <a:xfrm>
            <a:off x="960120" y="4297680"/>
            <a:ext cx="10268712" cy="77724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OUR TARGET: NO MORE THAN 1.25 TIMES CAISO'S MISS</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4.6% to about 7%, depending on which CAISO number counts</a:t>
            </a:r>
            <a:endParaRPr lang="en-US" sz="1100" dirty="0"/>
          </a:p>
        </p:txBody>
      </p:sp>
      <p:sp>
        <p:nvSpPr>
          <p:cNvPr id="19" name="Text 16"/>
          <p:cNvSpPr txBox="1"/>
          <p:nvPr/>
        </p:nvSpPr>
        <p:spPr>
          <a:xfrm>
            <a:off x="731520" y="5440680"/>
            <a:ext cx="5212080" cy="731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WATCHING  </a:t>
            </a:r>
            <a:pPr indent="0" marL="0">
              <a:buNone/>
            </a:pPr>
            <a:r>
              <a:rPr lang="en-US" sz="1600" dirty="0">
                <a:solidFill>
                  <a:srgbClr val="B9C2D6"/>
                </a:solidFill>
                <a:latin typeface="Arial" pitchFamily="34" charset="0"/>
                <a:ea typeface="Arial" pitchFamily="34" charset="-122"/>
                <a:cs typeface="Arial" pitchFamily="34" charset="-120"/>
              </a:rPr>
              <a:t>Short history, no winter in the test, weather timing at 10 a.m.</a:t>
            </a:r>
            <a:endParaRPr lang="en-US" sz="1100" dirty="0"/>
          </a:p>
        </p:txBody>
      </p:sp>
      <p:sp>
        <p:nvSpPr>
          <p:cNvPr id="20" name="Text 17"/>
          <p:cNvSpPr txBox="1"/>
          <p:nvPr/>
        </p:nvSpPr>
        <p:spPr>
          <a:xfrm>
            <a:off x="6245352" y="5440680"/>
            <a:ext cx="5212080" cy="731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NEXT  </a:t>
            </a:r>
            <a:pPr indent="0" marL="0">
              <a:buNone/>
            </a:pPr>
            <a:r>
              <a:rPr lang="en-US" sz="1600" dirty="0">
                <a:solidFill>
                  <a:srgbClr val="B9C2D6"/>
                </a:solidFill>
                <a:latin typeface="Arial" pitchFamily="34" charset="0"/>
                <a:ea typeface="Arial" pitchFamily="34" charset="-122"/>
                <a:cs typeface="Arial" pitchFamily="34" charset="-120"/>
              </a:rPr>
              <a:t>Compare models Nov 17 to Dec 8. Results Dec 14.</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olar Foresight">
  <a:themeElements>
    <a:clrScheme name="Solar Foresight">
      <a:dk1>
        <a:srgbClr val="0B1226"/>
      </a:dk1>
      <a:lt1>
        <a:srgbClr val="F1F4FB"/>
      </a:lt1>
      <a:dk2>
        <a:srgbClr val="161E36"/>
      </a:dk2>
      <a:lt2>
        <a:srgbClr val="B9C2D6"/>
      </a:lt2>
      <a:accent1>
        <a:srgbClr val="FFB703"/>
      </a:accent1>
      <a:accent2>
        <a:srgbClr val="3987E5"/>
      </a:accent2>
      <a:accent3>
        <a:srgbClr val="D95926"/>
      </a:accent3>
      <a:accent4>
        <a:srgbClr val="199E70"/>
      </a:accent4>
      <a:accent5>
        <a:srgbClr val="9085E9"/>
      </a:accent5>
      <a:accent6>
        <a:srgbClr val="8893AB"/>
      </a:accent6>
      <a:hlink>
        <a:srgbClr val="8FB8F0"/>
      </a:hlink>
      <a:folHlink>
        <a:srgbClr val="8893AB"/>
      </a:folHlink>
    </a:clrScheme>
    <a:fontScheme name="Solar Foresight">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Tomorrow's Sun, Today's Plan (Capstone 2, 6-minute version)</dc:title>
  <dc:subject>PptxGenJS Presentation</dc:subject>
  <dc:creator>Team Solar Foresight</dc:creator>
  <cp:lastModifiedBy>Team Solar Foresight</cp:lastModifiedBy>
  <cp:revision>1</cp:revision>
  <dcterms:created xsi:type="dcterms:W3CDTF">2026-10-29T20:08:58Z</dcterms:created>
  <dcterms:modified xsi:type="dcterms:W3CDTF">2026-10-29T20:08:58Z</dcterms:modified>
</cp:coreProperties>
</file>